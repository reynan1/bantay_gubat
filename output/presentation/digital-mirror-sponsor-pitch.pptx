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93b4610db1431b" /><Relationship Type="http://schemas.openxmlformats.org/officeDocument/2006/relationships/extended-properties" Target="/docProps/app.xml" Id="Ra3592e4ddfe84873" /><Relationship Type="http://schemas.openxmlformats.org/officeDocument/2006/relationships/officeDocument" Target="/ppt/presentation.xml" Id="Re837507a8670435d" /></Relationships>
</file>

<file path=ppt/presentation.xml><?xml version="1.0" encoding="utf-8"?>
<p:presentation xmlns:p="http://schemas.openxmlformats.org/presentationml/2006/main">
  <p:sldMasterIdLst>
    <p:sldMasterId xmlns:r="http://schemas.openxmlformats.org/officeDocument/2006/relationships" id="2147483648" r:id="R8ceee58e82af493b"/>
  </p:sldMasterIdLst>
  <p:notesMasterIdLst>
    <p:notesMasterId xmlns:r="http://schemas.openxmlformats.org/officeDocument/2006/relationships" r:id="R39453424acd544b8"/>
  </p:notesMasterIdLst>
  <p:sldIdLst>
    <p:sldId xmlns:r="http://schemas.openxmlformats.org/officeDocument/2006/relationships" id="256" r:id="Rce93e79e3a75415b"/>
    <p:sldId xmlns:r="http://schemas.openxmlformats.org/officeDocument/2006/relationships" id="257" r:id="R8a0e6ddcad6343bb"/>
    <p:sldId xmlns:r="http://schemas.openxmlformats.org/officeDocument/2006/relationships" id="258" r:id="R28e48772e65d49bd"/>
    <p:sldId xmlns:r="http://schemas.openxmlformats.org/officeDocument/2006/relationships" id="259" r:id="R34b58dbf621046a1"/>
    <p:sldId xmlns:r="http://schemas.openxmlformats.org/officeDocument/2006/relationships" id="260" r:id="R30cee0d8c0924f0e"/>
    <p:sldId xmlns:r="http://schemas.openxmlformats.org/officeDocument/2006/relationships" id="261" r:id="R202df6d005d34d91"/>
    <p:sldId xmlns:r="http://schemas.openxmlformats.org/officeDocument/2006/relationships" id="262" r:id="R0ab8309cf86c4664"/>
    <p:sldId xmlns:r="http://schemas.openxmlformats.org/officeDocument/2006/relationships" id="263" r:id="Rd8dec31bc01b47bc"/>
    <p:sldId xmlns:r="http://schemas.openxmlformats.org/officeDocument/2006/relationships" id="264" r:id="R47112c3966094851"/>
    <p:sldId xmlns:r="http://schemas.openxmlformats.org/officeDocument/2006/relationships" id="265" r:id="R9c1cbfa742434c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b765a947904947" /><Relationship Type="http://schemas.openxmlformats.org/officeDocument/2006/relationships/slideMaster" Target="/ppt/slideMasters/slideMaster1.xml" Id="R8ceee58e82af493b" /><Relationship Type="http://schemas.openxmlformats.org/officeDocument/2006/relationships/notesMaster" Target="/ppt/notesMasters/notesMaster1.xml" Id="R39453424acd544b8" /><Relationship Type="http://schemas.openxmlformats.org/officeDocument/2006/relationships/presProps" Target="/ppt/presProps.xml" Id="Rf739c17e6e4443fd" /><Relationship Type="http://schemas.openxmlformats.org/officeDocument/2006/relationships/tableStyles" Target="/ppt/tableStyles.xml" Id="Rb983012ef75d4366" /><Relationship Type="http://schemas.openxmlformats.org/officeDocument/2006/relationships/slide" Target="/ppt/slides/slide1.xml" Id="Rce93e79e3a75415b" /><Relationship Type="http://schemas.openxmlformats.org/officeDocument/2006/relationships/slide" Target="/ppt/slides/slide2.xml" Id="R8a0e6ddcad6343bb" /><Relationship Type="http://schemas.openxmlformats.org/officeDocument/2006/relationships/slide" Target="/ppt/slides/slide3.xml" Id="R28e48772e65d49bd" /><Relationship Type="http://schemas.openxmlformats.org/officeDocument/2006/relationships/slide" Target="/ppt/slides/slide4.xml" Id="R34b58dbf621046a1" /><Relationship Type="http://schemas.openxmlformats.org/officeDocument/2006/relationships/slide" Target="/ppt/slides/slide5.xml" Id="R30cee0d8c0924f0e" /><Relationship Type="http://schemas.openxmlformats.org/officeDocument/2006/relationships/slide" Target="/ppt/slides/slide6.xml" Id="R202df6d005d34d91" /><Relationship Type="http://schemas.openxmlformats.org/officeDocument/2006/relationships/slide" Target="/ppt/slides/slide7.xml" Id="R0ab8309cf86c4664" /><Relationship Type="http://schemas.openxmlformats.org/officeDocument/2006/relationships/slide" Target="/ppt/slides/slide8.xml" Id="Rd8dec31bc01b47bc" /><Relationship Type="http://schemas.openxmlformats.org/officeDocument/2006/relationships/slide" Target="/ppt/slides/slide9.xml" Id="R47112c3966094851" /><Relationship Type="http://schemas.openxmlformats.org/officeDocument/2006/relationships/slide" Target="/ppt/slides/slide10.xml" Id="R9c1cbfa742434c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59f0be876640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ccb4ab46ce444b" /><Relationship Type="http://schemas.openxmlformats.org/officeDocument/2006/relationships/notesMaster" Target="/ppt/notesMasters/notesMaster1.xml" Id="R0146754efbde4b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9698ee46444393" /><Relationship Type="http://schemas.openxmlformats.org/officeDocument/2006/relationships/notesMaster" Target="/ppt/notesMasters/notesMaster1.xml" Id="Refe65635dc7741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80561681bc454a" /><Relationship Type="http://schemas.openxmlformats.org/officeDocument/2006/relationships/notesMaster" Target="/ppt/notesMasters/notesMaster1.xml" Id="Reb9facc36f9442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9f62bb94334a16" /><Relationship Type="http://schemas.openxmlformats.org/officeDocument/2006/relationships/notesMaster" Target="/ppt/notesMasters/notesMaster1.xml" Id="R1b328e9580dc45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845defac7f4527" /><Relationship Type="http://schemas.openxmlformats.org/officeDocument/2006/relationships/notesMaster" Target="/ppt/notesMasters/notesMaster1.xml" Id="R717744c136ed4c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e6f83a60c647d6" /><Relationship Type="http://schemas.openxmlformats.org/officeDocument/2006/relationships/notesMaster" Target="/ppt/notesMasters/notesMaster1.xml" Id="R4efe8bbe5f6d4e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d6c136d3a74274" /><Relationship Type="http://schemas.openxmlformats.org/officeDocument/2006/relationships/notesMaster" Target="/ppt/notesMasters/notesMaster1.xml" Id="R1fb134ab02b34b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6cc95514374329" /><Relationship Type="http://schemas.openxmlformats.org/officeDocument/2006/relationships/notesMaster" Target="/ppt/notesMasters/notesMaster1.xml" Id="R91d4a015035041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feeab4ece34c53" /><Relationship Type="http://schemas.openxmlformats.org/officeDocument/2006/relationships/notesMaster" Target="/ppt/notesMasters/notesMaster1.xml" Id="R284130d13ec840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348c1d02504b95" /><Relationship Type="http://schemas.openxmlformats.org/officeDocument/2006/relationships/notesMaster" Target="/ppt/notesMasters/notesMaster1.xml" Id="R356e1f2f932349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day. We are pitching Digital Mirror, a visual museum about Filipino popular culture from 2000 to 2010. This was the decade when a Friendster testimonial could strengthen a friendship, end a friendship, or reveal that your friend only knew three adjectives: nice, funny, and approachable. We want to preserve more than objects. We want to preserve how television, fashion, performance, places, daily routines, technology, and globalization shaped Filipino identity. With your support, these memories become an interactive public experience rather than a folder called old pics final final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is not that people forgot the 2000s. We remember very specific things. We remember television theme songs, unlimited texting, computer shops, videoke, and hairstyles that required commitment and possibly industrial equipment. What disappears is the connection between those memories and the larger cultural changes. Why did Friendster affect belonging? Why did malls and call-center districts change social space and time? Why did Korean, Taiwanese, Japanese, American, and European influences feel local after Filipinos adapted them? Digital Mirror gives those memories a structure, so nostalgia becomes cultural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museum uses seven lenses from the source material. Feelings covers excitement, kilig, belonging, and shared memories. Body and self-image examines fashion, hair, beauty, and identity. Performance includes karaoke, school competitions, bands, television, and audience participation. Space moves between malls, coffee shops, call-center districts, computer shops, and online communities. Time studies primetime routines, night shifts, and late-night unli-text. Technology follows phones, Friendster, cameras, gaming, and early online video. Globalization shows how Filipinos adapted influences from East Asia, the United States, and Europe. The galleries work together like one large mirror.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experience follows five steps. Visitors enter through a digital mirror that asks what shaped them. They choose a memory category, then interact with sound, images, prompts, and comparisons. Next, they contribute a short story or voice memory. The final screen creates a personal culture mirror that they can share. This is important because museums usually speak to visitors. Digital Mirror also listens. And yes, we will apply moderation, because the internet taught us one thing before anything else: never leave an open text box completely unattended.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exhibits make the museum memorable. The Friendster booth asks visitors to write a testimonial for their younger self, then connects that performance of identity to today’s social media. The computer-shop countdown recreates the very specific stress of having twelve minutes left, an unsaved assignment, and someone shouting that it is their turn. The kilig room explores how Asian dramas changed emotion, language, and fandom. The videoke meter rewards participation rather than pitch, which is both culturally accurate and merciful. Humor gets people inside; interpretation gives the experience lasting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tone matters. We are not building a lecture with neon wallpaper. We use humor because recognition creates attention. A visitor laughs at the computer-shop timer, then learns how paid access shaped time, friendship, and digital literacy. A Friendster testimonial looks simple, but it reveals early public identity management. The familiar line nice, funny, approachable becomes evidence of how young Filipinos learned to present themselves online. The joke opens the door. The interpretation makes sponsors part of something worth remembering, discussing, and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Digital Mirror reaches several audiences without diluting the idea. Students gain a research experience that feels discoverable. Millennials recognize their own memories and contribute context. Families compare generations. Educators gain material organized through clear cultural lenses. Creative communities can add local perspectives. Sponsors receive meaningful visibility around culture, learning, and digital access. The project avoids treating 2000 to 2010 as one identical national experience. Instead, it invites people to compare what they remember, where they lived, and which technologies they could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Sponsors fund cultural preservation, but they also receive practical value. The project creates visible brand presence at entry, within selected galleries, in launch materials, and in the final project report. We will measure visits, exhibit completion, submitted stories, and audience feedback. Sponsor visibility will remain clear without turning the museum into an advertisement. Visitor stories and personal information require consent and careful handling. That balance matters. People should remember who helped build the museum, not feel that the museum followed them home with a sales notification.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propose a focused pilot rather than an oversized first build. The pilot delivers a responsive web museum, seven galleries, three interactive experiences, twenty curated memory stories, a public launch, and a sponsor report. Our proposed funding allocation places thirty-five percent in experience and development, twenty-five percent in content and research, twenty percent in visual and audio production, twelve percent in launch and outreach, and eight percent in accessibility and contingency. These percentages guide planning; final amounts will follow the sponsor scope and procurement requirements. A pilot lets us test, measure, improve, and expand responsibly.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asking you to fund the Digital Mirror pilot. Your support will turn a decade of Filipino memories into a museum that people can enter, question, and continue. The project combines research with humor, participation, and accessible digital design. It preserves the emotional texture of the 2000s while explaining how culture shaped bodies, spaces, routines, technology, and identity. We have the concept, the content structure, and a focused pilot plan. With your investment, the mirror becomes public. And finally, nice, funny, approachable can receive the archive it has always deserved.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49a31642e846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857563d1b344ad" /><Relationship Type="http://schemas.openxmlformats.org/officeDocument/2006/relationships/slideLayout" Target="/ppt/slideLayouts/slideLayout1.xml" Id="Rf9c9929796c04d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c9929796c04d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fdc7d15ccf49f2" /><Relationship Type="http://schemas.openxmlformats.org/officeDocument/2006/relationships/image" Target="/ppt/media/image.png" Id="Rb35729cc56b94171" /><Relationship Type="http://schemas.openxmlformats.org/officeDocument/2006/relationships/notesSlide" Target="/ppt/notesSlides/notesSlide1.xml" Id="R866cb54ce0944b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b0c8b5722a48af" /><Relationship Type="http://schemas.openxmlformats.org/officeDocument/2006/relationships/notesSlide" Target="/ppt/notesSlides/notesSlide2.xml" Id="R54426ec01f9f4f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f53a8ec19b42bf" /><Relationship Type="http://schemas.openxmlformats.org/officeDocument/2006/relationships/notesSlide" Target="/ppt/notesSlides/notesSlide3.xml" Id="Raaafeb40e3a84b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b6fccaed7248b0" /><Relationship Type="http://schemas.openxmlformats.org/officeDocument/2006/relationships/notesSlide" Target="/ppt/notesSlides/notesSlide4.xml" Id="Rc222f00031c341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9698b4cde54a14" /><Relationship Type="http://schemas.openxmlformats.org/officeDocument/2006/relationships/notesSlide" Target="/ppt/notesSlides/notesSlide5.xml" Id="R08a49aa8f2954f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3bafb1aa944aad" /><Relationship Type="http://schemas.openxmlformats.org/officeDocument/2006/relationships/notesSlide" Target="/ppt/notesSlides/notesSlide6.xml" Id="Rfe21a1b074ea4e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aaef5bda454ee7" /><Relationship Type="http://schemas.openxmlformats.org/officeDocument/2006/relationships/notesSlide" Target="/ppt/notesSlides/notesSlide7.xml" Id="R9f2039ea8ce14b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c61694e6664ce0" /><Relationship Type="http://schemas.openxmlformats.org/officeDocument/2006/relationships/notesSlide" Target="/ppt/notesSlides/notesSlide8.xml" Id="R90bec6e5c2c244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8df4664910420d" /><Relationship Type="http://schemas.openxmlformats.org/officeDocument/2006/relationships/notesSlide" Target="/ppt/notesSlides/notesSlide9.xml" Id="R377054cceef145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522755f86f4938" /><Relationship Type="http://schemas.openxmlformats.org/officeDocument/2006/relationships/image" Target="/ppt/media/image2.png" Id="Re27b418416624cf9" /><Relationship Type="http://schemas.openxmlformats.org/officeDocument/2006/relationships/notesSlide" Target="/ppt/notesSlides/notesSlide10.xml" Id="R1d329903fc9e4572" /></Relationships>
</file>

<file path=ppt/slides/slide1.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5729cc56b941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72EE68-371A-477B-ACD4-56CFF9053CD4}"/>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80B1B">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1C5168-C875-4BFF-AE28-0EDFB2C8D119}"/>
              </a:ext>
            </a:extLst>
          </p:cNvPr>
          <p:cNvSpPr>
            <a:spLocks xmlns:a="http://schemas.openxmlformats.org/drawingml/2006/main" noGrp="1"/>
          </p:cNvSpPr>
          <p:nvPr/>
        </p:nvSpPr>
        <p:spPr>
          <a:xfrm xmlns:a="http://schemas.openxmlformats.org/drawingml/2006/main">
            <a:off x="685800" y="1190625"/>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DIGITAL</a:t>
            </a:r>
          </a:p>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MIRROR</a:t>
            </a:r>
          </a:p>
        </p:txBody>
      </p:sp>
      <p:sp>
        <p:nvSpPr>
          <p:cNvPr id="4" name="">
            <a:extLst xmlns:a="http://schemas.openxmlformats.org/drawingml/2006/main">
              <a:ext uri="{FF2B5EF4-FFF2-40B4-BE49-F238E27FC236}">
                <a16:creationId xmlns:a16="http://schemas.microsoft.com/office/drawing/2014/main" id="{C812C532-AD8F-4E75-B6B3-466BEB2D5D11}"/>
              </a:ext>
            </a:extLst>
          </p:cNvPr>
          <p:cNvSpPr>
            <a:spLocks xmlns:a="http://schemas.openxmlformats.org/drawingml/2006/main" noGrp="1"/>
          </p:cNvSpPr>
          <p:nvPr/>
        </p:nvSpPr>
        <p:spPr>
          <a:xfrm xmlns:a="http://schemas.openxmlformats.org/drawingml/2006/main">
            <a:off x="733425" y="29051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800" b="1">
                <a:solidFill>
                  <a:srgbClr val="45E0E8"/>
                </a:solidFill>
                <a:latin typeface="Arial"/>
                <a:ea typeface="Arial"/>
                <a:cs typeface="Arial"/>
              </a:defRPr>
            </a:pPr>
            <a:r>
              <a:rPr sz="1800" b="1">
                <a:solidFill>
                  <a:srgbClr val="45E0E8"/>
                </a:solidFill>
                <a:latin typeface="Arial"/>
                <a:ea typeface="Arial"/>
                <a:cs typeface="Arial"/>
              </a:rPr>
              <a:t>A living visual museum of Filipino popular culture, 2000–2010</a:t>
            </a:r>
          </a:p>
        </p:txBody>
      </p:sp>
      <p:sp>
        <p:nvSpPr>
          <p:cNvPr id="5" name="">
            <a:extLst xmlns:a="http://schemas.openxmlformats.org/drawingml/2006/main">
              <a:ext uri="{FF2B5EF4-FFF2-40B4-BE49-F238E27FC236}">
                <a16:creationId xmlns:a16="http://schemas.microsoft.com/office/drawing/2014/main" id="{EA3C6B36-5235-4BC4-9345-F1D3222AA4C9}"/>
              </a:ext>
            </a:extLst>
          </p:cNvPr>
          <p:cNvSpPr>
            <a:spLocks xmlns:a="http://schemas.openxmlformats.org/drawingml/2006/main" noGrp="1"/>
          </p:cNvSpPr>
          <p:nvPr/>
        </p:nvSpPr>
        <p:spPr>
          <a:xfrm xmlns:a="http://schemas.openxmlformats.org/drawingml/2006/main">
            <a:off x="733425" y="390525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0">
                <a:solidFill>
                  <a:srgbClr val="DAD6EA"/>
                </a:solidFill>
                <a:latin typeface="Arial"/>
                <a:ea typeface="Arial"/>
                <a:cs typeface="Arial"/>
              </a:defRPr>
            </a:pPr>
            <a:r>
              <a:rPr sz="1200" b="0">
                <a:solidFill>
                  <a:srgbClr val="DAD6EA"/>
                </a:solidFill>
                <a:latin typeface="Arial"/>
                <a:ea typeface="Arial"/>
                <a:cs typeface="Arial"/>
              </a:rPr>
              <a:t>Sponsor pitch  •  10-minute presentation</a:t>
            </a:r>
          </a:p>
        </p:txBody>
      </p:sp>
      <p:sp>
        <p:nvSpPr>
          <p:cNvPr id="6" name="">
            <a:extLst xmlns:a="http://schemas.openxmlformats.org/drawingml/2006/main">
              <a:ext uri="{FF2B5EF4-FFF2-40B4-BE49-F238E27FC236}">
                <a16:creationId xmlns:a16="http://schemas.microsoft.com/office/drawing/2014/main" id="{ABA37E16-8858-4A8B-ABF1-E644B552D7D9}"/>
              </a:ext>
            </a:extLst>
          </p:cNvPr>
          <p:cNvSpPr>
            <a:spLocks xmlns:a="http://schemas.openxmlformats.org/drawingml/2006/main" noGrp="1"/>
          </p:cNvSpPr>
          <p:nvPr/>
        </p:nvSpPr>
        <p:spPr>
          <a:xfrm xmlns:a="http://schemas.openxmlformats.org/drawingml/2006/main">
            <a:off x="733425" y="4619625"/>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We saved the Friendster testimonials.</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Now let us save what they meant.</a:t>
            </a:r>
          </a:p>
        </p:txBody>
      </p:sp>
    </p:spTree>
    <p:extLst>
      <p:ext uri="{BB962C8B-B14F-4D97-AF65-F5344CB8AC3E}">
        <p14:creationId xmlns:p14="http://schemas.microsoft.com/office/powerpoint/2010/main" val="2130048403"/>
      </p:ext>
    </p:extLst>
  </p:cSld>
</p:sld>
</file>

<file path=ppt/slides/slide2.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0634824-0DF5-4B10-9F4C-CD4A4272918F}"/>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The memory gap</a:t>
            </a:r>
          </a:p>
        </p:txBody>
      </p:sp>
      <p:sp>
        <p:nvSpPr>
          <p:cNvPr id="2" name="">
            <a:extLst xmlns:a="http://schemas.openxmlformats.org/drawingml/2006/main">
              <a:ext uri="{FF2B5EF4-FFF2-40B4-BE49-F238E27FC236}">
                <a16:creationId xmlns:a16="http://schemas.microsoft.com/office/drawing/2014/main" id="{C4774015-C827-4767-BA34-E607DE0B1514}"/>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A generation remembers the feeling, but the cultural context is disappearing</a:t>
            </a:r>
          </a:p>
        </p:txBody>
      </p:sp>
      <p:sp>
        <p:nvSpPr>
          <p:cNvPr id="3" name="">
            <a:extLst xmlns:a="http://schemas.openxmlformats.org/drawingml/2006/main">
              <a:ext uri="{FF2B5EF4-FFF2-40B4-BE49-F238E27FC236}">
                <a16:creationId xmlns:a16="http://schemas.microsoft.com/office/drawing/2014/main" id="{119D9D3E-1080-4F14-8226-942D13F5F77E}"/>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2220F95-D56B-4465-8F8C-A86EDFB24D7C}"/>
              </a:ext>
            </a:extLst>
          </p:cNvPr>
          <p:cNvSpPr>
            <a:spLocks xmlns:a="http://schemas.openxmlformats.org/drawingml/2006/main" noGrp="1"/>
          </p:cNvSpPr>
          <p:nvPr/>
        </p:nvSpPr>
        <p:spPr>
          <a:xfrm xmlns:a="http://schemas.openxmlformats.org/drawingml/2006/main">
            <a:off x="742950" y="18097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875" b="1">
                <a:solidFill>
                  <a:srgbClr val="6C4BF4"/>
                </a:solidFill>
                <a:latin typeface="Arial"/>
                <a:ea typeface="Arial"/>
                <a:cs typeface="Arial"/>
              </a:defRPr>
            </a:pPr>
            <a:r>
              <a:rPr sz="1875" b="1">
                <a:solidFill>
                  <a:srgbClr val="6C4BF4"/>
                </a:solidFill>
                <a:latin typeface="Arial"/>
                <a:ea typeface="Arial"/>
                <a:cs typeface="Arial"/>
              </a:rPr>
              <a:t>We remember…</a:t>
            </a:r>
          </a:p>
        </p:txBody>
      </p:sp>
      <p:sp>
        <p:nvSpPr>
          <p:cNvPr id="5" name="">
            <a:extLst xmlns:a="http://schemas.openxmlformats.org/drawingml/2006/main">
              <a:ext uri="{FF2B5EF4-FFF2-40B4-BE49-F238E27FC236}">
                <a16:creationId xmlns:a16="http://schemas.microsoft.com/office/drawing/2014/main" id="{E3CA744E-2C76-47D2-A23D-CE7468BCFD7F}"/>
              </a:ext>
            </a:extLst>
          </p:cNvPr>
          <p:cNvSpPr>
            <a:spLocks xmlns:a="http://schemas.openxmlformats.org/drawingml/2006/main" noGrp="1"/>
          </p:cNvSpPr>
          <p:nvPr/>
        </p:nvSpPr>
        <p:spPr>
          <a:xfrm xmlns:a="http://schemas.openxmlformats.org/drawingml/2006/main">
            <a:off x="952500" y="23431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the PBB theme song</a:t>
            </a:r>
          </a:p>
        </p:txBody>
      </p:sp>
      <p:sp>
        <p:nvSpPr>
          <p:cNvPr id="6" name="">
            <a:extLst xmlns:a="http://schemas.openxmlformats.org/drawingml/2006/main">
              <a:ext uri="{FF2B5EF4-FFF2-40B4-BE49-F238E27FC236}">
                <a16:creationId xmlns:a16="http://schemas.microsoft.com/office/drawing/2014/main" id="{7CB22698-ACE4-443F-931A-C79262CCB60F}"/>
              </a:ext>
            </a:extLst>
          </p:cNvPr>
          <p:cNvSpPr>
            <a:spLocks xmlns:a="http://schemas.openxmlformats.org/drawingml/2006/main" noGrp="1"/>
          </p:cNvSpPr>
          <p:nvPr/>
        </p:nvSpPr>
        <p:spPr>
          <a:xfrm xmlns:a="http://schemas.openxmlformats.org/drawingml/2006/main">
            <a:off x="742950" y="2476500"/>
            <a:ext cx="85725" cy="85725"/>
          </a:xfrm>
          <a:prstGeom xmlns:a="http://schemas.openxmlformats.org/drawingml/2006/main" prst="roundRect">
            <a:avLst>
              <a:gd name="adj" fmla="val 50000"/>
            </a:avLst>
          </a:prstGeom>
          <a:solidFill xmlns:a="http://schemas.openxmlformats.org/drawingml/2006/main">
            <a:srgbClr val="45E0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10A8DD8-475A-4E59-9592-D7C8D68D337B}"/>
              </a:ext>
            </a:extLst>
          </p:cNvPr>
          <p:cNvSpPr>
            <a:spLocks xmlns:a="http://schemas.openxmlformats.org/drawingml/2006/main" noGrp="1"/>
          </p:cNvSpPr>
          <p:nvPr/>
        </p:nvSpPr>
        <p:spPr>
          <a:xfrm xmlns:a="http://schemas.openxmlformats.org/drawingml/2006/main">
            <a:off x="952500" y="28575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unli-text after midnight</a:t>
            </a:r>
          </a:p>
        </p:txBody>
      </p:sp>
      <p:sp>
        <p:nvSpPr>
          <p:cNvPr id="8" name="">
            <a:extLst xmlns:a="http://schemas.openxmlformats.org/drawingml/2006/main">
              <a:ext uri="{FF2B5EF4-FFF2-40B4-BE49-F238E27FC236}">
                <a16:creationId xmlns:a16="http://schemas.microsoft.com/office/drawing/2014/main" id="{EFD5D1AF-B6F3-4E56-85AD-6ADE774BB089}"/>
              </a:ext>
            </a:extLst>
          </p:cNvPr>
          <p:cNvSpPr>
            <a:spLocks xmlns:a="http://schemas.openxmlformats.org/drawingml/2006/main" noGrp="1"/>
          </p:cNvSpPr>
          <p:nvPr/>
        </p:nvSpPr>
        <p:spPr>
          <a:xfrm xmlns:a="http://schemas.openxmlformats.org/drawingml/2006/main">
            <a:off x="742950" y="2990850"/>
            <a:ext cx="85725" cy="85725"/>
          </a:xfrm>
          <a:prstGeom xmlns:a="http://schemas.openxmlformats.org/drawingml/2006/main" prst="roundRect">
            <a:avLst>
              <a:gd name="adj" fmla="val 50000"/>
            </a:avLst>
          </a:prstGeom>
          <a:solidFill xmlns:a="http://schemas.openxmlformats.org/drawingml/2006/main">
            <a:srgbClr val="FF4F9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3E8276-260D-41DB-855A-A9B50D9061BA}"/>
              </a:ext>
            </a:extLst>
          </p:cNvPr>
          <p:cNvSpPr>
            <a:spLocks xmlns:a="http://schemas.openxmlformats.org/drawingml/2006/main" noGrp="1"/>
          </p:cNvSpPr>
          <p:nvPr/>
        </p:nvSpPr>
        <p:spPr>
          <a:xfrm xmlns:a="http://schemas.openxmlformats.org/drawingml/2006/main">
            <a:off x="952500" y="33718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one paid hour at the computer shop</a:t>
            </a:r>
          </a:p>
        </p:txBody>
      </p:sp>
      <p:sp>
        <p:nvSpPr>
          <p:cNvPr id="10" name="">
            <a:extLst xmlns:a="http://schemas.openxmlformats.org/drawingml/2006/main">
              <a:ext uri="{FF2B5EF4-FFF2-40B4-BE49-F238E27FC236}">
                <a16:creationId xmlns:a16="http://schemas.microsoft.com/office/drawing/2014/main" id="{D16ABCC6-280C-40C5-B6E8-2305F0D94F09}"/>
              </a:ext>
            </a:extLst>
          </p:cNvPr>
          <p:cNvSpPr>
            <a:spLocks xmlns:a="http://schemas.openxmlformats.org/drawingml/2006/main" noGrp="1"/>
          </p:cNvSpPr>
          <p:nvPr/>
        </p:nvSpPr>
        <p:spPr>
          <a:xfrm xmlns:a="http://schemas.openxmlformats.org/drawingml/2006/main">
            <a:off x="742950" y="3505200"/>
            <a:ext cx="85725" cy="85725"/>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0E60151-5C04-4457-AE09-1619B2AF409D}"/>
              </a:ext>
            </a:extLst>
          </p:cNvPr>
          <p:cNvSpPr>
            <a:spLocks xmlns:a="http://schemas.openxmlformats.org/drawingml/2006/main" noGrp="1"/>
          </p:cNvSpPr>
          <p:nvPr/>
        </p:nvSpPr>
        <p:spPr>
          <a:xfrm xmlns:a="http://schemas.openxmlformats.org/drawingml/2006/main">
            <a:off x="952500" y="38862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11142A"/>
                </a:solidFill>
                <a:latin typeface="Arial"/>
                <a:ea typeface="Arial"/>
                <a:cs typeface="Arial"/>
              </a:defRPr>
            </a:pPr>
            <a:r>
              <a:rPr sz="1575" b="0">
                <a:solidFill>
                  <a:srgbClr val="11142A"/>
                </a:solidFill>
                <a:latin typeface="Arial"/>
                <a:ea typeface="Arial"/>
                <a:cs typeface="Arial"/>
              </a:rPr>
              <a:t>rebonded hair surviving humidity</a:t>
            </a:r>
          </a:p>
        </p:txBody>
      </p:sp>
      <p:sp>
        <p:nvSpPr>
          <p:cNvPr id="12" name="">
            <a:extLst xmlns:a="http://schemas.openxmlformats.org/drawingml/2006/main">
              <a:ext uri="{FF2B5EF4-FFF2-40B4-BE49-F238E27FC236}">
                <a16:creationId xmlns:a16="http://schemas.microsoft.com/office/drawing/2014/main" id="{BA30BF4F-5211-41D8-83D7-0B120E087A08}"/>
              </a:ext>
            </a:extLst>
          </p:cNvPr>
          <p:cNvSpPr>
            <a:spLocks xmlns:a="http://schemas.openxmlformats.org/drawingml/2006/main" noGrp="1"/>
          </p:cNvSpPr>
          <p:nvPr/>
        </p:nvSpPr>
        <p:spPr>
          <a:xfrm xmlns:a="http://schemas.openxmlformats.org/drawingml/2006/main">
            <a:off x="742950" y="4019550"/>
            <a:ext cx="85725" cy="85725"/>
          </a:xfrm>
          <a:prstGeom xmlns:a="http://schemas.openxmlformats.org/drawingml/2006/main" prst="roundRect">
            <a:avLst>
              <a:gd name="adj" fmla="val 50000"/>
            </a:avLst>
          </a:prstGeom>
          <a:solidFill xmlns:a="http://schemas.openxmlformats.org/drawingml/2006/main">
            <a:srgbClr val="6C4BF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C983741-A73A-4365-98EB-3900C3DDF246}"/>
              </a:ext>
            </a:extLst>
          </p:cNvPr>
          <p:cNvSpPr>
            <a:spLocks xmlns:a="http://schemas.openxmlformats.org/drawingml/2006/main" noGrp="1"/>
          </p:cNvSpPr>
          <p:nvPr/>
        </p:nvSpPr>
        <p:spPr>
          <a:xfrm xmlns:a="http://schemas.openxmlformats.org/drawingml/2006/main">
            <a:off x="952500" y="44005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11142A"/>
                </a:solidFill>
                <a:latin typeface="Arial"/>
                <a:ea typeface="Arial"/>
                <a:cs typeface="Arial"/>
              </a:defRPr>
            </a:pPr>
            <a:r>
              <a:rPr sz="1575" b="1">
                <a:solidFill>
                  <a:srgbClr val="11142A"/>
                </a:solidFill>
                <a:latin typeface="Arial"/>
                <a:ea typeface="Arial"/>
                <a:cs typeface="Arial"/>
              </a:rPr>
              <a:t>videoke confidence at 2% accuracy</a:t>
            </a:r>
          </a:p>
        </p:txBody>
      </p:sp>
      <p:sp>
        <p:nvSpPr>
          <p:cNvPr id="14" name="">
            <a:extLst xmlns:a="http://schemas.openxmlformats.org/drawingml/2006/main">
              <a:ext uri="{FF2B5EF4-FFF2-40B4-BE49-F238E27FC236}">
                <a16:creationId xmlns:a16="http://schemas.microsoft.com/office/drawing/2014/main" id="{381428A3-3BEA-408B-9B03-3E3E9335EB0E}"/>
              </a:ext>
            </a:extLst>
          </p:cNvPr>
          <p:cNvSpPr>
            <a:spLocks xmlns:a="http://schemas.openxmlformats.org/drawingml/2006/main" noGrp="1"/>
          </p:cNvSpPr>
          <p:nvPr/>
        </p:nvSpPr>
        <p:spPr>
          <a:xfrm xmlns:a="http://schemas.openxmlformats.org/drawingml/2006/main">
            <a:off x="742950" y="4533900"/>
            <a:ext cx="85725" cy="85725"/>
          </a:xfrm>
          <a:prstGeom xmlns:a="http://schemas.openxmlformats.org/drawingml/2006/main" prst="roundRect">
            <a:avLst>
              <a:gd name="adj" fmla="val 50000"/>
            </a:avLst>
          </a:prstGeom>
          <a:solidFill xmlns:a="http://schemas.openxmlformats.org/drawingml/2006/main">
            <a:srgbClr val="74F0C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F9CCB6-9CE3-4AAA-9269-3E9BF149FFC6}"/>
              </a:ext>
            </a:extLst>
          </p:cNvPr>
          <p:cNvSpPr>
            <a:spLocks xmlns:a="http://schemas.openxmlformats.org/drawingml/2006/main" noGrp="1"/>
          </p:cNvSpPr>
          <p:nvPr/>
        </p:nvSpPr>
        <p:spPr>
          <a:xfrm xmlns:a="http://schemas.openxmlformats.org/drawingml/2006/main">
            <a:off x="6191250" y="1781175"/>
            <a:ext cx="4953000" cy="3429000"/>
          </a:xfrm>
          <a:prstGeom xmlns:a="http://schemas.openxmlformats.org/drawingml/2006/main" prst="roundRect">
            <a:avLst>
              <a:gd name="adj" fmla="val 5000"/>
            </a:avLst>
          </a:prstGeom>
          <a:solidFill xmlns:a="http://schemas.openxmlformats.org/drawingml/2006/main">
            <a:srgbClr val="1114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4D0B64E-FEE3-4D38-A048-6D918474268C}"/>
              </a:ext>
            </a:extLst>
          </p:cNvPr>
          <p:cNvSpPr>
            <a:spLocks xmlns:a="http://schemas.openxmlformats.org/drawingml/2006/main" noGrp="1"/>
          </p:cNvSpPr>
          <p:nvPr/>
        </p:nvSpPr>
        <p:spPr>
          <a:xfrm xmlns:a="http://schemas.openxmlformats.org/drawingml/2006/main">
            <a:off x="6667500" y="2143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5450"/>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But memory alone cannot explain</a:t>
            </a:r>
          </a:p>
        </p:txBody>
      </p:sp>
      <p:sp>
        <p:nvSpPr>
          <p:cNvPr id="17" name="">
            <a:extLst xmlns:a="http://schemas.openxmlformats.org/drawingml/2006/main">
              <a:ext uri="{FF2B5EF4-FFF2-40B4-BE49-F238E27FC236}">
                <a16:creationId xmlns:a16="http://schemas.microsoft.com/office/drawing/2014/main" id="{07E61394-B8D8-4CED-A3D9-3EA53E50DB81}"/>
              </a:ext>
            </a:extLst>
          </p:cNvPr>
          <p:cNvSpPr>
            <a:spLocks xmlns:a="http://schemas.openxmlformats.org/drawingml/2006/main" noGrp="1"/>
          </p:cNvSpPr>
          <p:nvPr/>
        </p:nvSpPr>
        <p:spPr>
          <a:xfrm xmlns:a="http://schemas.openxmlformats.org/drawingml/2006/main">
            <a:off x="6810375" y="2876550"/>
            <a:ext cx="371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media shaped feelings</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fashion shaped self-image</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new spaces changed behavior</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technology changed relationships</a:t>
            </a:r>
          </a:p>
          <a:p xmlns:a="http://schemas.openxmlformats.org/drawingml/2006/main">
            <a:pPr algn="ctr">
              <a:defRPr sz="1650" b="0">
                <a:solidFill>
                  <a:srgbClr val="DAD6EA"/>
                </a:solidFill>
                <a:latin typeface="Arial"/>
                <a:ea typeface="Arial"/>
                <a:cs typeface="Arial"/>
              </a:defRPr>
            </a:pPr>
            <a:r>
              <a:rPr sz="1650" b="0">
                <a:solidFill>
                  <a:srgbClr val="DAD6EA"/>
                </a:solidFill>
                <a:latin typeface="Arial"/>
                <a:ea typeface="Arial"/>
                <a:cs typeface="Arial"/>
              </a:rPr>
              <a:t>how global culture became Filipino</a:t>
            </a:r>
          </a:p>
        </p:txBody>
      </p:sp>
      <p:sp>
        <p:nvSpPr>
          <p:cNvPr id="18" name="">
            <a:extLst xmlns:a="http://schemas.openxmlformats.org/drawingml/2006/main">
              <a:ext uri="{FF2B5EF4-FFF2-40B4-BE49-F238E27FC236}">
                <a16:creationId xmlns:a16="http://schemas.microsoft.com/office/drawing/2014/main" id="{5AD8D3F3-42B9-45A5-8603-A5E7A3910963}"/>
              </a:ext>
            </a:extLst>
          </p:cNvPr>
          <p:cNvSpPr>
            <a:spLocks xmlns:a="http://schemas.openxmlformats.org/drawingml/2006/main" noGrp="1"/>
          </p:cNvSpPr>
          <p:nvPr/>
        </p:nvSpPr>
        <p:spPr>
          <a:xfrm xmlns:a="http://schemas.openxmlformats.org/drawingml/2006/main">
            <a:off x="6238875" y="55245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6693"/>
          </a:bodyPr>
          <a:lstStyle xmlns:a="http://schemas.openxmlformats.org/drawingml/2006/main"/>
          <a:p xmlns:a="http://schemas.openxmlformats.org/drawingml/2006/main">
            <a:pPr algn="ctr">
              <a:defRPr sz="1725" b="1">
                <a:solidFill>
                  <a:srgbClr val="FF4F9A"/>
                </a:solidFill>
                <a:latin typeface="Arial"/>
                <a:ea typeface="Arial"/>
                <a:cs typeface="Arial"/>
              </a:defRPr>
            </a:pPr>
            <a:r>
              <a:rPr sz="1725" b="1">
                <a:solidFill>
                  <a:srgbClr val="FF4F9A"/>
                </a:solidFill>
                <a:latin typeface="Arial"/>
                <a:ea typeface="Arial"/>
                <a:cs typeface="Arial"/>
              </a:rPr>
              <a:t>Digital Mirror connects the joke to the meaning.</a:t>
            </a:r>
          </a:p>
        </p:txBody>
      </p:sp>
      <p:sp>
        <p:nvSpPr>
          <p:cNvPr id="19" name="">
            <a:extLst xmlns:a="http://schemas.openxmlformats.org/drawingml/2006/main">
              <a:ext uri="{FF2B5EF4-FFF2-40B4-BE49-F238E27FC236}">
                <a16:creationId xmlns:a16="http://schemas.microsoft.com/office/drawing/2014/main" id="{FFA35EBD-01A0-406D-831D-D2EE92640C60}"/>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0" name="">
            <a:extLst xmlns:a="http://schemas.openxmlformats.org/drawingml/2006/main">
              <a:ext uri="{FF2B5EF4-FFF2-40B4-BE49-F238E27FC236}">
                <a16:creationId xmlns:a16="http://schemas.microsoft.com/office/drawing/2014/main" id="{C0823915-7FD8-432A-AC55-B25FE352720C}"/>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02</a:t>
            </a:r>
          </a:p>
        </p:txBody>
      </p:sp>
    </p:spTree>
    <p:extLst>
      <p:ext uri="{BB962C8B-B14F-4D97-AF65-F5344CB8AC3E}">
        <p14:creationId xmlns:p14="http://schemas.microsoft.com/office/powerpoint/2010/main" val="1839064547"/>
      </p:ext>
    </p:extLst>
  </p:cSld>
</p:sld>
</file>

<file path=ppt/slides/slide3.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F0BD6BC-06FC-4F76-A59D-D5127B607F2B}"/>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Seven views of one decade</a:t>
            </a:r>
          </a:p>
        </p:txBody>
      </p:sp>
      <p:sp>
        <p:nvSpPr>
          <p:cNvPr id="2" name="">
            <a:extLst xmlns:a="http://schemas.openxmlformats.org/drawingml/2006/main">
              <a:ext uri="{FF2B5EF4-FFF2-40B4-BE49-F238E27FC236}">
                <a16:creationId xmlns:a16="http://schemas.microsoft.com/office/drawing/2014/main" id="{25F09347-0081-4A8B-B053-200258F876D1}"/>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Each gallery reflects a different way popular culture shaped everyday life</a:t>
            </a:r>
          </a:p>
        </p:txBody>
      </p:sp>
      <p:sp>
        <p:nvSpPr>
          <p:cNvPr id="3" name="">
            <a:extLst xmlns:a="http://schemas.openxmlformats.org/drawingml/2006/main">
              <a:ext uri="{FF2B5EF4-FFF2-40B4-BE49-F238E27FC236}">
                <a16:creationId xmlns:a16="http://schemas.microsoft.com/office/drawing/2014/main" id="{A94A0511-312E-4E34-8291-820DDBC0B255}"/>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FD4A1F-06DC-4E84-BCA0-FB03DAE23415}"/>
              </a:ext>
            </a:extLst>
          </p:cNvPr>
          <p:cNvSpPr>
            <a:spLocks xmlns:a="http://schemas.openxmlformats.org/drawingml/2006/main" noGrp="1"/>
          </p:cNvSpPr>
          <p:nvPr/>
        </p:nvSpPr>
        <p:spPr>
          <a:xfrm xmlns:a="http://schemas.openxmlformats.org/drawingml/2006/main">
            <a:off x="742950" y="1847850"/>
            <a:ext cx="2457450" cy="1314450"/>
          </a:xfrm>
          <a:prstGeom xmlns:a="http://schemas.openxmlformats.org/drawingml/2006/main" prst="roundRect">
            <a:avLst>
              <a:gd name="adj" fmla="val 10145"/>
            </a:avLst>
          </a:prstGeom>
          <a:solidFill xmlns:a="http://schemas.openxmlformats.org/drawingml/2006/main">
            <a:srgbClr val="6C4BF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C96FEE-4F7A-498C-8987-739741B45769}"/>
              </a:ext>
            </a:extLst>
          </p:cNvPr>
          <p:cNvSpPr>
            <a:spLocks xmlns:a="http://schemas.openxmlformats.org/drawingml/2006/main" noGrp="1"/>
          </p:cNvSpPr>
          <p:nvPr/>
        </p:nvSpPr>
        <p:spPr>
          <a:xfrm xmlns:a="http://schemas.openxmlformats.org/drawingml/2006/main">
            <a:off x="89535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49ABBA3-28B4-4F52-B31B-0BD485341C4C}"/>
              </a:ext>
            </a:extLst>
          </p:cNvPr>
          <p:cNvSpPr>
            <a:spLocks xmlns:a="http://schemas.openxmlformats.org/drawingml/2006/main" noGrp="1"/>
          </p:cNvSpPr>
          <p:nvPr/>
        </p:nvSpPr>
        <p:spPr>
          <a:xfrm xmlns:a="http://schemas.openxmlformats.org/drawingml/2006/main">
            <a:off x="91440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FEELINGS</a:t>
            </a:r>
          </a:p>
        </p:txBody>
      </p:sp>
      <p:sp>
        <p:nvSpPr>
          <p:cNvPr id="7" name="">
            <a:extLst xmlns:a="http://schemas.openxmlformats.org/drawingml/2006/main">
              <a:ext uri="{FF2B5EF4-FFF2-40B4-BE49-F238E27FC236}">
                <a16:creationId xmlns:a16="http://schemas.microsoft.com/office/drawing/2014/main" id="{F2525D1F-19D6-4852-ADEB-18A2746008C3}"/>
              </a:ext>
            </a:extLst>
          </p:cNvPr>
          <p:cNvSpPr>
            <a:spLocks xmlns:a="http://schemas.openxmlformats.org/drawingml/2006/main" noGrp="1"/>
          </p:cNvSpPr>
          <p:nvPr/>
        </p:nvSpPr>
        <p:spPr>
          <a:xfrm xmlns:a="http://schemas.openxmlformats.org/drawingml/2006/main">
            <a:off x="91440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kilig, belonging, excitement</a:t>
            </a:r>
          </a:p>
        </p:txBody>
      </p:sp>
      <p:sp>
        <p:nvSpPr>
          <p:cNvPr id="8" name="">
            <a:extLst xmlns:a="http://schemas.openxmlformats.org/drawingml/2006/main">
              <a:ext uri="{FF2B5EF4-FFF2-40B4-BE49-F238E27FC236}">
                <a16:creationId xmlns:a16="http://schemas.microsoft.com/office/drawing/2014/main" id="{5818A94D-F876-4E2E-899E-AC7F163BB582}"/>
              </a:ext>
            </a:extLst>
          </p:cNvPr>
          <p:cNvSpPr>
            <a:spLocks xmlns:a="http://schemas.openxmlformats.org/drawingml/2006/main" noGrp="1"/>
          </p:cNvSpPr>
          <p:nvPr/>
        </p:nvSpPr>
        <p:spPr>
          <a:xfrm xmlns:a="http://schemas.openxmlformats.org/drawingml/2006/main">
            <a:off x="3467100" y="1847850"/>
            <a:ext cx="2457450" cy="1314450"/>
          </a:xfrm>
          <a:prstGeom xmlns:a="http://schemas.openxmlformats.org/drawingml/2006/main" prst="roundRect">
            <a:avLst>
              <a:gd name="adj" fmla="val 10145"/>
            </a:avLst>
          </a:prstGeom>
          <a:solidFill xmlns:a="http://schemas.openxmlformats.org/drawingml/2006/main">
            <a:srgbClr val="FF4F9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71E40E-8216-4852-8A78-0F6946C4FE26}"/>
              </a:ext>
            </a:extLst>
          </p:cNvPr>
          <p:cNvSpPr>
            <a:spLocks xmlns:a="http://schemas.openxmlformats.org/drawingml/2006/main" noGrp="1"/>
          </p:cNvSpPr>
          <p:nvPr/>
        </p:nvSpPr>
        <p:spPr>
          <a:xfrm xmlns:a="http://schemas.openxmlformats.org/drawingml/2006/main">
            <a:off x="361950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B1F4E95-A791-4E9F-81C1-F2796487CB3A}"/>
              </a:ext>
            </a:extLst>
          </p:cNvPr>
          <p:cNvSpPr>
            <a:spLocks xmlns:a="http://schemas.openxmlformats.org/drawingml/2006/main" noGrp="1"/>
          </p:cNvSpPr>
          <p:nvPr/>
        </p:nvSpPr>
        <p:spPr>
          <a:xfrm xmlns:a="http://schemas.openxmlformats.org/drawingml/2006/main">
            <a:off x="363855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SELF-IMAGE</a:t>
            </a:r>
          </a:p>
        </p:txBody>
      </p:sp>
      <p:sp>
        <p:nvSpPr>
          <p:cNvPr id="11" name="">
            <a:extLst xmlns:a="http://schemas.openxmlformats.org/drawingml/2006/main">
              <a:ext uri="{FF2B5EF4-FFF2-40B4-BE49-F238E27FC236}">
                <a16:creationId xmlns:a16="http://schemas.microsoft.com/office/drawing/2014/main" id="{C1F52178-5855-4863-8E90-84548CC71BC1}"/>
              </a:ext>
            </a:extLst>
          </p:cNvPr>
          <p:cNvSpPr>
            <a:spLocks xmlns:a="http://schemas.openxmlformats.org/drawingml/2006/main" noGrp="1"/>
          </p:cNvSpPr>
          <p:nvPr/>
        </p:nvSpPr>
        <p:spPr>
          <a:xfrm xmlns:a="http://schemas.openxmlformats.org/drawingml/2006/main">
            <a:off x="363855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fashion, hair, confidence</a:t>
            </a:r>
          </a:p>
        </p:txBody>
      </p:sp>
      <p:sp>
        <p:nvSpPr>
          <p:cNvPr id="12" name="">
            <a:extLst xmlns:a="http://schemas.openxmlformats.org/drawingml/2006/main">
              <a:ext uri="{FF2B5EF4-FFF2-40B4-BE49-F238E27FC236}">
                <a16:creationId xmlns:a16="http://schemas.microsoft.com/office/drawing/2014/main" id="{8967C479-F3DD-4AA9-9D2B-8C202F29319F}"/>
              </a:ext>
            </a:extLst>
          </p:cNvPr>
          <p:cNvSpPr>
            <a:spLocks xmlns:a="http://schemas.openxmlformats.org/drawingml/2006/main" noGrp="1"/>
          </p:cNvSpPr>
          <p:nvPr/>
        </p:nvSpPr>
        <p:spPr>
          <a:xfrm xmlns:a="http://schemas.openxmlformats.org/drawingml/2006/main">
            <a:off x="6191250" y="1847850"/>
            <a:ext cx="2457450" cy="1314450"/>
          </a:xfrm>
          <a:prstGeom xmlns:a="http://schemas.openxmlformats.org/drawingml/2006/main" prst="roundRect">
            <a:avLst>
              <a:gd name="adj" fmla="val 10145"/>
            </a:avLst>
          </a:prstGeom>
          <a:solidFill xmlns:a="http://schemas.openxmlformats.org/drawingml/2006/main">
            <a:srgbClr val="FFC8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5602CBB-3CD6-444D-852E-053BC6DF28CB}"/>
              </a:ext>
            </a:extLst>
          </p:cNvPr>
          <p:cNvSpPr>
            <a:spLocks xmlns:a="http://schemas.openxmlformats.org/drawingml/2006/main" noGrp="1"/>
          </p:cNvSpPr>
          <p:nvPr/>
        </p:nvSpPr>
        <p:spPr>
          <a:xfrm xmlns:a="http://schemas.openxmlformats.org/drawingml/2006/main">
            <a:off x="634365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6EC8A8BF-0A86-468F-AA4E-5DCB5A65DAE3}"/>
              </a:ext>
            </a:extLst>
          </p:cNvPr>
          <p:cNvSpPr>
            <a:spLocks xmlns:a="http://schemas.openxmlformats.org/drawingml/2006/main" noGrp="1"/>
          </p:cNvSpPr>
          <p:nvPr/>
        </p:nvSpPr>
        <p:spPr>
          <a:xfrm xmlns:a="http://schemas.openxmlformats.org/drawingml/2006/main">
            <a:off x="636270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PERFORMANCE</a:t>
            </a:r>
          </a:p>
        </p:txBody>
      </p:sp>
      <p:sp>
        <p:nvSpPr>
          <p:cNvPr id="15" name="">
            <a:extLst xmlns:a="http://schemas.openxmlformats.org/drawingml/2006/main">
              <a:ext uri="{FF2B5EF4-FFF2-40B4-BE49-F238E27FC236}">
                <a16:creationId xmlns:a16="http://schemas.microsoft.com/office/drawing/2014/main" id="{43C94376-0E5D-4010-87FF-7608F3E17943}"/>
              </a:ext>
            </a:extLst>
          </p:cNvPr>
          <p:cNvSpPr>
            <a:spLocks xmlns:a="http://schemas.openxmlformats.org/drawingml/2006/main" noGrp="1"/>
          </p:cNvSpPr>
          <p:nvPr/>
        </p:nvSpPr>
        <p:spPr>
          <a:xfrm xmlns:a="http://schemas.openxmlformats.org/drawingml/2006/main">
            <a:off x="636270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singing, dance, television</a:t>
            </a:r>
          </a:p>
        </p:txBody>
      </p:sp>
      <p:sp>
        <p:nvSpPr>
          <p:cNvPr id="16" name="">
            <a:extLst xmlns:a="http://schemas.openxmlformats.org/drawingml/2006/main">
              <a:ext uri="{FF2B5EF4-FFF2-40B4-BE49-F238E27FC236}">
                <a16:creationId xmlns:a16="http://schemas.microsoft.com/office/drawing/2014/main" id="{21470E0B-EB62-42C2-866A-1F7B85F7B77D}"/>
              </a:ext>
            </a:extLst>
          </p:cNvPr>
          <p:cNvSpPr>
            <a:spLocks xmlns:a="http://schemas.openxmlformats.org/drawingml/2006/main" noGrp="1"/>
          </p:cNvSpPr>
          <p:nvPr/>
        </p:nvSpPr>
        <p:spPr>
          <a:xfrm xmlns:a="http://schemas.openxmlformats.org/drawingml/2006/main">
            <a:off x="8915400" y="1847850"/>
            <a:ext cx="2457450" cy="1314450"/>
          </a:xfrm>
          <a:prstGeom xmlns:a="http://schemas.openxmlformats.org/drawingml/2006/main" prst="roundRect">
            <a:avLst>
              <a:gd name="adj" fmla="val 10145"/>
            </a:avLst>
          </a:prstGeom>
          <a:solidFill xmlns:a="http://schemas.openxmlformats.org/drawingml/2006/main">
            <a:srgbClr val="45E0E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1F0506B-A1EE-4000-8C22-305FF5B29DF2}"/>
              </a:ext>
            </a:extLst>
          </p:cNvPr>
          <p:cNvSpPr>
            <a:spLocks xmlns:a="http://schemas.openxmlformats.org/drawingml/2006/main" noGrp="1"/>
          </p:cNvSpPr>
          <p:nvPr/>
        </p:nvSpPr>
        <p:spPr>
          <a:xfrm xmlns:a="http://schemas.openxmlformats.org/drawingml/2006/main">
            <a:off x="9067800" y="1962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100A0994-BDE3-421E-BEEA-E11003224A47}"/>
              </a:ext>
            </a:extLst>
          </p:cNvPr>
          <p:cNvSpPr>
            <a:spLocks xmlns:a="http://schemas.openxmlformats.org/drawingml/2006/main" noGrp="1"/>
          </p:cNvSpPr>
          <p:nvPr/>
        </p:nvSpPr>
        <p:spPr>
          <a:xfrm xmlns:a="http://schemas.openxmlformats.org/drawingml/2006/main">
            <a:off x="9086850" y="23050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SPACE</a:t>
            </a:r>
          </a:p>
        </p:txBody>
      </p:sp>
      <p:sp>
        <p:nvSpPr>
          <p:cNvPr id="19" name="">
            <a:extLst xmlns:a="http://schemas.openxmlformats.org/drawingml/2006/main">
              <a:ext uri="{FF2B5EF4-FFF2-40B4-BE49-F238E27FC236}">
                <a16:creationId xmlns:a16="http://schemas.microsoft.com/office/drawing/2014/main" id="{A9284280-051A-4A44-A149-CDE2B9FDA018}"/>
              </a:ext>
            </a:extLst>
          </p:cNvPr>
          <p:cNvSpPr>
            <a:spLocks xmlns:a="http://schemas.openxmlformats.org/drawingml/2006/main" noGrp="1"/>
          </p:cNvSpPr>
          <p:nvPr/>
        </p:nvSpPr>
        <p:spPr>
          <a:xfrm xmlns:a="http://schemas.openxmlformats.org/drawingml/2006/main">
            <a:off x="9086850" y="26384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malls, cafes, internet shops</a:t>
            </a:r>
          </a:p>
        </p:txBody>
      </p:sp>
      <p:sp>
        <p:nvSpPr>
          <p:cNvPr id="20" name="">
            <a:extLst xmlns:a="http://schemas.openxmlformats.org/drawingml/2006/main">
              <a:ext uri="{FF2B5EF4-FFF2-40B4-BE49-F238E27FC236}">
                <a16:creationId xmlns:a16="http://schemas.microsoft.com/office/drawing/2014/main" id="{C1679B03-5FCA-479F-929F-76903CCA7DB3}"/>
              </a:ext>
            </a:extLst>
          </p:cNvPr>
          <p:cNvSpPr>
            <a:spLocks xmlns:a="http://schemas.openxmlformats.org/drawingml/2006/main" noGrp="1"/>
          </p:cNvSpPr>
          <p:nvPr/>
        </p:nvSpPr>
        <p:spPr>
          <a:xfrm xmlns:a="http://schemas.openxmlformats.org/drawingml/2006/main">
            <a:off x="742950" y="3562350"/>
            <a:ext cx="2457450" cy="1314450"/>
          </a:xfrm>
          <a:prstGeom xmlns:a="http://schemas.openxmlformats.org/drawingml/2006/main" prst="roundRect">
            <a:avLst>
              <a:gd name="adj" fmla="val 10145"/>
            </a:avLst>
          </a:prstGeom>
          <a:solidFill xmlns:a="http://schemas.openxmlformats.org/drawingml/2006/main">
            <a:srgbClr val="74F0C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B709395-3E8A-443C-8EB7-0680D301625A}"/>
              </a:ext>
            </a:extLst>
          </p:cNvPr>
          <p:cNvSpPr>
            <a:spLocks xmlns:a="http://schemas.openxmlformats.org/drawingml/2006/main" noGrp="1"/>
          </p:cNvSpPr>
          <p:nvPr/>
        </p:nvSpPr>
        <p:spPr>
          <a:xfrm xmlns:a="http://schemas.openxmlformats.org/drawingml/2006/main">
            <a:off x="895350" y="3676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20194D2F-5239-4646-B042-14EC238B09EE}"/>
              </a:ext>
            </a:extLst>
          </p:cNvPr>
          <p:cNvSpPr>
            <a:spLocks xmlns:a="http://schemas.openxmlformats.org/drawingml/2006/main" noGrp="1"/>
          </p:cNvSpPr>
          <p:nvPr/>
        </p:nvSpPr>
        <p:spPr>
          <a:xfrm xmlns:a="http://schemas.openxmlformats.org/drawingml/2006/main">
            <a:off x="914400" y="40195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TIME</a:t>
            </a:r>
          </a:p>
        </p:txBody>
      </p:sp>
      <p:sp>
        <p:nvSpPr>
          <p:cNvPr id="23" name="">
            <a:extLst xmlns:a="http://schemas.openxmlformats.org/drawingml/2006/main">
              <a:ext uri="{FF2B5EF4-FFF2-40B4-BE49-F238E27FC236}">
                <a16:creationId xmlns:a16="http://schemas.microsoft.com/office/drawing/2014/main" id="{6E9D5671-BACD-409E-8C93-70B4904895DC}"/>
              </a:ext>
            </a:extLst>
          </p:cNvPr>
          <p:cNvSpPr>
            <a:spLocks xmlns:a="http://schemas.openxmlformats.org/drawingml/2006/main" noGrp="1"/>
          </p:cNvSpPr>
          <p:nvPr/>
        </p:nvSpPr>
        <p:spPr>
          <a:xfrm xmlns:a="http://schemas.openxmlformats.org/drawingml/2006/main">
            <a:off x="914400" y="43529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primetime, night shifts, unli-text</a:t>
            </a:r>
          </a:p>
        </p:txBody>
      </p:sp>
      <p:sp>
        <p:nvSpPr>
          <p:cNvPr id="24" name="">
            <a:extLst xmlns:a="http://schemas.openxmlformats.org/drawingml/2006/main">
              <a:ext uri="{FF2B5EF4-FFF2-40B4-BE49-F238E27FC236}">
                <a16:creationId xmlns:a16="http://schemas.microsoft.com/office/drawing/2014/main" id="{97F67025-47B8-42E1-BB37-940FE4712B45}"/>
              </a:ext>
            </a:extLst>
          </p:cNvPr>
          <p:cNvSpPr>
            <a:spLocks xmlns:a="http://schemas.openxmlformats.org/drawingml/2006/main" noGrp="1"/>
          </p:cNvSpPr>
          <p:nvPr/>
        </p:nvSpPr>
        <p:spPr>
          <a:xfrm xmlns:a="http://schemas.openxmlformats.org/drawingml/2006/main">
            <a:off x="3467100" y="3562350"/>
            <a:ext cx="2457450" cy="1314450"/>
          </a:xfrm>
          <a:prstGeom xmlns:a="http://schemas.openxmlformats.org/drawingml/2006/main" prst="roundRect">
            <a:avLst>
              <a:gd name="adj" fmla="val 10145"/>
            </a:avLst>
          </a:prstGeom>
          <a:solidFill xmlns:a="http://schemas.openxmlformats.org/drawingml/2006/main">
            <a:srgbClr val="5591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9EBE71B-FC1A-4D88-85DC-6D3829027F4A}"/>
              </a:ext>
            </a:extLst>
          </p:cNvPr>
          <p:cNvSpPr>
            <a:spLocks xmlns:a="http://schemas.openxmlformats.org/drawingml/2006/main" noGrp="1"/>
          </p:cNvSpPr>
          <p:nvPr/>
        </p:nvSpPr>
        <p:spPr>
          <a:xfrm xmlns:a="http://schemas.openxmlformats.org/drawingml/2006/main">
            <a:off x="3619500" y="3676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2124A410-FF1A-416C-9C02-99923EB0D4E6}"/>
              </a:ext>
            </a:extLst>
          </p:cNvPr>
          <p:cNvSpPr>
            <a:spLocks xmlns:a="http://schemas.openxmlformats.org/drawingml/2006/main" noGrp="1"/>
          </p:cNvSpPr>
          <p:nvPr/>
        </p:nvSpPr>
        <p:spPr>
          <a:xfrm xmlns:a="http://schemas.openxmlformats.org/drawingml/2006/main">
            <a:off x="3638550" y="40195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TECHNOLOGY</a:t>
            </a:r>
          </a:p>
        </p:txBody>
      </p:sp>
      <p:sp>
        <p:nvSpPr>
          <p:cNvPr id="27" name="">
            <a:extLst xmlns:a="http://schemas.openxmlformats.org/drawingml/2006/main">
              <a:ext uri="{FF2B5EF4-FFF2-40B4-BE49-F238E27FC236}">
                <a16:creationId xmlns:a16="http://schemas.microsoft.com/office/drawing/2014/main" id="{198F702D-991B-4D8D-8645-283D9D33D5A4}"/>
              </a:ext>
            </a:extLst>
          </p:cNvPr>
          <p:cNvSpPr>
            <a:spLocks xmlns:a="http://schemas.openxmlformats.org/drawingml/2006/main" noGrp="1"/>
          </p:cNvSpPr>
          <p:nvPr/>
        </p:nvSpPr>
        <p:spPr>
          <a:xfrm xmlns:a="http://schemas.openxmlformats.org/drawingml/2006/main">
            <a:off x="3638550" y="4352925"/>
            <a:ext cx="211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SMS, Friendster, cameras</a:t>
            </a:r>
          </a:p>
        </p:txBody>
      </p:sp>
      <p:sp>
        <p:nvSpPr>
          <p:cNvPr id="28" name="">
            <a:extLst xmlns:a="http://schemas.openxmlformats.org/drawingml/2006/main">
              <a:ext uri="{FF2B5EF4-FFF2-40B4-BE49-F238E27FC236}">
                <a16:creationId xmlns:a16="http://schemas.microsoft.com/office/drawing/2014/main" id="{F1F2F766-04B0-4FC7-A042-AF9F861FD167}"/>
              </a:ext>
            </a:extLst>
          </p:cNvPr>
          <p:cNvSpPr>
            <a:spLocks xmlns:a="http://schemas.openxmlformats.org/drawingml/2006/main" noGrp="1"/>
          </p:cNvSpPr>
          <p:nvPr/>
        </p:nvSpPr>
        <p:spPr>
          <a:xfrm xmlns:a="http://schemas.openxmlformats.org/drawingml/2006/main">
            <a:off x="6191250" y="3562350"/>
            <a:ext cx="5391150" cy="1314450"/>
          </a:xfrm>
          <a:prstGeom xmlns:a="http://schemas.openxmlformats.org/drawingml/2006/main" prst="roundRect">
            <a:avLst>
              <a:gd name="adj" fmla="val 10145"/>
            </a:avLst>
          </a:prstGeom>
          <a:solidFill xmlns:a="http://schemas.openxmlformats.org/drawingml/2006/main">
            <a:srgbClr val="D76D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7825D41-03C4-4E0B-9D66-FCD3365779CA}"/>
              </a:ext>
            </a:extLst>
          </p:cNvPr>
          <p:cNvSpPr>
            <a:spLocks xmlns:a="http://schemas.openxmlformats.org/drawingml/2006/main" noGrp="1"/>
          </p:cNvSpPr>
          <p:nvPr/>
        </p:nvSpPr>
        <p:spPr>
          <a:xfrm xmlns:a="http://schemas.openxmlformats.org/drawingml/2006/main">
            <a:off x="6343650" y="3676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1">
                <a:solidFill>
                  <a:srgbClr val="080B1B"/>
                </a:solidFill>
                <a:latin typeface="Arial"/>
                <a:ea typeface="Arial"/>
                <a:cs typeface="Arial"/>
              </a:defRPr>
            </a:pPr>
            <a:r>
              <a:rPr sz="1125" b="1">
                <a:solidFill>
                  <a:srgbClr val="080B1B"/>
                </a:solidFill>
                <a:latin typeface="Arial"/>
                <a:ea typeface="Arial"/>
                <a:cs typeface="Arial"/>
              </a:rPr>
              <a:t>07</a:t>
            </a:r>
          </a:p>
        </p:txBody>
      </p:sp>
      <p:sp>
        <p:nvSpPr>
          <p:cNvPr id="30" name="">
            <a:extLst xmlns:a="http://schemas.openxmlformats.org/drawingml/2006/main">
              <a:ext uri="{FF2B5EF4-FFF2-40B4-BE49-F238E27FC236}">
                <a16:creationId xmlns:a16="http://schemas.microsoft.com/office/drawing/2014/main" id="{0D3642C7-9847-4CA0-8FE9-85D73509E3C6}"/>
              </a:ext>
            </a:extLst>
          </p:cNvPr>
          <p:cNvSpPr>
            <a:spLocks xmlns:a="http://schemas.openxmlformats.org/drawingml/2006/main" noGrp="1"/>
          </p:cNvSpPr>
          <p:nvPr/>
        </p:nvSpPr>
        <p:spPr>
          <a:xfrm xmlns:a="http://schemas.openxmlformats.org/drawingml/2006/main">
            <a:off x="6362700" y="40195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080B1B"/>
                </a:solidFill>
                <a:latin typeface="Arial"/>
                <a:ea typeface="Arial"/>
                <a:cs typeface="Arial"/>
              </a:defRPr>
            </a:pPr>
            <a:r>
              <a:rPr sz="1575" b="1">
                <a:solidFill>
                  <a:srgbClr val="080B1B"/>
                </a:solidFill>
                <a:latin typeface="Arial"/>
                <a:ea typeface="Arial"/>
                <a:cs typeface="Arial"/>
              </a:rPr>
              <a:t>GLOBALIZATION</a:t>
            </a:r>
          </a:p>
        </p:txBody>
      </p:sp>
      <p:sp>
        <p:nvSpPr>
          <p:cNvPr id="31" name="">
            <a:extLst xmlns:a="http://schemas.openxmlformats.org/drawingml/2006/main">
              <a:ext uri="{FF2B5EF4-FFF2-40B4-BE49-F238E27FC236}">
                <a16:creationId xmlns:a16="http://schemas.microsoft.com/office/drawing/2014/main" id="{8427E224-B438-482C-AEE6-7366D170A2DA}"/>
              </a:ext>
            </a:extLst>
          </p:cNvPr>
          <p:cNvSpPr>
            <a:spLocks xmlns:a="http://schemas.openxmlformats.org/drawingml/2006/main" noGrp="1"/>
          </p:cNvSpPr>
          <p:nvPr/>
        </p:nvSpPr>
        <p:spPr>
          <a:xfrm xmlns:a="http://schemas.openxmlformats.org/drawingml/2006/main">
            <a:off x="6362700" y="43529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125" b="0">
                <a:solidFill>
                  <a:srgbClr val="080B1B"/>
                </a:solidFill>
                <a:latin typeface="Arial"/>
                <a:ea typeface="Arial"/>
                <a:cs typeface="Arial"/>
              </a:defRPr>
            </a:pPr>
            <a:r>
              <a:rPr sz="1125" b="0">
                <a:solidFill>
                  <a:srgbClr val="080B1B"/>
                </a:solidFill>
                <a:latin typeface="Arial"/>
                <a:ea typeface="Arial"/>
                <a:cs typeface="Arial"/>
              </a:rPr>
              <a:t>Asian and Western influences</a:t>
            </a:r>
          </a:p>
        </p:txBody>
      </p:sp>
      <p:sp>
        <p:nvSpPr>
          <p:cNvPr id="32" name="">
            <a:extLst xmlns:a="http://schemas.openxmlformats.org/drawingml/2006/main">
              <a:ext uri="{FF2B5EF4-FFF2-40B4-BE49-F238E27FC236}">
                <a16:creationId xmlns:a16="http://schemas.microsoft.com/office/drawing/2014/main" id="{CF5A71FC-8162-41F6-A837-68A3967B1120}"/>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3" name="">
            <a:extLst xmlns:a="http://schemas.openxmlformats.org/drawingml/2006/main">
              <a:ext uri="{FF2B5EF4-FFF2-40B4-BE49-F238E27FC236}">
                <a16:creationId xmlns:a16="http://schemas.microsoft.com/office/drawing/2014/main" id="{EC05CD8B-86AB-48A0-A9C6-7FBA8D41EBED}"/>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03</a:t>
            </a:r>
          </a:p>
        </p:txBody>
      </p:sp>
    </p:spTree>
    <p:extLst>
      <p:ext uri="{BB962C8B-B14F-4D97-AF65-F5344CB8AC3E}">
        <p14:creationId xmlns:p14="http://schemas.microsoft.com/office/powerpoint/2010/main" val="1001311825"/>
      </p:ext>
    </p:extLst>
  </p:cSld>
</p:sld>
</file>

<file path=ppt/slides/slide4.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293772D-3803-41C9-9AED-2096A34C1926}"/>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The visitor experience</a:t>
            </a:r>
          </a:p>
        </p:txBody>
      </p:sp>
      <p:sp>
        <p:nvSpPr>
          <p:cNvPr id="2" name="">
            <a:extLst xmlns:a="http://schemas.openxmlformats.org/drawingml/2006/main">
              <a:ext uri="{FF2B5EF4-FFF2-40B4-BE49-F238E27FC236}">
                <a16:creationId xmlns:a16="http://schemas.microsoft.com/office/drawing/2014/main" id="{15FCAA20-33E0-4BB2-81FC-AB67A6330A12}"/>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A five-step journey from recognition to contribution</a:t>
            </a:r>
          </a:p>
        </p:txBody>
      </p:sp>
      <p:sp>
        <p:nvSpPr>
          <p:cNvPr id="3" name="">
            <a:extLst xmlns:a="http://schemas.openxmlformats.org/drawingml/2006/main">
              <a:ext uri="{FF2B5EF4-FFF2-40B4-BE49-F238E27FC236}">
                <a16:creationId xmlns:a16="http://schemas.microsoft.com/office/drawing/2014/main" id="{C2489E14-E3A8-4149-A023-B823355DE1F9}"/>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E8F16B-56C6-4F6B-963F-C74348F7C6B4}"/>
              </a:ext>
            </a:extLst>
          </p:cNvPr>
          <p:cNvSpPr>
            <a:spLocks xmlns:a="http://schemas.openxmlformats.org/drawingml/2006/main" noGrp="1"/>
          </p:cNvSpPr>
          <p:nvPr/>
        </p:nvSpPr>
        <p:spPr>
          <a:xfrm xmlns:a="http://schemas.openxmlformats.org/drawingml/2006/main">
            <a:off x="809625" y="1714500"/>
            <a:ext cx="590550" cy="590550"/>
          </a:xfrm>
          <a:prstGeom xmlns:a="http://schemas.openxmlformats.org/drawingml/2006/main" prst="roundRect">
            <a:avLst>
              <a:gd name="adj" fmla="val 50000"/>
            </a:avLst>
          </a:prstGeom>
          <a:solidFill xmlns:a="http://schemas.openxmlformats.org/drawingml/2006/main">
            <a:srgbClr val="6C4BF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B653CE-CE9A-4A42-A7CB-EDF0708EEA2B}"/>
              </a:ext>
            </a:extLst>
          </p:cNvPr>
          <p:cNvSpPr>
            <a:spLocks xmlns:a="http://schemas.openxmlformats.org/drawingml/2006/main" noGrp="1"/>
          </p:cNvSpPr>
          <p:nvPr/>
        </p:nvSpPr>
        <p:spPr>
          <a:xfrm xmlns:a="http://schemas.openxmlformats.org/drawingml/2006/main">
            <a:off x="809625" y="17145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04C8D80-10F8-48B6-9465-FA980C6AEC99}"/>
              </a:ext>
            </a:extLst>
          </p:cNvPr>
          <p:cNvSpPr>
            <a:spLocks xmlns:a="http://schemas.openxmlformats.org/drawingml/2006/main" noGrp="1"/>
          </p:cNvSpPr>
          <p:nvPr/>
        </p:nvSpPr>
        <p:spPr>
          <a:xfrm xmlns:a="http://schemas.openxmlformats.org/drawingml/2006/main">
            <a:off x="1685925" y="17049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ENTER</a:t>
            </a:r>
          </a:p>
        </p:txBody>
      </p:sp>
      <p:sp>
        <p:nvSpPr>
          <p:cNvPr id="7" name="">
            <a:extLst xmlns:a="http://schemas.openxmlformats.org/drawingml/2006/main">
              <a:ext uri="{FF2B5EF4-FFF2-40B4-BE49-F238E27FC236}">
                <a16:creationId xmlns:a16="http://schemas.microsoft.com/office/drawing/2014/main" id="{6FCA7A48-9F7E-4CDA-AFA2-2ADE31D38403}"/>
              </a:ext>
            </a:extLst>
          </p:cNvPr>
          <p:cNvSpPr>
            <a:spLocks xmlns:a="http://schemas.openxmlformats.org/drawingml/2006/main" noGrp="1"/>
          </p:cNvSpPr>
          <p:nvPr/>
        </p:nvSpPr>
        <p:spPr>
          <a:xfrm xmlns:a="http://schemas.openxmlformats.org/drawingml/2006/main">
            <a:off x="1685925" y="19716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A glowing mirror asks: “What made you, you?”</a:t>
            </a:r>
          </a:p>
        </p:txBody>
      </p:sp>
      <p:sp>
        <p:nvSpPr>
          <p:cNvPr id="8" name="">
            <a:extLst xmlns:a="http://schemas.openxmlformats.org/drawingml/2006/main">
              <a:ext uri="{FF2B5EF4-FFF2-40B4-BE49-F238E27FC236}">
                <a16:creationId xmlns:a16="http://schemas.microsoft.com/office/drawing/2014/main" id="{26762F92-7FAD-4D66-9DCC-6D6D86E0ED09}"/>
              </a:ext>
            </a:extLst>
          </p:cNvPr>
          <p:cNvSpPr>
            <a:spLocks xmlns:a="http://schemas.openxmlformats.org/drawingml/2006/main" noGrp="1"/>
          </p:cNvSpPr>
          <p:nvPr/>
        </p:nvSpPr>
        <p:spPr>
          <a:xfrm xmlns:a="http://schemas.openxmlformats.org/drawingml/2006/main">
            <a:off x="1085850" y="23050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B6790FC-4FA7-4988-9D4F-10FDA1B9EE4D}"/>
              </a:ext>
            </a:extLst>
          </p:cNvPr>
          <p:cNvSpPr>
            <a:spLocks xmlns:a="http://schemas.openxmlformats.org/drawingml/2006/main" noGrp="1"/>
          </p:cNvSpPr>
          <p:nvPr/>
        </p:nvSpPr>
        <p:spPr>
          <a:xfrm xmlns:a="http://schemas.openxmlformats.org/drawingml/2006/main">
            <a:off x="809625" y="2590800"/>
            <a:ext cx="590550" cy="590550"/>
          </a:xfrm>
          <a:prstGeom xmlns:a="http://schemas.openxmlformats.org/drawingml/2006/main" prst="roundRect">
            <a:avLst>
              <a:gd name="adj" fmla="val 50000"/>
            </a:avLst>
          </a:prstGeom>
          <a:solidFill xmlns:a="http://schemas.openxmlformats.org/drawingml/2006/main">
            <a:srgbClr val="FF4F9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58BA95-4CEF-4E84-88ED-DA4705763A4A}"/>
              </a:ext>
            </a:extLst>
          </p:cNvPr>
          <p:cNvSpPr>
            <a:spLocks xmlns:a="http://schemas.openxmlformats.org/drawingml/2006/main" noGrp="1"/>
          </p:cNvSpPr>
          <p:nvPr/>
        </p:nvSpPr>
        <p:spPr>
          <a:xfrm xmlns:a="http://schemas.openxmlformats.org/drawingml/2006/main">
            <a:off x="809625" y="25908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F23F76F-02C9-4365-9730-3EA5402A3048}"/>
              </a:ext>
            </a:extLst>
          </p:cNvPr>
          <p:cNvSpPr>
            <a:spLocks xmlns:a="http://schemas.openxmlformats.org/drawingml/2006/main" noGrp="1"/>
          </p:cNvSpPr>
          <p:nvPr/>
        </p:nvSpPr>
        <p:spPr>
          <a:xfrm xmlns:a="http://schemas.openxmlformats.org/drawingml/2006/main">
            <a:off x="1685925" y="25812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CHOOSE</a:t>
            </a:r>
          </a:p>
        </p:txBody>
      </p:sp>
      <p:sp>
        <p:nvSpPr>
          <p:cNvPr id="12" name="">
            <a:extLst xmlns:a="http://schemas.openxmlformats.org/drawingml/2006/main">
              <a:ext uri="{FF2B5EF4-FFF2-40B4-BE49-F238E27FC236}">
                <a16:creationId xmlns:a16="http://schemas.microsoft.com/office/drawing/2014/main" id="{93EA457E-498A-4A9C-91AB-91DBE44EC876}"/>
              </a:ext>
            </a:extLst>
          </p:cNvPr>
          <p:cNvSpPr>
            <a:spLocks xmlns:a="http://schemas.openxmlformats.org/drawingml/2006/main" noGrp="1"/>
          </p:cNvSpPr>
          <p:nvPr/>
        </p:nvSpPr>
        <p:spPr>
          <a:xfrm xmlns:a="http://schemas.openxmlformats.org/drawingml/2006/main">
            <a:off x="1685925" y="28479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Pick a memory: TV, fashion, music, place, or technology</a:t>
            </a:r>
          </a:p>
        </p:txBody>
      </p:sp>
      <p:sp>
        <p:nvSpPr>
          <p:cNvPr id="13" name="">
            <a:extLst xmlns:a="http://schemas.openxmlformats.org/drawingml/2006/main">
              <a:ext uri="{FF2B5EF4-FFF2-40B4-BE49-F238E27FC236}">
                <a16:creationId xmlns:a16="http://schemas.microsoft.com/office/drawing/2014/main" id="{D8E9280E-D2BE-43BC-A774-14B1A312DAA3}"/>
              </a:ext>
            </a:extLst>
          </p:cNvPr>
          <p:cNvSpPr>
            <a:spLocks xmlns:a="http://schemas.openxmlformats.org/drawingml/2006/main" noGrp="1"/>
          </p:cNvSpPr>
          <p:nvPr/>
        </p:nvSpPr>
        <p:spPr>
          <a:xfrm xmlns:a="http://schemas.openxmlformats.org/drawingml/2006/main">
            <a:off x="1085850" y="31813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002A52-1F39-48D7-841A-768E302B57B7}"/>
              </a:ext>
            </a:extLst>
          </p:cNvPr>
          <p:cNvSpPr>
            <a:spLocks xmlns:a="http://schemas.openxmlformats.org/drawingml/2006/main" noGrp="1"/>
          </p:cNvSpPr>
          <p:nvPr/>
        </p:nvSpPr>
        <p:spPr>
          <a:xfrm xmlns:a="http://schemas.openxmlformats.org/drawingml/2006/main">
            <a:off x="809625" y="3467100"/>
            <a:ext cx="590550" cy="590550"/>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15E7122-931C-4C0C-AFD1-6D7C52569281}"/>
              </a:ext>
            </a:extLst>
          </p:cNvPr>
          <p:cNvSpPr>
            <a:spLocks xmlns:a="http://schemas.openxmlformats.org/drawingml/2006/main" noGrp="1"/>
          </p:cNvSpPr>
          <p:nvPr/>
        </p:nvSpPr>
        <p:spPr>
          <a:xfrm xmlns:a="http://schemas.openxmlformats.org/drawingml/2006/main">
            <a:off x="809625" y="34671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A85FC792-833D-438D-8C2F-474027A3B8B8}"/>
              </a:ext>
            </a:extLst>
          </p:cNvPr>
          <p:cNvSpPr>
            <a:spLocks xmlns:a="http://schemas.openxmlformats.org/drawingml/2006/main" noGrp="1"/>
          </p:cNvSpPr>
          <p:nvPr/>
        </p:nvSpPr>
        <p:spPr>
          <a:xfrm xmlns:a="http://schemas.openxmlformats.org/drawingml/2006/main">
            <a:off x="1685925" y="34575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INTERACT</a:t>
            </a:r>
          </a:p>
        </p:txBody>
      </p:sp>
      <p:sp>
        <p:nvSpPr>
          <p:cNvPr id="17" name="">
            <a:extLst xmlns:a="http://schemas.openxmlformats.org/drawingml/2006/main">
              <a:ext uri="{FF2B5EF4-FFF2-40B4-BE49-F238E27FC236}">
                <a16:creationId xmlns:a16="http://schemas.microsoft.com/office/drawing/2014/main" id="{AE19BC59-B5B3-4CF0-99A2-9E2CFCC37660}"/>
              </a:ext>
            </a:extLst>
          </p:cNvPr>
          <p:cNvSpPr>
            <a:spLocks xmlns:a="http://schemas.openxmlformats.org/drawingml/2006/main" noGrp="1"/>
          </p:cNvSpPr>
          <p:nvPr/>
        </p:nvSpPr>
        <p:spPr>
          <a:xfrm xmlns:a="http://schemas.openxmlformats.org/drawingml/2006/main">
            <a:off x="1685925" y="37242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Hear, compare, remix, and respond to an exhibit</a:t>
            </a:r>
          </a:p>
        </p:txBody>
      </p:sp>
      <p:sp>
        <p:nvSpPr>
          <p:cNvPr id="18" name="">
            <a:extLst xmlns:a="http://schemas.openxmlformats.org/drawingml/2006/main">
              <a:ext uri="{FF2B5EF4-FFF2-40B4-BE49-F238E27FC236}">
                <a16:creationId xmlns:a16="http://schemas.microsoft.com/office/drawing/2014/main" id="{91CED28C-8A5C-4A65-BED8-67585BDD10B6}"/>
              </a:ext>
            </a:extLst>
          </p:cNvPr>
          <p:cNvSpPr>
            <a:spLocks xmlns:a="http://schemas.openxmlformats.org/drawingml/2006/main" noGrp="1"/>
          </p:cNvSpPr>
          <p:nvPr/>
        </p:nvSpPr>
        <p:spPr>
          <a:xfrm xmlns:a="http://schemas.openxmlformats.org/drawingml/2006/main">
            <a:off x="1085850" y="40576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F24ED38-87CF-4C0D-A83C-8ED24CBBCC79}"/>
              </a:ext>
            </a:extLst>
          </p:cNvPr>
          <p:cNvSpPr>
            <a:spLocks xmlns:a="http://schemas.openxmlformats.org/drawingml/2006/main" noGrp="1"/>
          </p:cNvSpPr>
          <p:nvPr/>
        </p:nvSpPr>
        <p:spPr>
          <a:xfrm xmlns:a="http://schemas.openxmlformats.org/drawingml/2006/main">
            <a:off x="809625" y="4343400"/>
            <a:ext cx="590550" cy="590550"/>
          </a:xfrm>
          <a:prstGeom xmlns:a="http://schemas.openxmlformats.org/drawingml/2006/main" prst="roundRect">
            <a:avLst>
              <a:gd name="adj" fmla="val 50000"/>
            </a:avLst>
          </a:prstGeom>
          <a:solidFill xmlns:a="http://schemas.openxmlformats.org/drawingml/2006/main">
            <a:srgbClr val="45E0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A7963D1-B38C-4786-BD5A-7C371CF3A1B1}"/>
              </a:ext>
            </a:extLst>
          </p:cNvPr>
          <p:cNvSpPr>
            <a:spLocks xmlns:a="http://schemas.openxmlformats.org/drawingml/2006/main" noGrp="1"/>
          </p:cNvSpPr>
          <p:nvPr/>
        </p:nvSpPr>
        <p:spPr>
          <a:xfrm xmlns:a="http://schemas.openxmlformats.org/drawingml/2006/main">
            <a:off x="809625" y="43434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98F628CA-3D56-405F-8B33-29F34D406243}"/>
              </a:ext>
            </a:extLst>
          </p:cNvPr>
          <p:cNvSpPr>
            <a:spLocks xmlns:a="http://schemas.openxmlformats.org/drawingml/2006/main" noGrp="1"/>
          </p:cNvSpPr>
          <p:nvPr/>
        </p:nvSpPr>
        <p:spPr>
          <a:xfrm xmlns:a="http://schemas.openxmlformats.org/drawingml/2006/main">
            <a:off x="1685925" y="43338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CONTRIBUTE</a:t>
            </a:r>
          </a:p>
        </p:txBody>
      </p:sp>
      <p:sp>
        <p:nvSpPr>
          <p:cNvPr id="22" name="">
            <a:extLst xmlns:a="http://schemas.openxmlformats.org/drawingml/2006/main">
              <a:ext uri="{FF2B5EF4-FFF2-40B4-BE49-F238E27FC236}">
                <a16:creationId xmlns:a16="http://schemas.microsoft.com/office/drawing/2014/main" id="{C1C9A59C-7204-46F7-BEC9-9C752AA224B9}"/>
              </a:ext>
            </a:extLst>
          </p:cNvPr>
          <p:cNvSpPr>
            <a:spLocks xmlns:a="http://schemas.openxmlformats.org/drawingml/2006/main" noGrp="1"/>
          </p:cNvSpPr>
          <p:nvPr/>
        </p:nvSpPr>
        <p:spPr>
          <a:xfrm xmlns:a="http://schemas.openxmlformats.org/drawingml/2006/main">
            <a:off x="1685925" y="46005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Add a short story, photo caption, or voice memory</a:t>
            </a:r>
          </a:p>
        </p:txBody>
      </p:sp>
      <p:sp>
        <p:nvSpPr>
          <p:cNvPr id="23" name="">
            <a:extLst xmlns:a="http://schemas.openxmlformats.org/drawingml/2006/main">
              <a:ext uri="{FF2B5EF4-FFF2-40B4-BE49-F238E27FC236}">
                <a16:creationId xmlns:a16="http://schemas.microsoft.com/office/drawing/2014/main" id="{C3853CEE-C9C5-47DD-BC49-33E50195EC0D}"/>
              </a:ext>
            </a:extLst>
          </p:cNvPr>
          <p:cNvSpPr>
            <a:spLocks xmlns:a="http://schemas.openxmlformats.org/drawingml/2006/main" noGrp="1"/>
          </p:cNvSpPr>
          <p:nvPr/>
        </p:nvSpPr>
        <p:spPr>
          <a:xfrm xmlns:a="http://schemas.openxmlformats.org/drawingml/2006/main">
            <a:off x="1085850" y="4933950"/>
            <a:ext cx="38100" cy="2857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FDB1C68-2B02-4748-95A0-DA2862A14A83}"/>
              </a:ext>
            </a:extLst>
          </p:cNvPr>
          <p:cNvSpPr>
            <a:spLocks xmlns:a="http://schemas.openxmlformats.org/drawingml/2006/main" noGrp="1"/>
          </p:cNvSpPr>
          <p:nvPr/>
        </p:nvSpPr>
        <p:spPr>
          <a:xfrm xmlns:a="http://schemas.openxmlformats.org/drawingml/2006/main">
            <a:off x="809625" y="5219700"/>
            <a:ext cx="590550" cy="590550"/>
          </a:xfrm>
          <a:prstGeom xmlns:a="http://schemas.openxmlformats.org/drawingml/2006/main" prst="roundRect">
            <a:avLst>
              <a:gd name="adj" fmla="val 50000"/>
            </a:avLst>
          </a:prstGeom>
          <a:solidFill xmlns:a="http://schemas.openxmlformats.org/drawingml/2006/main">
            <a:srgbClr val="74F0C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18D7A6C-A20A-4733-80CF-CCAB0D8556BA}"/>
              </a:ext>
            </a:extLst>
          </p:cNvPr>
          <p:cNvSpPr>
            <a:spLocks xmlns:a="http://schemas.openxmlformats.org/drawingml/2006/main" noGrp="1"/>
          </p:cNvSpPr>
          <p:nvPr/>
        </p:nvSpPr>
        <p:spPr>
          <a:xfrm xmlns:a="http://schemas.openxmlformats.org/drawingml/2006/main">
            <a:off x="809625" y="521970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080B1B"/>
                </a:solidFill>
                <a:latin typeface="Arial"/>
                <a:ea typeface="Arial"/>
                <a:cs typeface="Arial"/>
              </a:defRPr>
            </a:pPr>
            <a:r>
              <a:rPr sz="1875" b="1">
                <a:solidFill>
                  <a:srgbClr val="080B1B"/>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632BEFD2-065C-4D9D-8FC4-33865E2B2076}"/>
              </a:ext>
            </a:extLst>
          </p:cNvPr>
          <p:cNvSpPr>
            <a:spLocks xmlns:a="http://schemas.openxmlformats.org/drawingml/2006/main" noGrp="1"/>
          </p:cNvSpPr>
          <p:nvPr/>
        </p:nvSpPr>
        <p:spPr>
          <a:xfrm xmlns:a="http://schemas.openxmlformats.org/drawingml/2006/main">
            <a:off x="1685925" y="521017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6C4BF4"/>
                </a:solidFill>
                <a:latin typeface="Arial"/>
                <a:ea typeface="Arial"/>
                <a:cs typeface="Arial"/>
              </a:defRPr>
            </a:pPr>
            <a:r>
              <a:rPr sz="1350" b="1">
                <a:solidFill>
                  <a:srgbClr val="6C4BF4"/>
                </a:solidFill>
                <a:latin typeface="Arial"/>
                <a:ea typeface="Arial"/>
                <a:cs typeface="Arial"/>
              </a:rPr>
              <a:t>REFLECT</a:t>
            </a:r>
          </a:p>
        </p:txBody>
      </p:sp>
      <p:sp>
        <p:nvSpPr>
          <p:cNvPr id="27" name="">
            <a:extLst xmlns:a="http://schemas.openxmlformats.org/drawingml/2006/main">
              <a:ext uri="{FF2B5EF4-FFF2-40B4-BE49-F238E27FC236}">
                <a16:creationId xmlns:a16="http://schemas.microsoft.com/office/drawing/2014/main" id="{7302C717-41B4-4E1B-B786-FBFA29815CBB}"/>
              </a:ext>
            </a:extLst>
          </p:cNvPr>
          <p:cNvSpPr>
            <a:spLocks xmlns:a="http://schemas.openxmlformats.org/drawingml/2006/main" noGrp="1"/>
          </p:cNvSpPr>
          <p:nvPr/>
        </p:nvSpPr>
        <p:spPr>
          <a:xfrm xmlns:a="http://schemas.openxmlformats.org/drawingml/2006/main">
            <a:off x="1685925" y="54768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11142A"/>
                </a:solidFill>
                <a:latin typeface="Arial"/>
                <a:ea typeface="Arial"/>
                <a:cs typeface="Arial"/>
              </a:defRPr>
            </a:pPr>
            <a:r>
              <a:rPr sz="1425" b="0">
                <a:solidFill>
                  <a:srgbClr val="11142A"/>
                </a:solidFill>
                <a:latin typeface="Arial"/>
                <a:ea typeface="Arial"/>
                <a:cs typeface="Arial"/>
              </a:rPr>
              <a:t>Receive a personal “culture mirror” to share</a:t>
            </a:r>
          </a:p>
        </p:txBody>
      </p:sp>
      <p:sp>
        <p:nvSpPr>
          <p:cNvPr id="28" name="">
            <a:extLst xmlns:a="http://schemas.openxmlformats.org/drawingml/2006/main">
              <a:ext uri="{FF2B5EF4-FFF2-40B4-BE49-F238E27FC236}">
                <a16:creationId xmlns:a16="http://schemas.microsoft.com/office/drawing/2014/main" id="{D30F7664-5EFA-4ACE-91E1-001E12FAD1BE}"/>
              </a:ext>
            </a:extLst>
          </p:cNvPr>
          <p:cNvSpPr>
            <a:spLocks xmlns:a="http://schemas.openxmlformats.org/drawingml/2006/main" noGrp="1"/>
          </p:cNvSpPr>
          <p:nvPr/>
        </p:nvSpPr>
        <p:spPr>
          <a:xfrm xmlns:a="http://schemas.openxmlformats.org/drawingml/2006/main">
            <a:off x="9810750" y="1733550"/>
            <a:ext cx="1428750" cy="4095750"/>
          </a:xfrm>
          <a:prstGeom xmlns:a="http://schemas.openxmlformats.org/drawingml/2006/main" prst="roundRect">
            <a:avLst>
              <a:gd name="adj" fmla="val 12000"/>
            </a:avLst>
          </a:prstGeom>
          <a:solidFill xmlns:a="http://schemas.openxmlformats.org/drawingml/2006/main">
            <a:srgbClr val="11142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605407E-8E33-49AD-B995-6E905F02AFAD}"/>
              </a:ext>
            </a:extLst>
          </p:cNvPr>
          <p:cNvSpPr>
            <a:spLocks xmlns:a="http://schemas.openxmlformats.org/drawingml/2006/main" noGrp="1"/>
          </p:cNvSpPr>
          <p:nvPr/>
        </p:nvSpPr>
        <p:spPr>
          <a:xfrm xmlns:a="http://schemas.openxmlformats.org/drawingml/2006/main">
            <a:off x="9963150" y="2333625"/>
            <a:ext cx="1123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71548"/>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A museum</a:t>
            </a:r>
          </a:p>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that listens</a:t>
            </a:r>
          </a:p>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back</a:t>
            </a:r>
          </a:p>
        </p:txBody>
      </p:sp>
      <p:sp>
        <p:nvSpPr>
          <p:cNvPr id="30" name="">
            <a:extLst xmlns:a="http://schemas.openxmlformats.org/drawingml/2006/main">
              <a:ext uri="{FF2B5EF4-FFF2-40B4-BE49-F238E27FC236}">
                <a16:creationId xmlns:a16="http://schemas.microsoft.com/office/drawing/2014/main" id="{1866212C-D892-466C-9024-9C653C75C227}"/>
              </a:ext>
            </a:extLst>
          </p:cNvPr>
          <p:cNvSpPr>
            <a:spLocks xmlns:a="http://schemas.openxmlformats.org/drawingml/2006/main" noGrp="1"/>
          </p:cNvSpPr>
          <p:nvPr/>
        </p:nvSpPr>
        <p:spPr>
          <a:xfrm xmlns:a="http://schemas.openxmlformats.org/drawingml/2006/main">
            <a:off x="9963150" y="3952875"/>
            <a:ext cx="1123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350" b="0">
                <a:solidFill>
                  <a:srgbClr val="45E0E8"/>
                </a:solidFill>
                <a:latin typeface="Arial"/>
                <a:ea typeface="Arial"/>
                <a:cs typeface="Arial"/>
              </a:defRPr>
            </a:pPr>
            <a:r>
              <a:rPr sz="1350" b="0">
                <a:solidFill>
                  <a:srgbClr val="45E0E8"/>
                </a:solidFill>
                <a:latin typeface="Arial"/>
                <a:ea typeface="Arial"/>
                <a:cs typeface="Arial"/>
              </a:rPr>
              <a:t>Visitors leave</a:t>
            </a:r>
          </a:p>
          <a:p xmlns:a="http://schemas.openxmlformats.org/drawingml/2006/main">
            <a:pPr algn="ctr">
              <a:defRPr sz="1350" b="0">
                <a:solidFill>
                  <a:srgbClr val="45E0E8"/>
                </a:solidFill>
                <a:latin typeface="Arial"/>
                <a:ea typeface="Arial"/>
                <a:cs typeface="Arial"/>
              </a:defRPr>
            </a:pPr>
            <a:r>
              <a:rPr sz="1350" b="0">
                <a:solidFill>
                  <a:srgbClr val="45E0E8"/>
                </a:solidFill>
                <a:latin typeface="Arial"/>
                <a:ea typeface="Arial"/>
                <a:cs typeface="Arial"/>
              </a:rPr>
              <a:t>with a memory</a:t>
            </a:r>
          </a:p>
          <a:p xmlns:a="http://schemas.openxmlformats.org/drawingml/2006/main">
            <a:pPr algn="ctr">
              <a:defRPr sz="1350" b="0">
                <a:solidFill>
                  <a:srgbClr val="45E0E8"/>
                </a:solidFill>
                <a:latin typeface="Arial"/>
                <a:ea typeface="Arial"/>
                <a:cs typeface="Arial"/>
              </a:defRPr>
            </a:pPr>
            <a:r>
              <a:rPr sz="1350" b="0">
                <a:solidFill>
                  <a:srgbClr val="45E0E8"/>
                </a:solidFill>
                <a:latin typeface="Arial"/>
                <a:ea typeface="Arial"/>
                <a:cs typeface="Arial"/>
              </a:rPr>
              <a:t>and add one.</a:t>
            </a:r>
          </a:p>
        </p:txBody>
      </p:sp>
      <p:sp>
        <p:nvSpPr>
          <p:cNvPr id="31" name="">
            <a:extLst xmlns:a="http://schemas.openxmlformats.org/drawingml/2006/main">
              <a:ext uri="{FF2B5EF4-FFF2-40B4-BE49-F238E27FC236}">
                <a16:creationId xmlns:a16="http://schemas.microsoft.com/office/drawing/2014/main" id="{BB5120BA-ECFB-42FE-9E8B-8F64312E6BC5}"/>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2" name="">
            <a:extLst xmlns:a="http://schemas.openxmlformats.org/drawingml/2006/main">
              <a:ext uri="{FF2B5EF4-FFF2-40B4-BE49-F238E27FC236}">
                <a16:creationId xmlns:a16="http://schemas.microsoft.com/office/drawing/2014/main" id="{9EFD61B9-048C-4867-B559-7363A6BB5A3A}"/>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04</a:t>
            </a:r>
          </a:p>
        </p:txBody>
      </p:sp>
    </p:spTree>
    <p:extLst>
      <p:ext uri="{BB962C8B-B14F-4D97-AF65-F5344CB8AC3E}">
        <p14:creationId xmlns:p14="http://schemas.microsoft.com/office/powerpoint/2010/main" val="108742048"/>
      </p:ext>
    </p:extLst>
  </p:cSld>
</p:sld>
</file>

<file path=ppt/slides/slide5.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E78E987-2A8E-4F4E-BA4A-0EEE1493047A}"/>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Signature exhibits</a:t>
            </a:r>
          </a:p>
        </p:txBody>
      </p:sp>
      <p:sp>
        <p:nvSpPr>
          <p:cNvPr id="2" name="">
            <a:extLst xmlns:a="http://schemas.openxmlformats.org/drawingml/2006/main">
              <a:ext uri="{FF2B5EF4-FFF2-40B4-BE49-F238E27FC236}">
                <a16:creationId xmlns:a16="http://schemas.microsoft.com/office/drawing/2014/main" id="{55503153-7360-4849-979F-FCBFE47A7121}"/>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Four interactive moments that turn familiar memories into cultural evidence</a:t>
            </a:r>
          </a:p>
        </p:txBody>
      </p:sp>
      <p:sp>
        <p:nvSpPr>
          <p:cNvPr id="3" name="">
            <a:extLst xmlns:a="http://schemas.openxmlformats.org/drawingml/2006/main">
              <a:ext uri="{FF2B5EF4-FFF2-40B4-BE49-F238E27FC236}">
                <a16:creationId xmlns:a16="http://schemas.microsoft.com/office/drawing/2014/main" id="{A211127B-9C7C-406F-BC57-8F1857EEDE5C}"/>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AA5ACC-8925-49A8-AB86-11A62F13E9CE}"/>
              </a:ext>
            </a:extLst>
          </p:cNvPr>
          <p:cNvSpPr>
            <a:spLocks xmlns:a="http://schemas.openxmlformats.org/drawingml/2006/main" noGrp="1"/>
          </p:cNvSpPr>
          <p:nvPr/>
        </p:nvSpPr>
        <p:spPr>
          <a:xfrm xmlns:a="http://schemas.openxmlformats.org/drawingml/2006/main">
            <a:off x="685800" y="1762125"/>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8E71A8-7427-4DD6-BB03-EBD4F71660F7}"/>
              </a:ext>
            </a:extLst>
          </p:cNvPr>
          <p:cNvSpPr>
            <a:spLocks xmlns:a="http://schemas.openxmlformats.org/drawingml/2006/main" noGrp="1"/>
          </p:cNvSpPr>
          <p:nvPr/>
        </p:nvSpPr>
        <p:spPr>
          <a:xfrm xmlns:a="http://schemas.openxmlformats.org/drawingml/2006/main">
            <a:off x="685800" y="1762125"/>
            <a:ext cx="114300" cy="1619250"/>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5F9A91-7397-4662-AAD1-AD9B7FF64D7B}"/>
              </a:ext>
            </a:extLst>
          </p:cNvPr>
          <p:cNvSpPr>
            <a:spLocks xmlns:a="http://schemas.openxmlformats.org/drawingml/2006/main" noGrp="1"/>
          </p:cNvSpPr>
          <p:nvPr/>
        </p:nvSpPr>
        <p:spPr>
          <a:xfrm xmlns:a="http://schemas.openxmlformats.org/drawingml/2006/main">
            <a:off x="1009650" y="1952625"/>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FRIENDSTER TESTIMONIAL BOOTH</a:t>
            </a:r>
          </a:p>
        </p:txBody>
      </p:sp>
      <p:sp>
        <p:nvSpPr>
          <p:cNvPr id="7" name="">
            <a:extLst xmlns:a="http://schemas.openxmlformats.org/drawingml/2006/main">
              <a:ext uri="{FF2B5EF4-FFF2-40B4-BE49-F238E27FC236}">
                <a16:creationId xmlns:a16="http://schemas.microsoft.com/office/drawing/2014/main" id="{10018AB5-11BC-4E3F-B6BB-E5C649392838}"/>
              </a:ext>
            </a:extLst>
          </p:cNvPr>
          <p:cNvSpPr>
            <a:spLocks xmlns:a="http://schemas.openxmlformats.org/drawingml/2006/main" noGrp="1"/>
          </p:cNvSpPr>
          <p:nvPr/>
        </p:nvSpPr>
        <p:spPr>
          <a:xfrm xmlns:a="http://schemas.openxmlformats.org/drawingml/2006/main">
            <a:off x="1009650" y="24479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Write a testimonial for your 2005 self. Then compare how online identity changed.</a:t>
            </a:r>
          </a:p>
        </p:txBody>
      </p:sp>
      <p:sp>
        <p:nvSpPr>
          <p:cNvPr id="8" name="">
            <a:extLst xmlns:a="http://schemas.openxmlformats.org/drawingml/2006/main">
              <a:ext uri="{FF2B5EF4-FFF2-40B4-BE49-F238E27FC236}">
                <a16:creationId xmlns:a16="http://schemas.microsoft.com/office/drawing/2014/main" id="{D28DE42E-07C0-4F63-8FBA-20B6C662BE22}"/>
              </a:ext>
            </a:extLst>
          </p:cNvPr>
          <p:cNvSpPr>
            <a:spLocks xmlns:a="http://schemas.openxmlformats.org/drawingml/2006/main" noGrp="1"/>
          </p:cNvSpPr>
          <p:nvPr/>
        </p:nvSpPr>
        <p:spPr>
          <a:xfrm xmlns:a="http://schemas.openxmlformats.org/drawingml/2006/main">
            <a:off x="6286500" y="1762125"/>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801F3B-4A22-46B0-8DB8-DCC94471F91A}"/>
              </a:ext>
            </a:extLst>
          </p:cNvPr>
          <p:cNvSpPr>
            <a:spLocks xmlns:a="http://schemas.openxmlformats.org/drawingml/2006/main" noGrp="1"/>
          </p:cNvSpPr>
          <p:nvPr/>
        </p:nvSpPr>
        <p:spPr>
          <a:xfrm xmlns:a="http://schemas.openxmlformats.org/drawingml/2006/main">
            <a:off x="6286500" y="1762125"/>
            <a:ext cx="114300" cy="1619250"/>
          </a:xfrm>
          <a:prstGeom xmlns:a="http://schemas.openxmlformats.org/drawingml/2006/main" prst="rect">
            <a:avLst/>
          </a:prstGeom>
          <a:solidFill xmlns:a="http://schemas.openxmlformats.org/drawingml/2006/main">
            <a:srgbClr val="45E0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34A4E1-EA65-456A-A22C-C357C3719479}"/>
              </a:ext>
            </a:extLst>
          </p:cNvPr>
          <p:cNvSpPr>
            <a:spLocks xmlns:a="http://schemas.openxmlformats.org/drawingml/2006/main" noGrp="1"/>
          </p:cNvSpPr>
          <p:nvPr/>
        </p:nvSpPr>
        <p:spPr>
          <a:xfrm xmlns:a="http://schemas.openxmlformats.org/drawingml/2006/main">
            <a:off x="6610350" y="1952625"/>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COMPUTER SHOP COUNTDOWN</a:t>
            </a:r>
          </a:p>
        </p:txBody>
      </p:sp>
      <p:sp>
        <p:nvSpPr>
          <p:cNvPr id="11" name="">
            <a:extLst xmlns:a="http://schemas.openxmlformats.org/drawingml/2006/main">
              <a:ext uri="{FF2B5EF4-FFF2-40B4-BE49-F238E27FC236}">
                <a16:creationId xmlns:a16="http://schemas.microsoft.com/office/drawing/2014/main" id="{E267D0F1-345B-4EE6-8AC7-D5CB54CE6733}"/>
              </a:ext>
            </a:extLst>
          </p:cNvPr>
          <p:cNvSpPr>
            <a:spLocks xmlns:a="http://schemas.openxmlformats.org/drawingml/2006/main" noGrp="1"/>
          </p:cNvSpPr>
          <p:nvPr/>
        </p:nvSpPr>
        <p:spPr>
          <a:xfrm xmlns:a="http://schemas.openxmlformats.org/drawingml/2006/main">
            <a:off x="6610350" y="24479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A timer recreates the pressure of 12 minutes left and no saved school project.</a:t>
            </a:r>
          </a:p>
        </p:txBody>
      </p:sp>
      <p:sp>
        <p:nvSpPr>
          <p:cNvPr id="12" name="">
            <a:extLst xmlns:a="http://schemas.openxmlformats.org/drawingml/2006/main">
              <a:ext uri="{FF2B5EF4-FFF2-40B4-BE49-F238E27FC236}">
                <a16:creationId xmlns:a16="http://schemas.microsoft.com/office/drawing/2014/main" id="{CD4CE9E0-FBEA-4734-91F3-86DFF8D21F6F}"/>
              </a:ext>
            </a:extLst>
          </p:cNvPr>
          <p:cNvSpPr>
            <a:spLocks xmlns:a="http://schemas.openxmlformats.org/drawingml/2006/main" noGrp="1"/>
          </p:cNvSpPr>
          <p:nvPr/>
        </p:nvSpPr>
        <p:spPr>
          <a:xfrm xmlns:a="http://schemas.openxmlformats.org/drawingml/2006/main">
            <a:off x="685800" y="3714750"/>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5585DCA-9425-4075-8F88-A75D052E24A8}"/>
              </a:ext>
            </a:extLst>
          </p:cNvPr>
          <p:cNvSpPr>
            <a:spLocks xmlns:a="http://schemas.openxmlformats.org/drawingml/2006/main" noGrp="1"/>
          </p:cNvSpPr>
          <p:nvPr/>
        </p:nvSpPr>
        <p:spPr>
          <a:xfrm xmlns:a="http://schemas.openxmlformats.org/drawingml/2006/main">
            <a:off x="685800" y="3714750"/>
            <a:ext cx="114300" cy="1619250"/>
          </a:xfrm>
          <a:prstGeom xmlns:a="http://schemas.openxmlformats.org/drawingml/2006/main" prst="rect">
            <a:avLst/>
          </a:prstGeom>
          <a:solidFill xmlns:a="http://schemas.openxmlformats.org/drawingml/2006/main">
            <a:srgbClr val="FFC8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E9C9881-8D4D-43A4-91BF-F80C8D9C38FA}"/>
              </a:ext>
            </a:extLst>
          </p:cNvPr>
          <p:cNvSpPr>
            <a:spLocks xmlns:a="http://schemas.openxmlformats.org/drawingml/2006/main" noGrp="1"/>
          </p:cNvSpPr>
          <p:nvPr/>
        </p:nvSpPr>
        <p:spPr>
          <a:xfrm xmlns:a="http://schemas.openxmlformats.org/drawingml/2006/main">
            <a:off x="1009650" y="3905250"/>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KILIG TRANSLATION ROOM</a:t>
            </a:r>
          </a:p>
        </p:txBody>
      </p:sp>
      <p:sp>
        <p:nvSpPr>
          <p:cNvPr id="15" name="">
            <a:extLst xmlns:a="http://schemas.openxmlformats.org/drawingml/2006/main">
              <a:ext uri="{FF2B5EF4-FFF2-40B4-BE49-F238E27FC236}">
                <a16:creationId xmlns:a16="http://schemas.microsoft.com/office/drawing/2014/main" id="{37738516-9363-4C07-8032-4968234CDE32}"/>
              </a:ext>
            </a:extLst>
          </p:cNvPr>
          <p:cNvSpPr>
            <a:spLocks xmlns:a="http://schemas.openxmlformats.org/drawingml/2006/main" noGrp="1"/>
          </p:cNvSpPr>
          <p:nvPr/>
        </p:nvSpPr>
        <p:spPr>
          <a:xfrm xmlns:a="http://schemas.openxmlformats.org/drawingml/2006/main">
            <a:off x="1009650" y="44005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Visitors map how Taiwanese and Korean dramas shaped emotion, language, and fandom.</a:t>
            </a:r>
          </a:p>
        </p:txBody>
      </p:sp>
      <p:sp>
        <p:nvSpPr>
          <p:cNvPr id="16" name="">
            <a:extLst xmlns:a="http://schemas.openxmlformats.org/drawingml/2006/main">
              <a:ext uri="{FF2B5EF4-FFF2-40B4-BE49-F238E27FC236}">
                <a16:creationId xmlns:a16="http://schemas.microsoft.com/office/drawing/2014/main" id="{C3B2D50A-CDED-4CB5-941B-7A6AD21E0519}"/>
              </a:ext>
            </a:extLst>
          </p:cNvPr>
          <p:cNvSpPr>
            <a:spLocks xmlns:a="http://schemas.openxmlformats.org/drawingml/2006/main" noGrp="1"/>
          </p:cNvSpPr>
          <p:nvPr/>
        </p:nvSpPr>
        <p:spPr>
          <a:xfrm xmlns:a="http://schemas.openxmlformats.org/drawingml/2006/main">
            <a:off x="6286500" y="3714750"/>
            <a:ext cx="5191125"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475E62C-240A-43BA-A6EC-EA2C5FACB64A}"/>
              </a:ext>
            </a:extLst>
          </p:cNvPr>
          <p:cNvSpPr>
            <a:spLocks xmlns:a="http://schemas.openxmlformats.org/drawingml/2006/main" noGrp="1"/>
          </p:cNvSpPr>
          <p:nvPr/>
        </p:nvSpPr>
        <p:spPr>
          <a:xfrm xmlns:a="http://schemas.openxmlformats.org/drawingml/2006/main">
            <a:off x="6286500" y="3714750"/>
            <a:ext cx="114300" cy="1619250"/>
          </a:xfrm>
          <a:prstGeom xmlns:a="http://schemas.openxmlformats.org/drawingml/2006/main" prst="rect">
            <a:avLst/>
          </a:prstGeom>
          <a:solidFill xmlns:a="http://schemas.openxmlformats.org/drawingml/2006/main">
            <a:srgbClr val="74F0C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93426E7-A47B-4525-905B-298754540C9A}"/>
              </a:ext>
            </a:extLst>
          </p:cNvPr>
          <p:cNvSpPr>
            <a:spLocks xmlns:a="http://schemas.openxmlformats.org/drawingml/2006/main" noGrp="1"/>
          </p:cNvSpPr>
          <p:nvPr/>
        </p:nvSpPr>
        <p:spPr>
          <a:xfrm xmlns:a="http://schemas.openxmlformats.org/drawingml/2006/main">
            <a:off x="6610350" y="3905250"/>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1">
                <a:solidFill>
                  <a:srgbClr val="6C4BF4"/>
                </a:solidFill>
                <a:latin typeface="Arial"/>
                <a:ea typeface="Arial"/>
                <a:cs typeface="Arial"/>
              </a:defRPr>
            </a:pPr>
            <a:r>
              <a:rPr sz="1575" b="1">
                <a:solidFill>
                  <a:srgbClr val="6C4BF4"/>
                </a:solidFill>
                <a:latin typeface="Arial"/>
                <a:ea typeface="Arial"/>
                <a:cs typeface="Arial"/>
              </a:rPr>
              <a:t>VIDEOKE CONFIDENCE METER</a:t>
            </a:r>
          </a:p>
        </p:txBody>
      </p:sp>
      <p:sp>
        <p:nvSpPr>
          <p:cNvPr id="19" name="">
            <a:extLst xmlns:a="http://schemas.openxmlformats.org/drawingml/2006/main">
              <a:ext uri="{FF2B5EF4-FFF2-40B4-BE49-F238E27FC236}">
                <a16:creationId xmlns:a16="http://schemas.microsoft.com/office/drawing/2014/main" id="{6A2EE311-1118-4481-AB9D-4CBEE1A5EB9A}"/>
              </a:ext>
            </a:extLst>
          </p:cNvPr>
          <p:cNvSpPr>
            <a:spLocks xmlns:a="http://schemas.openxmlformats.org/drawingml/2006/main" noGrp="1"/>
          </p:cNvSpPr>
          <p:nvPr/>
        </p:nvSpPr>
        <p:spPr>
          <a:xfrm xmlns:a="http://schemas.openxmlformats.org/drawingml/2006/main">
            <a:off x="6610350" y="44005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11142A"/>
                </a:solidFill>
                <a:latin typeface="Arial"/>
                <a:ea typeface="Arial"/>
                <a:cs typeface="Arial"/>
              </a:defRPr>
            </a:pPr>
            <a:r>
              <a:rPr sz="1350" b="0">
                <a:solidFill>
                  <a:srgbClr val="11142A"/>
                </a:solidFill>
                <a:latin typeface="Arial"/>
                <a:ea typeface="Arial"/>
                <a:cs typeface="Arial"/>
              </a:rPr>
              <a:t>The system measures participation, not pitch. Democracy survives another chorus.</a:t>
            </a:r>
          </a:p>
        </p:txBody>
      </p:sp>
      <p:sp>
        <p:nvSpPr>
          <p:cNvPr id="20" name="">
            <a:extLst xmlns:a="http://schemas.openxmlformats.org/drawingml/2006/main">
              <a:ext uri="{FF2B5EF4-FFF2-40B4-BE49-F238E27FC236}">
                <a16:creationId xmlns:a16="http://schemas.microsoft.com/office/drawing/2014/main" id="{0CFB3046-A7F8-4AEC-8DAB-C2A6892927EE}"/>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1" name="">
            <a:extLst xmlns:a="http://schemas.openxmlformats.org/drawingml/2006/main">
              <a:ext uri="{FF2B5EF4-FFF2-40B4-BE49-F238E27FC236}">
                <a16:creationId xmlns:a16="http://schemas.microsoft.com/office/drawing/2014/main" id="{105BC507-E548-461A-92ED-623B79565193}"/>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05</a:t>
            </a:r>
          </a:p>
        </p:txBody>
      </p:sp>
    </p:spTree>
    <p:extLst>
      <p:ext uri="{BB962C8B-B14F-4D97-AF65-F5344CB8AC3E}">
        <p14:creationId xmlns:p14="http://schemas.microsoft.com/office/powerpoint/2010/main" val="1707116975"/>
      </p:ext>
    </p:extLst>
  </p:cSld>
</p:sld>
</file>

<file path=ppt/slides/slide6.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25DC0E-72F7-427C-AF65-B84AA7FB4977}"/>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A museum people will quote</a:t>
            </a:r>
          </a:p>
        </p:txBody>
      </p:sp>
      <p:sp>
        <p:nvSpPr>
          <p:cNvPr id="2" name="">
            <a:extLst xmlns:a="http://schemas.openxmlformats.org/drawingml/2006/main">
              <a:ext uri="{FF2B5EF4-FFF2-40B4-BE49-F238E27FC236}">
                <a16:creationId xmlns:a16="http://schemas.microsoft.com/office/drawing/2014/main" id="{2E129FE5-4E14-4584-B9BC-D0D145BA0192}"/>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Humor creates recognition; reflection creates value</a:t>
            </a:r>
          </a:p>
        </p:txBody>
      </p:sp>
      <p:sp>
        <p:nvSpPr>
          <p:cNvPr id="3" name="">
            <a:extLst xmlns:a="http://schemas.openxmlformats.org/drawingml/2006/main">
              <a:ext uri="{FF2B5EF4-FFF2-40B4-BE49-F238E27FC236}">
                <a16:creationId xmlns:a16="http://schemas.microsoft.com/office/drawing/2014/main" id="{FC0BBF2F-C1FB-4B85-A8EF-76DD8B9F6292}"/>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CB186C-CB35-42C0-B1A1-E521CBA3E7E5}"/>
              </a:ext>
            </a:extLst>
          </p:cNvPr>
          <p:cNvSpPr>
            <a:spLocks xmlns:a="http://schemas.openxmlformats.org/drawingml/2006/main" noGrp="1"/>
          </p:cNvSpPr>
          <p:nvPr/>
        </p:nvSpPr>
        <p:spPr>
          <a:xfrm xmlns:a="http://schemas.openxmlformats.org/drawingml/2006/main">
            <a:off x="742950" y="180975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97718"/>
          </a:bodyPr>
          <a:lstStyle xmlns:a="http://schemas.openxmlformats.org/drawingml/2006/main"/>
          <a:p xmlns:a="http://schemas.openxmlformats.org/drawingml/2006/main">
            <a:pPr algn="l">
              <a:defRPr sz="2775" b="1">
                <a:solidFill>
                  <a:srgbClr val="11142A"/>
                </a:solidFill>
                <a:latin typeface="Arial"/>
                <a:ea typeface="Arial"/>
                <a:cs typeface="Arial"/>
              </a:defRPr>
            </a:pPr>
            <a:r>
              <a:rPr sz="2775" b="1">
                <a:solidFill>
                  <a:srgbClr val="11142A"/>
                </a:solidFill>
                <a:latin typeface="Arial"/>
                <a:ea typeface="Arial"/>
                <a:cs typeface="Arial"/>
              </a:rPr>
              <a:t>“You were not offline.</a:t>
            </a:r>
          </a:p>
          <a:p xmlns:a="http://schemas.openxmlformats.org/drawingml/2006/main">
            <a:pPr algn="l">
              <a:defRPr sz="2775" b="1">
                <a:solidFill>
                  <a:srgbClr val="11142A"/>
                </a:solidFill>
                <a:latin typeface="Arial"/>
                <a:ea typeface="Arial"/>
                <a:cs typeface="Arial"/>
              </a:defRPr>
            </a:pPr>
            <a:r>
              <a:rPr sz="2775" b="1">
                <a:solidFill>
                  <a:srgbClr val="11142A"/>
                </a:solidFill>
                <a:latin typeface="Arial"/>
                <a:ea typeface="Arial"/>
                <a:cs typeface="Arial"/>
              </a:rPr>
              <a:t>You were waiting for your turn.”</a:t>
            </a:r>
          </a:p>
        </p:txBody>
      </p:sp>
      <p:sp>
        <p:nvSpPr>
          <p:cNvPr id="5" name="">
            <a:extLst xmlns:a="http://schemas.openxmlformats.org/drawingml/2006/main">
              <a:ext uri="{FF2B5EF4-FFF2-40B4-BE49-F238E27FC236}">
                <a16:creationId xmlns:a16="http://schemas.microsoft.com/office/drawing/2014/main" id="{40F113C8-3F9B-411D-BFD5-2D5291505241}"/>
              </a:ext>
            </a:extLst>
          </p:cNvPr>
          <p:cNvSpPr>
            <a:spLocks xmlns:a="http://schemas.openxmlformats.org/drawingml/2006/main" noGrp="1"/>
          </p:cNvSpPr>
          <p:nvPr/>
        </p:nvSpPr>
        <p:spPr>
          <a:xfrm xmlns:a="http://schemas.openxmlformats.org/drawingml/2006/main">
            <a:off x="781050" y="32385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75" b="0">
                <a:solidFill>
                  <a:srgbClr val="66647A"/>
                </a:solidFill>
                <a:latin typeface="Arial"/>
                <a:ea typeface="Arial"/>
                <a:cs typeface="Arial"/>
              </a:defRPr>
            </a:pPr>
            <a:r>
              <a:rPr sz="1575" b="0">
                <a:solidFill>
                  <a:srgbClr val="66647A"/>
                </a:solidFill>
                <a:latin typeface="Arial"/>
                <a:ea typeface="Arial"/>
                <a:cs typeface="Arial"/>
              </a:rPr>
              <a:t>Computer shops turned limited access into shared time, multiplayer friendships, and digital literacy.</a:t>
            </a:r>
          </a:p>
        </p:txBody>
      </p:sp>
      <p:sp>
        <p:nvSpPr>
          <p:cNvPr id="6" name="">
            <a:extLst xmlns:a="http://schemas.openxmlformats.org/drawingml/2006/main">
              <a:ext uri="{FF2B5EF4-FFF2-40B4-BE49-F238E27FC236}">
                <a16:creationId xmlns:a16="http://schemas.microsoft.com/office/drawing/2014/main" id="{D7E41EA2-B3C1-4F53-98FC-486267793A71}"/>
              </a:ext>
            </a:extLst>
          </p:cNvPr>
          <p:cNvSpPr>
            <a:spLocks xmlns:a="http://schemas.openxmlformats.org/drawingml/2006/main" noGrp="1"/>
          </p:cNvSpPr>
          <p:nvPr/>
        </p:nvSpPr>
        <p:spPr>
          <a:xfrm xmlns:a="http://schemas.openxmlformats.org/drawingml/2006/main">
            <a:off x="6572250" y="1666875"/>
            <a:ext cx="4572000" cy="3333750"/>
          </a:xfrm>
          <a:prstGeom xmlns:a="http://schemas.openxmlformats.org/drawingml/2006/main" prst="roundRect">
            <a:avLst>
              <a:gd name="adj" fmla="val 5143"/>
            </a:avLst>
          </a:prstGeom>
          <a:solidFill xmlns:a="http://schemas.openxmlformats.org/drawingml/2006/main">
            <a:srgbClr val="6C4B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F57F69-E40A-4666-B305-A43D156B4D8C}"/>
              </a:ext>
            </a:extLst>
          </p:cNvPr>
          <p:cNvSpPr>
            <a:spLocks xmlns:a="http://schemas.openxmlformats.org/drawingml/2006/main" noGrp="1"/>
          </p:cNvSpPr>
          <p:nvPr/>
        </p:nvSpPr>
        <p:spPr>
          <a:xfrm xmlns:a="http://schemas.openxmlformats.org/drawingml/2006/main">
            <a:off x="6953250" y="2000250"/>
            <a:ext cx="381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FRIENDSTER</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TESTIMONIAL</a:t>
            </a:r>
          </a:p>
        </p:txBody>
      </p:sp>
      <p:sp>
        <p:nvSpPr>
          <p:cNvPr id="8" name="">
            <a:extLst xmlns:a="http://schemas.openxmlformats.org/drawingml/2006/main">
              <a:ext uri="{FF2B5EF4-FFF2-40B4-BE49-F238E27FC236}">
                <a16:creationId xmlns:a16="http://schemas.microsoft.com/office/drawing/2014/main" id="{17516391-3CB4-4A7B-8D6F-F33A430B77D4}"/>
              </a:ext>
            </a:extLst>
          </p:cNvPr>
          <p:cNvSpPr>
            <a:spLocks xmlns:a="http://schemas.openxmlformats.org/drawingml/2006/main" noGrp="1"/>
          </p:cNvSpPr>
          <p:nvPr/>
        </p:nvSpPr>
        <p:spPr>
          <a:xfrm xmlns:a="http://schemas.openxmlformats.org/drawingml/2006/main">
            <a:off x="7124700" y="3028950"/>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0">
                <a:solidFill>
                  <a:srgbClr val="FFC857"/>
                </a:solidFill>
                <a:latin typeface="Arial"/>
                <a:ea typeface="Arial"/>
                <a:cs typeface="Arial"/>
              </a:defRPr>
            </a:pPr>
            <a:r>
              <a:rPr sz="1875" b="0">
                <a:solidFill>
                  <a:srgbClr val="FFC857"/>
                </a:solidFill>
                <a:latin typeface="Arial"/>
                <a:ea typeface="Arial"/>
                <a:cs typeface="Arial"/>
              </a:rPr>
              <a:t>“Nice, funny, approachable.</a:t>
            </a:r>
          </a:p>
          <a:p xmlns:a="http://schemas.openxmlformats.org/drawingml/2006/main">
            <a:pPr algn="ctr">
              <a:defRPr sz="1875" b="0">
                <a:solidFill>
                  <a:srgbClr val="FFC857"/>
                </a:solidFill>
                <a:latin typeface="Arial"/>
                <a:ea typeface="Arial"/>
                <a:cs typeface="Arial"/>
              </a:defRPr>
            </a:pPr>
            <a:r>
              <a:rPr sz="1875" b="0">
                <a:solidFill>
                  <a:srgbClr val="FFC857"/>
                </a:solidFill>
                <a:latin typeface="Arial"/>
                <a:ea typeface="Arial"/>
                <a:cs typeface="Arial"/>
              </a:rPr>
              <a:t>Stay who you are.</a:t>
            </a:r>
          </a:p>
          <a:p xmlns:a="http://schemas.openxmlformats.org/drawingml/2006/main">
            <a:pPr algn="ctr">
              <a:defRPr sz="1875" b="0">
                <a:solidFill>
                  <a:srgbClr val="FFC857"/>
                </a:solidFill>
                <a:latin typeface="Arial"/>
                <a:ea typeface="Arial"/>
                <a:cs typeface="Arial"/>
              </a:defRPr>
            </a:pPr>
            <a:r>
              <a:rPr sz="1875" b="0">
                <a:solidFill>
                  <a:srgbClr val="FFC857"/>
                </a:solidFill>
                <a:latin typeface="Arial"/>
                <a:ea typeface="Arial"/>
                <a:cs typeface="Arial"/>
              </a:rPr>
              <a:t>Thanks for the testi.”</a:t>
            </a:r>
          </a:p>
        </p:txBody>
      </p:sp>
      <p:sp>
        <p:nvSpPr>
          <p:cNvPr id="9" name="">
            <a:extLst xmlns:a="http://schemas.openxmlformats.org/drawingml/2006/main">
              <a:ext uri="{FF2B5EF4-FFF2-40B4-BE49-F238E27FC236}">
                <a16:creationId xmlns:a16="http://schemas.microsoft.com/office/drawing/2014/main" id="{C299F88A-5858-466E-A1D6-E2A31CA6CF63}"/>
              </a:ext>
            </a:extLst>
          </p:cNvPr>
          <p:cNvSpPr>
            <a:spLocks xmlns:a="http://schemas.openxmlformats.org/drawingml/2006/main" noGrp="1"/>
          </p:cNvSpPr>
          <p:nvPr/>
        </p:nvSpPr>
        <p:spPr>
          <a:xfrm xmlns:a="http://schemas.openxmlformats.org/drawingml/2006/main">
            <a:off x="7000875" y="43624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125" b="1">
                <a:solidFill>
                  <a:srgbClr val="DAD6EA"/>
                </a:solidFill>
                <a:latin typeface="Arial"/>
                <a:ea typeface="Arial"/>
                <a:cs typeface="Arial"/>
              </a:defRPr>
            </a:pPr>
            <a:r>
              <a:rPr sz="1125" b="1">
                <a:solidFill>
                  <a:srgbClr val="DAD6EA"/>
                </a:solidFill>
                <a:latin typeface="Arial"/>
                <a:ea typeface="Arial"/>
                <a:cs typeface="Arial"/>
              </a:rPr>
              <a:t>Translation: early public identity management.</a:t>
            </a:r>
          </a:p>
        </p:txBody>
      </p:sp>
      <p:sp>
        <p:nvSpPr>
          <p:cNvPr id="10" name="">
            <a:extLst xmlns:a="http://schemas.openxmlformats.org/drawingml/2006/main">
              <a:ext uri="{FF2B5EF4-FFF2-40B4-BE49-F238E27FC236}">
                <a16:creationId xmlns:a16="http://schemas.microsoft.com/office/drawing/2014/main" id="{E0E52D90-1498-43A0-B618-05B50742E796}"/>
              </a:ext>
            </a:extLst>
          </p:cNvPr>
          <p:cNvSpPr>
            <a:spLocks xmlns:a="http://schemas.openxmlformats.org/drawingml/2006/main" noGrp="1"/>
          </p:cNvSpPr>
          <p:nvPr/>
        </p:nvSpPr>
        <p:spPr>
          <a:xfrm xmlns:a="http://schemas.openxmlformats.org/drawingml/2006/main">
            <a:off x="1095375" y="542925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875" b="1">
                <a:solidFill>
                  <a:srgbClr val="FF4F9A"/>
                </a:solidFill>
                <a:latin typeface="Arial"/>
                <a:ea typeface="Arial"/>
                <a:cs typeface="Arial"/>
              </a:defRPr>
            </a:pPr>
            <a:r>
              <a:rPr sz="1875" b="1">
                <a:solidFill>
                  <a:srgbClr val="FF4F9A"/>
                </a:solidFill>
                <a:latin typeface="Arial"/>
                <a:ea typeface="Arial"/>
                <a:cs typeface="Arial"/>
              </a:rPr>
              <a:t>The laugh opens the door. The exhibit explains why the memory matters.</a:t>
            </a:r>
          </a:p>
        </p:txBody>
      </p:sp>
      <p:sp>
        <p:nvSpPr>
          <p:cNvPr id="11" name="">
            <a:extLst xmlns:a="http://schemas.openxmlformats.org/drawingml/2006/main">
              <a:ext uri="{FF2B5EF4-FFF2-40B4-BE49-F238E27FC236}">
                <a16:creationId xmlns:a16="http://schemas.microsoft.com/office/drawing/2014/main" id="{1210E683-88A2-4C6C-9972-270DF1311EE6}"/>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12" name="">
            <a:extLst xmlns:a="http://schemas.openxmlformats.org/drawingml/2006/main">
              <a:ext uri="{FF2B5EF4-FFF2-40B4-BE49-F238E27FC236}">
                <a16:creationId xmlns:a16="http://schemas.microsoft.com/office/drawing/2014/main" id="{0C514CB6-7EA6-4A38-B096-0398339F08F1}"/>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06</a:t>
            </a:r>
          </a:p>
        </p:txBody>
      </p:sp>
    </p:spTree>
    <p:extLst>
      <p:ext uri="{BB962C8B-B14F-4D97-AF65-F5344CB8AC3E}">
        <p14:creationId xmlns:p14="http://schemas.microsoft.com/office/powerpoint/2010/main" val="1075945542"/>
      </p:ext>
    </p:extLst>
  </p:cSld>
</p:sld>
</file>

<file path=ppt/slides/slide7.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2F85D7A-968B-4C3C-B2E4-0B1B1110AFBD}"/>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Who enters the mirror</a:t>
            </a:r>
          </a:p>
        </p:txBody>
      </p:sp>
      <p:sp>
        <p:nvSpPr>
          <p:cNvPr id="2" name="">
            <a:extLst xmlns:a="http://schemas.openxmlformats.org/drawingml/2006/main">
              <a:ext uri="{FF2B5EF4-FFF2-40B4-BE49-F238E27FC236}">
                <a16:creationId xmlns:a16="http://schemas.microsoft.com/office/drawing/2014/main" id="{69F764EE-453F-42BA-8908-08CA7C128BD1}"/>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The concept connects generations instead of serving one nostalgia audience</a:t>
            </a:r>
          </a:p>
        </p:txBody>
      </p:sp>
      <p:sp>
        <p:nvSpPr>
          <p:cNvPr id="3" name="">
            <a:extLst xmlns:a="http://schemas.openxmlformats.org/drawingml/2006/main">
              <a:ext uri="{FF2B5EF4-FFF2-40B4-BE49-F238E27FC236}">
                <a16:creationId xmlns:a16="http://schemas.microsoft.com/office/drawing/2014/main" id="{CBAC2079-5A6A-48A2-BF91-DCC047919F15}"/>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C3C67E-F9AF-47E6-9B15-50B37A059284}"/>
              </a:ext>
            </a:extLst>
          </p:cNvPr>
          <p:cNvSpPr>
            <a:spLocks xmlns:a="http://schemas.openxmlformats.org/drawingml/2006/main" noGrp="1"/>
          </p:cNvSpPr>
          <p:nvPr/>
        </p:nvSpPr>
        <p:spPr>
          <a:xfrm xmlns:a="http://schemas.openxmlformats.org/drawingml/2006/main">
            <a:off x="723900" y="1762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45E0E8"/>
                </a:solidFill>
                <a:latin typeface="Arial"/>
                <a:ea typeface="Arial"/>
                <a:cs typeface="Arial"/>
              </a:defRPr>
            </a:pPr>
            <a:r>
              <a:rPr sz="1500" b="1">
                <a:solidFill>
                  <a:srgbClr val="45E0E8"/>
                </a:solidFill>
                <a:latin typeface="Arial"/>
                <a:ea typeface="Arial"/>
                <a:cs typeface="Arial"/>
              </a:rPr>
              <a:t>STUDENTS</a:t>
            </a:r>
          </a:p>
        </p:txBody>
      </p:sp>
      <p:sp>
        <p:nvSpPr>
          <p:cNvPr id="5" name="">
            <a:extLst xmlns:a="http://schemas.openxmlformats.org/drawingml/2006/main">
              <a:ext uri="{FF2B5EF4-FFF2-40B4-BE49-F238E27FC236}">
                <a16:creationId xmlns:a16="http://schemas.microsoft.com/office/drawing/2014/main" id="{1F3D1893-893F-4C40-BDA9-A8C1650CA6CF}"/>
              </a:ext>
            </a:extLst>
          </p:cNvPr>
          <p:cNvSpPr>
            <a:spLocks xmlns:a="http://schemas.openxmlformats.org/drawingml/2006/main" noGrp="1"/>
          </p:cNvSpPr>
          <p:nvPr/>
        </p:nvSpPr>
        <p:spPr>
          <a:xfrm xmlns:a="http://schemas.openxmlformats.org/drawingml/2006/main">
            <a:off x="723900" y="21907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 research experience that feels like discovery</a:t>
            </a:r>
          </a:p>
        </p:txBody>
      </p:sp>
      <p:sp>
        <p:nvSpPr>
          <p:cNvPr id="6" name="">
            <a:extLst xmlns:a="http://schemas.openxmlformats.org/drawingml/2006/main">
              <a:ext uri="{FF2B5EF4-FFF2-40B4-BE49-F238E27FC236}">
                <a16:creationId xmlns:a16="http://schemas.microsoft.com/office/drawing/2014/main" id="{AC734E47-6F6B-4FFE-95CD-4A0B0279C4BE}"/>
              </a:ext>
            </a:extLst>
          </p:cNvPr>
          <p:cNvSpPr>
            <a:spLocks xmlns:a="http://schemas.openxmlformats.org/drawingml/2006/main" noGrp="1"/>
          </p:cNvSpPr>
          <p:nvPr/>
        </p:nvSpPr>
        <p:spPr>
          <a:xfrm xmlns:a="http://schemas.openxmlformats.org/drawingml/2006/main">
            <a:off x="723900" y="301942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4C55467-7A46-46C3-A0EE-AD8837954B97}"/>
              </a:ext>
            </a:extLst>
          </p:cNvPr>
          <p:cNvSpPr>
            <a:spLocks xmlns:a="http://schemas.openxmlformats.org/drawingml/2006/main" noGrp="1"/>
          </p:cNvSpPr>
          <p:nvPr/>
        </p:nvSpPr>
        <p:spPr>
          <a:xfrm xmlns:a="http://schemas.openxmlformats.org/drawingml/2006/main">
            <a:off x="4457700" y="1762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FF4F9A"/>
                </a:solidFill>
                <a:latin typeface="Arial"/>
                <a:ea typeface="Arial"/>
                <a:cs typeface="Arial"/>
              </a:defRPr>
            </a:pPr>
            <a:r>
              <a:rPr sz="1500" b="1">
                <a:solidFill>
                  <a:srgbClr val="FF4F9A"/>
                </a:solidFill>
                <a:latin typeface="Arial"/>
                <a:ea typeface="Arial"/>
                <a:cs typeface="Arial"/>
              </a:rPr>
              <a:t>MILLENNIALS</a:t>
            </a:r>
          </a:p>
        </p:txBody>
      </p:sp>
      <p:sp>
        <p:nvSpPr>
          <p:cNvPr id="8" name="">
            <a:extLst xmlns:a="http://schemas.openxmlformats.org/drawingml/2006/main">
              <a:ext uri="{FF2B5EF4-FFF2-40B4-BE49-F238E27FC236}">
                <a16:creationId xmlns:a16="http://schemas.microsoft.com/office/drawing/2014/main" id="{24A76DDE-9A16-4F02-9557-E544E80C4437}"/>
              </a:ext>
            </a:extLst>
          </p:cNvPr>
          <p:cNvSpPr>
            <a:spLocks xmlns:a="http://schemas.openxmlformats.org/drawingml/2006/main" noGrp="1"/>
          </p:cNvSpPr>
          <p:nvPr/>
        </p:nvSpPr>
        <p:spPr>
          <a:xfrm xmlns:a="http://schemas.openxmlformats.org/drawingml/2006/main">
            <a:off x="4457700" y="21907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Recognition, memory, and a chance to contribute</a:t>
            </a:r>
          </a:p>
        </p:txBody>
      </p:sp>
      <p:sp>
        <p:nvSpPr>
          <p:cNvPr id="9" name="">
            <a:extLst xmlns:a="http://schemas.openxmlformats.org/drawingml/2006/main">
              <a:ext uri="{FF2B5EF4-FFF2-40B4-BE49-F238E27FC236}">
                <a16:creationId xmlns:a16="http://schemas.microsoft.com/office/drawing/2014/main" id="{FF32FC98-B541-45D8-98F0-0977F960FAA1}"/>
              </a:ext>
            </a:extLst>
          </p:cNvPr>
          <p:cNvSpPr>
            <a:spLocks xmlns:a="http://schemas.openxmlformats.org/drawingml/2006/main" noGrp="1"/>
          </p:cNvSpPr>
          <p:nvPr/>
        </p:nvSpPr>
        <p:spPr>
          <a:xfrm xmlns:a="http://schemas.openxmlformats.org/drawingml/2006/main">
            <a:off x="4457700" y="301942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95EB2DE-67AE-4685-A803-B68A36156D9D}"/>
              </a:ext>
            </a:extLst>
          </p:cNvPr>
          <p:cNvSpPr>
            <a:spLocks xmlns:a="http://schemas.openxmlformats.org/drawingml/2006/main" noGrp="1"/>
          </p:cNvSpPr>
          <p:nvPr/>
        </p:nvSpPr>
        <p:spPr>
          <a:xfrm xmlns:a="http://schemas.openxmlformats.org/drawingml/2006/main">
            <a:off x="8191500" y="1762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FFC857"/>
                </a:solidFill>
                <a:latin typeface="Arial"/>
                <a:ea typeface="Arial"/>
                <a:cs typeface="Arial"/>
              </a:defRPr>
            </a:pPr>
            <a:r>
              <a:rPr sz="1500" b="1">
                <a:solidFill>
                  <a:srgbClr val="FFC857"/>
                </a:solidFill>
                <a:latin typeface="Arial"/>
                <a:ea typeface="Arial"/>
                <a:cs typeface="Arial"/>
              </a:rPr>
              <a:t>FAMILIES</a:t>
            </a:r>
          </a:p>
        </p:txBody>
      </p:sp>
      <p:sp>
        <p:nvSpPr>
          <p:cNvPr id="11" name="">
            <a:extLst xmlns:a="http://schemas.openxmlformats.org/drawingml/2006/main">
              <a:ext uri="{FF2B5EF4-FFF2-40B4-BE49-F238E27FC236}">
                <a16:creationId xmlns:a16="http://schemas.microsoft.com/office/drawing/2014/main" id="{6BE5BE07-3EB4-4811-BEB3-8CB46DF50D97}"/>
              </a:ext>
            </a:extLst>
          </p:cNvPr>
          <p:cNvSpPr>
            <a:spLocks xmlns:a="http://schemas.openxmlformats.org/drawingml/2006/main" noGrp="1"/>
          </p:cNvSpPr>
          <p:nvPr/>
        </p:nvSpPr>
        <p:spPr>
          <a:xfrm xmlns:a="http://schemas.openxmlformats.org/drawingml/2006/main">
            <a:off x="8191500" y="21907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Stories that move between parents and children</a:t>
            </a:r>
          </a:p>
        </p:txBody>
      </p:sp>
      <p:sp>
        <p:nvSpPr>
          <p:cNvPr id="12" name="">
            <a:extLst xmlns:a="http://schemas.openxmlformats.org/drawingml/2006/main">
              <a:ext uri="{FF2B5EF4-FFF2-40B4-BE49-F238E27FC236}">
                <a16:creationId xmlns:a16="http://schemas.microsoft.com/office/drawing/2014/main" id="{DE7165E3-134E-45DC-81A9-259E8C4D08EB}"/>
              </a:ext>
            </a:extLst>
          </p:cNvPr>
          <p:cNvSpPr>
            <a:spLocks xmlns:a="http://schemas.openxmlformats.org/drawingml/2006/main" noGrp="1"/>
          </p:cNvSpPr>
          <p:nvPr/>
        </p:nvSpPr>
        <p:spPr>
          <a:xfrm xmlns:a="http://schemas.openxmlformats.org/drawingml/2006/main">
            <a:off x="8191500" y="301942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3CDEBF-197C-48F3-8AAB-62561411558C}"/>
              </a:ext>
            </a:extLst>
          </p:cNvPr>
          <p:cNvSpPr>
            <a:spLocks xmlns:a="http://schemas.openxmlformats.org/drawingml/2006/main" noGrp="1"/>
          </p:cNvSpPr>
          <p:nvPr/>
        </p:nvSpPr>
        <p:spPr>
          <a:xfrm xmlns:a="http://schemas.openxmlformats.org/drawingml/2006/main">
            <a:off x="723900" y="35718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74F0C4"/>
                </a:solidFill>
                <a:latin typeface="Arial"/>
                <a:ea typeface="Arial"/>
                <a:cs typeface="Arial"/>
              </a:defRPr>
            </a:pPr>
            <a:r>
              <a:rPr sz="1500" b="1">
                <a:solidFill>
                  <a:srgbClr val="74F0C4"/>
                </a:solidFill>
                <a:latin typeface="Arial"/>
                <a:ea typeface="Arial"/>
                <a:cs typeface="Arial"/>
              </a:rPr>
              <a:t>EDUCATORS</a:t>
            </a:r>
          </a:p>
        </p:txBody>
      </p:sp>
      <p:sp>
        <p:nvSpPr>
          <p:cNvPr id="14" name="">
            <a:extLst xmlns:a="http://schemas.openxmlformats.org/drawingml/2006/main">
              <a:ext uri="{FF2B5EF4-FFF2-40B4-BE49-F238E27FC236}">
                <a16:creationId xmlns:a16="http://schemas.microsoft.com/office/drawing/2014/main" id="{8DC2DDB5-BB17-4AEE-A277-E33E5E84CD4B}"/>
              </a:ext>
            </a:extLst>
          </p:cNvPr>
          <p:cNvSpPr>
            <a:spLocks xmlns:a="http://schemas.openxmlformats.org/drawingml/2006/main" noGrp="1"/>
          </p:cNvSpPr>
          <p:nvPr/>
        </p:nvSpPr>
        <p:spPr>
          <a:xfrm xmlns:a="http://schemas.openxmlformats.org/drawingml/2006/main">
            <a:off x="723900" y="40005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Material organized through seven cultural lenses</a:t>
            </a:r>
          </a:p>
        </p:txBody>
      </p:sp>
      <p:sp>
        <p:nvSpPr>
          <p:cNvPr id="15" name="">
            <a:extLst xmlns:a="http://schemas.openxmlformats.org/drawingml/2006/main">
              <a:ext uri="{FF2B5EF4-FFF2-40B4-BE49-F238E27FC236}">
                <a16:creationId xmlns:a16="http://schemas.microsoft.com/office/drawing/2014/main" id="{8BC91DF9-2906-4324-AE69-D4ABD3E25B81}"/>
              </a:ext>
            </a:extLst>
          </p:cNvPr>
          <p:cNvSpPr>
            <a:spLocks xmlns:a="http://schemas.openxmlformats.org/drawingml/2006/main" noGrp="1"/>
          </p:cNvSpPr>
          <p:nvPr/>
        </p:nvSpPr>
        <p:spPr>
          <a:xfrm xmlns:a="http://schemas.openxmlformats.org/drawingml/2006/main">
            <a:off x="723900" y="482917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B8909F3-41E9-4742-8A2C-87D82DD4CF17}"/>
              </a:ext>
            </a:extLst>
          </p:cNvPr>
          <p:cNvSpPr>
            <a:spLocks xmlns:a="http://schemas.openxmlformats.org/drawingml/2006/main" noGrp="1"/>
          </p:cNvSpPr>
          <p:nvPr/>
        </p:nvSpPr>
        <p:spPr>
          <a:xfrm xmlns:a="http://schemas.openxmlformats.org/drawingml/2006/main">
            <a:off x="4457700" y="35718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5591FF"/>
                </a:solidFill>
                <a:latin typeface="Arial"/>
                <a:ea typeface="Arial"/>
                <a:cs typeface="Arial"/>
              </a:defRPr>
            </a:pPr>
            <a:r>
              <a:rPr sz="1500" b="1">
                <a:solidFill>
                  <a:srgbClr val="5591FF"/>
                </a:solidFill>
                <a:latin typeface="Arial"/>
                <a:ea typeface="Arial"/>
                <a:cs typeface="Arial"/>
              </a:rPr>
              <a:t>CREATIVE COMMUNITIES</a:t>
            </a:r>
          </a:p>
        </p:txBody>
      </p:sp>
      <p:sp>
        <p:nvSpPr>
          <p:cNvPr id="17" name="">
            <a:extLst xmlns:a="http://schemas.openxmlformats.org/drawingml/2006/main">
              <a:ext uri="{FF2B5EF4-FFF2-40B4-BE49-F238E27FC236}">
                <a16:creationId xmlns:a16="http://schemas.microsoft.com/office/drawing/2014/main" id="{AC2DA25E-33D9-489C-A857-13990448AB1F}"/>
              </a:ext>
            </a:extLst>
          </p:cNvPr>
          <p:cNvSpPr>
            <a:spLocks xmlns:a="http://schemas.openxmlformats.org/drawingml/2006/main" noGrp="1"/>
          </p:cNvSpPr>
          <p:nvPr/>
        </p:nvSpPr>
        <p:spPr>
          <a:xfrm xmlns:a="http://schemas.openxmlformats.org/drawingml/2006/main">
            <a:off x="4457700" y="40005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 platform for local stories and interpretation</a:t>
            </a:r>
          </a:p>
        </p:txBody>
      </p:sp>
      <p:sp>
        <p:nvSpPr>
          <p:cNvPr id="18" name="">
            <a:extLst xmlns:a="http://schemas.openxmlformats.org/drawingml/2006/main">
              <a:ext uri="{FF2B5EF4-FFF2-40B4-BE49-F238E27FC236}">
                <a16:creationId xmlns:a16="http://schemas.microsoft.com/office/drawing/2014/main" id="{23A77430-0322-4A2C-9227-89B6895F2248}"/>
              </a:ext>
            </a:extLst>
          </p:cNvPr>
          <p:cNvSpPr>
            <a:spLocks xmlns:a="http://schemas.openxmlformats.org/drawingml/2006/main" noGrp="1"/>
          </p:cNvSpPr>
          <p:nvPr/>
        </p:nvSpPr>
        <p:spPr>
          <a:xfrm xmlns:a="http://schemas.openxmlformats.org/drawingml/2006/main">
            <a:off x="4457700" y="482917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9D2BCD0-1C0E-423B-AEA4-BE378C1097AE}"/>
              </a:ext>
            </a:extLst>
          </p:cNvPr>
          <p:cNvSpPr>
            <a:spLocks xmlns:a="http://schemas.openxmlformats.org/drawingml/2006/main" noGrp="1"/>
          </p:cNvSpPr>
          <p:nvPr/>
        </p:nvSpPr>
        <p:spPr>
          <a:xfrm xmlns:a="http://schemas.openxmlformats.org/drawingml/2006/main">
            <a:off x="8191500" y="35718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1">
                <a:solidFill>
                  <a:srgbClr val="D76DFF"/>
                </a:solidFill>
                <a:latin typeface="Arial"/>
                <a:ea typeface="Arial"/>
                <a:cs typeface="Arial"/>
              </a:defRPr>
            </a:pPr>
            <a:r>
              <a:rPr sz="1500" b="1">
                <a:solidFill>
                  <a:srgbClr val="D76DFF"/>
                </a:solidFill>
                <a:latin typeface="Arial"/>
                <a:ea typeface="Arial"/>
                <a:cs typeface="Arial"/>
              </a:rPr>
              <a:t>SPONSORS</a:t>
            </a:r>
          </a:p>
        </p:txBody>
      </p:sp>
      <p:sp>
        <p:nvSpPr>
          <p:cNvPr id="20" name="">
            <a:extLst xmlns:a="http://schemas.openxmlformats.org/drawingml/2006/main">
              <a:ext uri="{FF2B5EF4-FFF2-40B4-BE49-F238E27FC236}">
                <a16:creationId xmlns:a16="http://schemas.microsoft.com/office/drawing/2014/main" id="{DFBAF78F-A55E-4A6B-8577-9DAC5C6A103F}"/>
              </a:ext>
            </a:extLst>
          </p:cNvPr>
          <p:cNvSpPr>
            <a:spLocks xmlns:a="http://schemas.openxmlformats.org/drawingml/2006/main" noGrp="1"/>
          </p:cNvSpPr>
          <p:nvPr/>
        </p:nvSpPr>
        <p:spPr>
          <a:xfrm xmlns:a="http://schemas.openxmlformats.org/drawingml/2006/main">
            <a:off x="8191500" y="40005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Visible support for culture, education, and digital access</a:t>
            </a:r>
          </a:p>
        </p:txBody>
      </p:sp>
      <p:sp>
        <p:nvSpPr>
          <p:cNvPr id="21" name="">
            <a:extLst xmlns:a="http://schemas.openxmlformats.org/drawingml/2006/main">
              <a:ext uri="{FF2B5EF4-FFF2-40B4-BE49-F238E27FC236}">
                <a16:creationId xmlns:a16="http://schemas.microsoft.com/office/drawing/2014/main" id="{BD343C1C-E89D-4D0E-8F2D-1E9EFC8B4B08}"/>
              </a:ext>
            </a:extLst>
          </p:cNvPr>
          <p:cNvSpPr>
            <a:spLocks xmlns:a="http://schemas.openxmlformats.org/drawingml/2006/main" noGrp="1"/>
          </p:cNvSpPr>
          <p:nvPr/>
        </p:nvSpPr>
        <p:spPr>
          <a:xfrm xmlns:a="http://schemas.openxmlformats.org/drawingml/2006/main">
            <a:off x="8191500" y="4829175"/>
            <a:ext cx="3143250" cy="28575"/>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EAD9CEA-344B-44D3-9C3C-2AA668A7B154}"/>
              </a:ext>
            </a:extLst>
          </p:cNvPr>
          <p:cNvSpPr>
            <a:spLocks xmlns:a="http://schemas.openxmlformats.org/drawingml/2006/main" noGrp="1"/>
          </p:cNvSpPr>
          <p:nvPr/>
        </p:nvSpPr>
        <p:spPr>
          <a:xfrm xmlns:a="http://schemas.openxmlformats.org/drawingml/2006/main">
            <a:off x="952500" y="54768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One decade. Different memories. A shared Filipino conversation.</a:t>
            </a:r>
          </a:p>
        </p:txBody>
      </p:sp>
      <p:sp>
        <p:nvSpPr>
          <p:cNvPr id="23" name="">
            <a:extLst xmlns:a="http://schemas.openxmlformats.org/drawingml/2006/main">
              <a:ext uri="{FF2B5EF4-FFF2-40B4-BE49-F238E27FC236}">
                <a16:creationId xmlns:a16="http://schemas.microsoft.com/office/drawing/2014/main" id="{2053F123-4088-45B8-BF30-F2140EDF610C}"/>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4" name="">
            <a:extLst xmlns:a="http://schemas.openxmlformats.org/drawingml/2006/main">
              <a:ext uri="{FF2B5EF4-FFF2-40B4-BE49-F238E27FC236}">
                <a16:creationId xmlns:a16="http://schemas.microsoft.com/office/drawing/2014/main" id="{E55F691E-767B-462E-A735-74DC8683D2EE}"/>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07</a:t>
            </a:r>
          </a:p>
        </p:txBody>
      </p:sp>
    </p:spTree>
    <p:extLst>
      <p:ext uri="{BB962C8B-B14F-4D97-AF65-F5344CB8AC3E}">
        <p14:creationId xmlns:p14="http://schemas.microsoft.com/office/powerpoint/2010/main" val="1200237508"/>
      </p:ext>
    </p:extLst>
  </p:cSld>
</p:sld>
</file>

<file path=ppt/slides/slide8.xml><?xml version="1.0" encoding="utf-8"?>
<p:sld xmlns:p="http://schemas.openxmlformats.org/presentationml/2006/main">
  <p:cSld>
    <p:bg>
      <p:bgPr>
        <a:solidFill xmlns:a="http://schemas.openxmlformats.org/drawingml/2006/main">
          <a:srgbClr val="F8F5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2ABC046-1D31-4691-BEC4-1D829D0667C0}"/>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Sponsor value</a:t>
            </a:r>
          </a:p>
        </p:txBody>
      </p:sp>
      <p:sp>
        <p:nvSpPr>
          <p:cNvPr id="2" name="">
            <a:extLst xmlns:a="http://schemas.openxmlformats.org/drawingml/2006/main">
              <a:ext uri="{FF2B5EF4-FFF2-40B4-BE49-F238E27FC236}">
                <a16:creationId xmlns:a16="http://schemas.microsoft.com/office/drawing/2014/main" id="{FBC536C8-8F89-41B0-B82E-6216F164091D}"/>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Funding supports a visible public experience with measurable participation</a:t>
            </a:r>
          </a:p>
        </p:txBody>
      </p:sp>
      <p:sp>
        <p:nvSpPr>
          <p:cNvPr id="3" name="">
            <a:extLst xmlns:a="http://schemas.openxmlformats.org/drawingml/2006/main">
              <a:ext uri="{FF2B5EF4-FFF2-40B4-BE49-F238E27FC236}">
                <a16:creationId xmlns:a16="http://schemas.microsoft.com/office/drawing/2014/main" id="{345AC7E3-7A2D-4CC2-B90C-21BF8770235A}"/>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F77597-9AB2-4B53-A696-94A6AB23CD94}"/>
              </a:ext>
            </a:extLst>
          </p:cNvPr>
          <p:cNvSpPr>
            <a:spLocks xmlns:a="http://schemas.openxmlformats.org/drawingml/2006/main" noGrp="1"/>
          </p:cNvSpPr>
          <p:nvPr/>
        </p:nvSpPr>
        <p:spPr>
          <a:xfrm xmlns:a="http://schemas.openxmlformats.org/drawingml/2006/main">
            <a:off x="742950" y="17621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6C4BF4"/>
                </a:solidFill>
                <a:latin typeface="Arial"/>
                <a:ea typeface="Arial"/>
                <a:cs typeface="Arial"/>
              </a:defRPr>
            </a:pPr>
            <a:r>
              <a:rPr sz="2025" b="1">
                <a:solidFill>
                  <a:srgbClr val="6C4BF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0A8DB51-6885-41F2-A6F3-8B7CD01BD528}"/>
              </a:ext>
            </a:extLst>
          </p:cNvPr>
          <p:cNvSpPr>
            <a:spLocks xmlns:a="http://schemas.openxmlformats.org/drawingml/2006/main" noGrp="1"/>
          </p:cNvSpPr>
          <p:nvPr/>
        </p:nvSpPr>
        <p:spPr>
          <a:xfrm xmlns:a="http://schemas.openxmlformats.org/drawingml/2006/main">
            <a:off x="1571625" y="17621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CULTURAL PRESERVATION</a:t>
            </a:r>
          </a:p>
        </p:txBody>
      </p:sp>
      <p:sp>
        <p:nvSpPr>
          <p:cNvPr id="6" name="">
            <a:extLst xmlns:a="http://schemas.openxmlformats.org/drawingml/2006/main">
              <a:ext uri="{FF2B5EF4-FFF2-40B4-BE49-F238E27FC236}">
                <a16:creationId xmlns:a16="http://schemas.microsoft.com/office/drawing/2014/main" id="{5D68E5E7-2F7D-4F40-A85F-E700ACAB41C7}"/>
              </a:ext>
            </a:extLst>
          </p:cNvPr>
          <p:cNvSpPr>
            <a:spLocks xmlns:a="http://schemas.openxmlformats.org/drawingml/2006/main" noGrp="1"/>
          </p:cNvSpPr>
          <p:nvPr/>
        </p:nvSpPr>
        <p:spPr>
          <a:xfrm xmlns:a="http://schemas.openxmlformats.org/drawingml/2006/main">
            <a:off x="4857750" y="174307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Help document ordinary memories before they disappear.</a:t>
            </a:r>
          </a:p>
        </p:txBody>
      </p:sp>
      <p:sp>
        <p:nvSpPr>
          <p:cNvPr id="7" name="">
            <a:extLst xmlns:a="http://schemas.openxmlformats.org/drawingml/2006/main">
              <a:ext uri="{FF2B5EF4-FFF2-40B4-BE49-F238E27FC236}">
                <a16:creationId xmlns:a16="http://schemas.microsoft.com/office/drawing/2014/main" id="{E1658E98-9C90-4D03-835C-A97EE2811B7D}"/>
              </a:ext>
            </a:extLst>
          </p:cNvPr>
          <p:cNvSpPr>
            <a:spLocks xmlns:a="http://schemas.openxmlformats.org/drawingml/2006/main" noGrp="1"/>
          </p:cNvSpPr>
          <p:nvPr/>
        </p:nvSpPr>
        <p:spPr>
          <a:xfrm xmlns:a="http://schemas.openxmlformats.org/drawingml/2006/main">
            <a:off x="1571625" y="240982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17629F-570E-4AD9-8C41-A6D4A0612406}"/>
              </a:ext>
            </a:extLst>
          </p:cNvPr>
          <p:cNvSpPr>
            <a:spLocks xmlns:a="http://schemas.openxmlformats.org/drawingml/2006/main" noGrp="1"/>
          </p:cNvSpPr>
          <p:nvPr/>
        </p:nvSpPr>
        <p:spPr>
          <a:xfrm xmlns:a="http://schemas.openxmlformats.org/drawingml/2006/main">
            <a:off x="742950" y="27336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FF4F9A"/>
                </a:solidFill>
                <a:latin typeface="Arial"/>
                <a:ea typeface="Arial"/>
                <a:cs typeface="Arial"/>
              </a:defRPr>
            </a:pPr>
            <a:r>
              <a:rPr sz="2025" b="1">
                <a:solidFill>
                  <a:srgbClr val="FF4F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511679B-DD14-4698-B96B-A0E1822F656F}"/>
              </a:ext>
            </a:extLst>
          </p:cNvPr>
          <p:cNvSpPr>
            <a:spLocks xmlns:a="http://schemas.openxmlformats.org/drawingml/2006/main" noGrp="1"/>
          </p:cNvSpPr>
          <p:nvPr/>
        </p:nvSpPr>
        <p:spPr>
          <a:xfrm xmlns:a="http://schemas.openxmlformats.org/drawingml/2006/main">
            <a:off x="1571625" y="27336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YOUTH ENGAGEMENT</a:t>
            </a:r>
          </a:p>
        </p:txBody>
      </p:sp>
      <p:sp>
        <p:nvSpPr>
          <p:cNvPr id="10" name="">
            <a:extLst xmlns:a="http://schemas.openxmlformats.org/drawingml/2006/main">
              <a:ext uri="{FF2B5EF4-FFF2-40B4-BE49-F238E27FC236}">
                <a16:creationId xmlns:a16="http://schemas.microsoft.com/office/drawing/2014/main" id="{776AAA9F-FB02-4A7D-8826-A3387F82DF96}"/>
              </a:ext>
            </a:extLst>
          </p:cNvPr>
          <p:cNvSpPr>
            <a:spLocks xmlns:a="http://schemas.openxmlformats.org/drawingml/2006/main" noGrp="1"/>
          </p:cNvSpPr>
          <p:nvPr/>
        </p:nvSpPr>
        <p:spPr>
          <a:xfrm xmlns:a="http://schemas.openxmlformats.org/drawingml/2006/main">
            <a:off x="4857750" y="271462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Connect research with interaction, humor, and contribution.</a:t>
            </a:r>
          </a:p>
        </p:txBody>
      </p:sp>
      <p:sp>
        <p:nvSpPr>
          <p:cNvPr id="11" name="">
            <a:extLst xmlns:a="http://schemas.openxmlformats.org/drawingml/2006/main">
              <a:ext uri="{FF2B5EF4-FFF2-40B4-BE49-F238E27FC236}">
                <a16:creationId xmlns:a16="http://schemas.microsoft.com/office/drawing/2014/main" id="{4852CF6E-C8C0-4951-953B-5D4A33D5D3F2}"/>
              </a:ext>
            </a:extLst>
          </p:cNvPr>
          <p:cNvSpPr>
            <a:spLocks xmlns:a="http://schemas.openxmlformats.org/drawingml/2006/main" noGrp="1"/>
          </p:cNvSpPr>
          <p:nvPr/>
        </p:nvSpPr>
        <p:spPr>
          <a:xfrm xmlns:a="http://schemas.openxmlformats.org/drawingml/2006/main">
            <a:off x="1571625" y="338137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12DAC0-5A09-4CE2-89E5-3467D6511BF2}"/>
              </a:ext>
            </a:extLst>
          </p:cNvPr>
          <p:cNvSpPr>
            <a:spLocks xmlns:a="http://schemas.openxmlformats.org/drawingml/2006/main" noGrp="1"/>
          </p:cNvSpPr>
          <p:nvPr/>
        </p:nvSpPr>
        <p:spPr>
          <a:xfrm xmlns:a="http://schemas.openxmlformats.org/drawingml/2006/main">
            <a:off x="742950" y="37052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FFC857"/>
                </a:solidFill>
                <a:latin typeface="Arial"/>
                <a:ea typeface="Arial"/>
                <a:cs typeface="Arial"/>
              </a:defRPr>
            </a:pPr>
            <a:r>
              <a:rPr sz="2025" b="1">
                <a:solidFill>
                  <a:srgbClr val="FFC85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C42D1DF-7755-467A-8ACF-3B1D9363A136}"/>
              </a:ext>
            </a:extLst>
          </p:cNvPr>
          <p:cNvSpPr>
            <a:spLocks xmlns:a="http://schemas.openxmlformats.org/drawingml/2006/main" noGrp="1"/>
          </p:cNvSpPr>
          <p:nvPr/>
        </p:nvSpPr>
        <p:spPr>
          <a:xfrm xmlns:a="http://schemas.openxmlformats.org/drawingml/2006/main">
            <a:off x="1571625" y="37052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BRAND PRESENCE</a:t>
            </a:r>
          </a:p>
        </p:txBody>
      </p:sp>
      <p:sp>
        <p:nvSpPr>
          <p:cNvPr id="14" name="">
            <a:extLst xmlns:a="http://schemas.openxmlformats.org/drawingml/2006/main">
              <a:ext uri="{FF2B5EF4-FFF2-40B4-BE49-F238E27FC236}">
                <a16:creationId xmlns:a16="http://schemas.microsoft.com/office/drawing/2014/main" id="{050F2C80-D80F-4FEE-8765-80E5FE10ADBB}"/>
              </a:ext>
            </a:extLst>
          </p:cNvPr>
          <p:cNvSpPr>
            <a:spLocks xmlns:a="http://schemas.openxmlformats.org/drawingml/2006/main" noGrp="1"/>
          </p:cNvSpPr>
          <p:nvPr/>
        </p:nvSpPr>
        <p:spPr>
          <a:xfrm xmlns:a="http://schemas.openxmlformats.org/drawingml/2006/main">
            <a:off x="4857750" y="368617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Receive credit at entry, selected galleries, launch materials, and the project report.</a:t>
            </a:r>
          </a:p>
        </p:txBody>
      </p:sp>
      <p:sp>
        <p:nvSpPr>
          <p:cNvPr id="15" name="">
            <a:extLst xmlns:a="http://schemas.openxmlformats.org/drawingml/2006/main">
              <a:ext uri="{FF2B5EF4-FFF2-40B4-BE49-F238E27FC236}">
                <a16:creationId xmlns:a16="http://schemas.microsoft.com/office/drawing/2014/main" id="{D0336B61-EBD7-4D07-BF57-1776D078B0EF}"/>
              </a:ext>
            </a:extLst>
          </p:cNvPr>
          <p:cNvSpPr>
            <a:spLocks xmlns:a="http://schemas.openxmlformats.org/drawingml/2006/main" noGrp="1"/>
          </p:cNvSpPr>
          <p:nvPr/>
        </p:nvSpPr>
        <p:spPr>
          <a:xfrm xmlns:a="http://schemas.openxmlformats.org/drawingml/2006/main">
            <a:off x="1571625" y="435292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46932CE-661F-4B2B-ABEA-AD1149F7DAE2}"/>
              </a:ext>
            </a:extLst>
          </p:cNvPr>
          <p:cNvSpPr>
            <a:spLocks xmlns:a="http://schemas.openxmlformats.org/drawingml/2006/main" noGrp="1"/>
          </p:cNvSpPr>
          <p:nvPr/>
        </p:nvSpPr>
        <p:spPr>
          <a:xfrm xmlns:a="http://schemas.openxmlformats.org/drawingml/2006/main">
            <a:off x="742950" y="46767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025" b="1">
                <a:solidFill>
                  <a:srgbClr val="45E0E8"/>
                </a:solidFill>
                <a:latin typeface="Arial"/>
                <a:ea typeface="Arial"/>
                <a:cs typeface="Arial"/>
              </a:defRPr>
            </a:pPr>
            <a:r>
              <a:rPr sz="2025" b="1">
                <a:solidFill>
                  <a:srgbClr val="45E0E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29AA657B-F6C4-49CF-8E40-C21FEF21A1BD}"/>
              </a:ext>
            </a:extLst>
          </p:cNvPr>
          <p:cNvSpPr>
            <a:spLocks xmlns:a="http://schemas.openxmlformats.org/drawingml/2006/main" noGrp="1"/>
          </p:cNvSpPr>
          <p:nvPr/>
        </p:nvSpPr>
        <p:spPr>
          <a:xfrm xmlns:a="http://schemas.openxmlformats.org/drawingml/2006/main">
            <a:off x="1571625" y="46767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1">
                <a:solidFill>
                  <a:srgbClr val="11142A"/>
                </a:solidFill>
                <a:latin typeface="Arial"/>
                <a:ea typeface="Arial"/>
                <a:cs typeface="Arial"/>
              </a:defRPr>
            </a:pPr>
            <a:r>
              <a:rPr sz="1425" b="1">
                <a:solidFill>
                  <a:srgbClr val="11142A"/>
                </a:solidFill>
                <a:latin typeface="Arial"/>
                <a:ea typeface="Arial"/>
                <a:cs typeface="Arial"/>
              </a:rPr>
              <a:t>MEASUREMENT</a:t>
            </a:r>
          </a:p>
        </p:txBody>
      </p:sp>
      <p:sp>
        <p:nvSpPr>
          <p:cNvPr id="18" name="">
            <a:extLst xmlns:a="http://schemas.openxmlformats.org/drawingml/2006/main">
              <a:ext uri="{FF2B5EF4-FFF2-40B4-BE49-F238E27FC236}">
                <a16:creationId xmlns:a16="http://schemas.microsoft.com/office/drawing/2014/main" id="{386840B4-9574-4413-9E31-A1213135DD0B}"/>
              </a:ext>
            </a:extLst>
          </p:cNvPr>
          <p:cNvSpPr>
            <a:spLocks xmlns:a="http://schemas.openxmlformats.org/drawingml/2006/main" noGrp="1"/>
          </p:cNvSpPr>
          <p:nvPr/>
        </p:nvSpPr>
        <p:spPr>
          <a:xfrm xmlns:a="http://schemas.openxmlformats.org/drawingml/2006/main">
            <a:off x="4857750" y="465772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425" b="0">
                <a:solidFill>
                  <a:srgbClr val="66647A"/>
                </a:solidFill>
                <a:latin typeface="Arial"/>
                <a:ea typeface="Arial"/>
                <a:cs typeface="Arial"/>
              </a:defRPr>
            </a:pPr>
            <a:r>
              <a:rPr sz="1425" b="0">
                <a:solidFill>
                  <a:srgbClr val="66647A"/>
                </a:solidFill>
                <a:latin typeface="Arial"/>
                <a:ea typeface="Arial"/>
                <a:cs typeface="Arial"/>
              </a:rPr>
              <a:t>Track visits, exhibit completion, submitted stories, and audience feedback.</a:t>
            </a:r>
          </a:p>
        </p:txBody>
      </p:sp>
      <p:sp>
        <p:nvSpPr>
          <p:cNvPr id="19" name="">
            <a:extLst xmlns:a="http://schemas.openxmlformats.org/drawingml/2006/main">
              <a:ext uri="{FF2B5EF4-FFF2-40B4-BE49-F238E27FC236}">
                <a16:creationId xmlns:a16="http://schemas.microsoft.com/office/drawing/2014/main" id="{35197B84-5F6C-42A9-BAA7-150803899629}"/>
              </a:ext>
            </a:extLst>
          </p:cNvPr>
          <p:cNvSpPr>
            <a:spLocks xmlns:a="http://schemas.openxmlformats.org/drawingml/2006/main" noGrp="1"/>
          </p:cNvSpPr>
          <p:nvPr/>
        </p:nvSpPr>
        <p:spPr>
          <a:xfrm xmlns:a="http://schemas.openxmlformats.org/drawingml/2006/main">
            <a:off x="1571625" y="5324475"/>
            <a:ext cx="9477375" cy="19050"/>
          </a:xfrm>
          <a:prstGeom xmlns:a="http://schemas.openxmlformats.org/drawingml/2006/main" prst="rect">
            <a:avLst/>
          </a:prstGeom>
          <a:solidFill xmlns:a="http://schemas.openxmlformats.org/drawingml/2006/main">
            <a:srgbClr val="DAD6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22F7023-03B6-47C5-BA53-B487819AC065}"/>
              </a:ext>
            </a:extLst>
          </p:cNvPr>
          <p:cNvSpPr>
            <a:spLocks xmlns:a="http://schemas.openxmlformats.org/drawingml/2006/main" noGrp="1"/>
          </p:cNvSpPr>
          <p:nvPr/>
        </p:nvSpPr>
        <p:spPr>
          <a:xfrm xmlns:a="http://schemas.openxmlformats.org/drawingml/2006/main">
            <a:off x="742950" y="5810250"/>
            <a:ext cx="10306050" cy="400050"/>
          </a:xfrm>
          <a:prstGeom xmlns:a="http://schemas.openxmlformats.org/drawingml/2006/main" prst="roundRect">
            <a:avLst>
              <a:gd name="adj" fmla="val 23810"/>
            </a:avLst>
          </a:prstGeom>
          <a:solidFill xmlns:a="http://schemas.openxmlformats.org/drawingml/2006/main">
            <a:srgbClr val="11142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7F5C9C4-7D7B-46C0-9455-364293863E17}"/>
              </a:ext>
            </a:extLst>
          </p:cNvPr>
          <p:cNvSpPr>
            <a:spLocks xmlns:a="http://schemas.openxmlformats.org/drawingml/2006/main" noGrp="1"/>
          </p:cNvSpPr>
          <p:nvPr/>
        </p:nvSpPr>
        <p:spPr>
          <a:xfrm xmlns:a="http://schemas.openxmlformats.org/drawingml/2006/main">
            <a:off x="904875" y="5810250"/>
            <a:ext cx="998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Sponsor recognition remains visible; visitor trust remains protected.</a:t>
            </a:r>
          </a:p>
        </p:txBody>
      </p:sp>
      <p:sp>
        <p:nvSpPr>
          <p:cNvPr id="22" name="">
            <a:extLst xmlns:a="http://schemas.openxmlformats.org/drawingml/2006/main">
              <a:ext uri="{FF2B5EF4-FFF2-40B4-BE49-F238E27FC236}">
                <a16:creationId xmlns:a16="http://schemas.microsoft.com/office/drawing/2014/main" id="{2E6E6140-DD26-4198-A939-AED377BD3B74}"/>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3" name="">
            <a:extLst xmlns:a="http://schemas.openxmlformats.org/drawingml/2006/main">
              <a:ext uri="{FF2B5EF4-FFF2-40B4-BE49-F238E27FC236}">
                <a16:creationId xmlns:a16="http://schemas.microsoft.com/office/drawing/2014/main" id="{674D7C6F-9594-42F9-A123-4CDA3DF98884}"/>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08</a:t>
            </a:r>
          </a:p>
        </p:txBody>
      </p:sp>
    </p:spTree>
    <p:extLst>
      <p:ext uri="{BB962C8B-B14F-4D97-AF65-F5344CB8AC3E}">
        <p14:creationId xmlns:p14="http://schemas.microsoft.com/office/powerpoint/2010/main" val="1085034893"/>
      </p:ext>
    </p:extLst>
  </p:cSld>
</p:sld>
</file>

<file path=ppt/slides/slide9.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17FEF95-AAF0-47C1-AA1C-62F51DBADB35}"/>
              </a:ext>
            </a:extLst>
          </p:cNvPr>
          <p:cNvSpPr>
            <a:spLocks xmlns:a="http://schemas.openxmlformats.org/drawingml/2006/main" noGrp="1"/>
          </p:cNvSpPr>
          <p:nvPr/>
        </p:nvSpPr>
        <p:spPr>
          <a:xfrm xmlns:a="http://schemas.openxmlformats.org/drawingml/2006/main">
            <a:off x="666750" y="400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2850" b="1">
                <a:solidFill>
                  <a:srgbClr val="11142A"/>
                </a:solidFill>
                <a:latin typeface="Arial"/>
                <a:ea typeface="Arial"/>
                <a:cs typeface="Arial"/>
              </a:defRPr>
            </a:pPr>
            <a:r>
              <a:rPr sz="2850" b="1">
                <a:solidFill>
                  <a:srgbClr val="11142A"/>
                </a:solidFill>
                <a:latin typeface="Arial"/>
                <a:ea typeface="Arial"/>
                <a:cs typeface="Arial"/>
              </a:rPr>
              <a:t>Pilot plan and funding use</a:t>
            </a:r>
          </a:p>
        </p:txBody>
      </p:sp>
      <p:sp>
        <p:nvSpPr>
          <p:cNvPr id="2" name="">
            <a:extLst xmlns:a="http://schemas.openxmlformats.org/drawingml/2006/main">
              <a:ext uri="{FF2B5EF4-FFF2-40B4-BE49-F238E27FC236}">
                <a16:creationId xmlns:a16="http://schemas.microsoft.com/office/drawing/2014/main" id="{D1C8FC20-C0A5-4100-80A9-E2A59A54C1CF}"/>
              </a:ext>
            </a:extLst>
          </p:cNvPr>
          <p:cNvSpPr>
            <a:spLocks xmlns:a="http://schemas.openxmlformats.org/drawingml/2006/main" noGrp="1"/>
          </p:cNvSpPr>
          <p:nvPr/>
        </p:nvSpPr>
        <p:spPr>
          <a:xfrm xmlns:a="http://schemas.openxmlformats.org/drawingml/2006/main">
            <a:off x="704850" y="981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0">
                <a:solidFill>
                  <a:srgbClr val="66647A"/>
                </a:solidFill>
                <a:latin typeface="Arial"/>
                <a:ea typeface="Arial"/>
                <a:cs typeface="Arial"/>
              </a:defRPr>
            </a:pPr>
            <a:r>
              <a:rPr sz="1350" b="0">
                <a:solidFill>
                  <a:srgbClr val="66647A"/>
                </a:solidFill>
                <a:latin typeface="Arial"/>
                <a:ea typeface="Arial"/>
                <a:cs typeface="Arial"/>
              </a:rPr>
              <a:t>A focused first release proves the experience before expansion</a:t>
            </a:r>
          </a:p>
        </p:txBody>
      </p:sp>
      <p:sp>
        <p:nvSpPr>
          <p:cNvPr id="3" name="">
            <a:extLst xmlns:a="http://schemas.openxmlformats.org/drawingml/2006/main">
              <a:ext uri="{FF2B5EF4-FFF2-40B4-BE49-F238E27FC236}">
                <a16:creationId xmlns:a16="http://schemas.microsoft.com/office/drawing/2014/main" id="{14C34522-3275-484E-B5EF-EA0BF5D5DD7F}"/>
              </a:ext>
            </a:extLst>
          </p:cNvPr>
          <p:cNvSpPr>
            <a:spLocks xmlns:a="http://schemas.openxmlformats.org/drawingml/2006/main" noGrp="1"/>
          </p:cNvSpPr>
          <p:nvPr/>
        </p:nvSpPr>
        <p:spPr>
          <a:xfrm xmlns:a="http://schemas.openxmlformats.org/drawingml/2006/main">
            <a:off x="704850" y="1390650"/>
            <a:ext cx="1238250" cy="47625"/>
          </a:xfrm>
          <a:prstGeom xmlns:a="http://schemas.openxmlformats.org/drawingml/2006/main" prst="rect">
            <a:avLst/>
          </a:prstGeom>
          <a:solidFill xmlns:a="http://schemas.openxmlformats.org/drawingml/2006/main">
            <a:srgbClr val="FF4F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65C9CC-8ADA-48A5-83A5-4999C2637DA3}"/>
              </a:ext>
            </a:extLst>
          </p:cNvPr>
          <p:cNvSpPr>
            <a:spLocks xmlns:a="http://schemas.openxmlformats.org/drawingml/2006/main" noGrp="1"/>
          </p:cNvSpPr>
          <p:nvPr/>
        </p:nvSpPr>
        <p:spPr>
          <a:xfrm xmlns:a="http://schemas.openxmlformats.org/drawingml/2006/main">
            <a:off x="742950" y="16954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45E0E8"/>
                </a:solidFill>
                <a:latin typeface="Arial"/>
                <a:ea typeface="Arial"/>
                <a:cs typeface="Arial"/>
              </a:defRPr>
            </a:pPr>
            <a:r>
              <a:rPr sz="1350" b="1">
                <a:solidFill>
                  <a:srgbClr val="45E0E8"/>
                </a:solidFill>
                <a:latin typeface="Arial"/>
                <a:ea typeface="Arial"/>
                <a:cs typeface="Arial"/>
              </a:rPr>
              <a:t>PILOT DELIVERABLES</a:t>
            </a:r>
          </a:p>
        </p:txBody>
      </p:sp>
      <p:sp>
        <p:nvSpPr>
          <p:cNvPr id="5" name="">
            <a:extLst xmlns:a="http://schemas.openxmlformats.org/drawingml/2006/main">
              <a:ext uri="{FF2B5EF4-FFF2-40B4-BE49-F238E27FC236}">
                <a16:creationId xmlns:a16="http://schemas.microsoft.com/office/drawing/2014/main" id="{D3783B67-A921-4C26-9C73-5554A0316094}"/>
              </a:ext>
            </a:extLst>
          </p:cNvPr>
          <p:cNvSpPr>
            <a:spLocks xmlns:a="http://schemas.openxmlformats.org/drawingml/2006/main" noGrp="1"/>
          </p:cNvSpPr>
          <p:nvPr/>
        </p:nvSpPr>
        <p:spPr>
          <a:xfrm xmlns:a="http://schemas.openxmlformats.org/drawingml/2006/main">
            <a:off x="781050" y="21717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8FDB217-5522-417A-80AF-94EDC0F978F2}"/>
              </a:ext>
            </a:extLst>
          </p:cNvPr>
          <p:cNvSpPr>
            <a:spLocks xmlns:a="http://schemas.openxmlformats.org/drawingml/2006/main" noGrp="1"/>
          </p:cNvSpPr>
          <p:nvPr/>
        </p:nvSpPr>
        <p:spPr>
          <a:xfrm xmlns:a="http://schemas.openxmlformats.org/drawingml/2006/main">
            <a:off x="1314450" y="21431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Responsive web museum</a:t>
            </a:r>
          </a:p>
        </p:txBody>
      </p:sp>
      <p:sp>
        <p:nvSpPr>
          <p:cNvPr id="7" name="">
            <a:extLst xmlns:a="http://schemas.openxmlformats.org/drawingml/2006/main">
              <a:ext uri="{FF2B5EF4-FFF2-40B4-BE49-F238E27FC236}">
                <a16:creationId xmlns:a16="http://schemas.microsoft.com/office/drawing/2014/main" id="{31B2A234-D716-40C6-8C74-CE4F95BD3E8B}"/>
              </a:ext>
            </a:extLst>
          </p:cNvPr>
          <p:cNvSpPr>
            <a:spLocks xmlns:a="http://schemas.openxmlformats.org/drawingml/2006/main" noGrp="1"/>
          </p:cNvSpPr>
          <p:nvPr/>
        </p:nvSpPr>
        <p:spPr>
          <a:xfrm xmlns:a="http://schemas.openxmlformats.org/drawingml/2006/main">
            <a:off x="781050" y="26955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50DE561-0F38-48A1-AE3F-579CE5A38BBC}"/>
              </a:ext>
            </a:extLst>
          </p:cNvPr>
          <p:cNvSpPr>
            <a:spLocks xmlns:a="http://schemas.openxmlformats.org/drawingml/2006/main" noGrp="1"/>
          </p:cNvSpPr>
          <p:nvPr/>
        </p:nvSpPr>
        <p:spPr>
          <a:xfrm xmlns:a="http://schemas.openxmlformats.org/drawingml/2006/main">
            <a:off x="1314450" y="26670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Seven themed galleries</a:t>
            </a:r>
          </a:p>
        </p:txBody>
      </p:sp>
      <p:sp>
        <p:nvSpPr>
          <p:cNvPr id="9" name="">
            <a:extLst xmlns:a="http://schemas.openxmlformats.org/drawingml/2006/main">
              <a:ext uri="{FF2B5EF4-FFF2-40B4-BE49-F238E27FC236}">
                <a16:creationId xmlns:a16="http://schemas.microsoft.com/office/drawing/2014/main" id="{BB5AD204-36C7-4631-A2D5-2041C8C1C11C}"/>
              </a:ext>
            </a:extLst>
          </p:cNvPr>
          <p:cNvSpPr>
            <a:spLocks xmlns:a="http://schemas.openxmlformats.org/drawingml/2006/main" noGrp="1"/>
          </p:cNvSpPr>
          <p:nvPr/>
        </p:nvSpPr>
        <p:spPr>
          <a:xfrm xmlns:a="http://schemas.openxmlformats.org/drawingml/2006/main">
            <a:off x="781050" y="32194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A342CD6-8C9C-4D56-A613-2F8CB3F1E4D0}"/>
              </a:ext>
            </a:extLst>
          </p:cNvPr>
          <p:cNvSpPr>
            <a:spLocks xmlns:a="http://schemas.openxmlformats.org/drawingml/2006/main" noGrp="1"/>
          </p:cNvSpPr>
          <p:nvPr/>
        </p:nvSpPr>
        <p:spPr>
          <a:xfrm xmlns:a="http://schemas.openxmlformats.org/drawingml/2006/main">
            <a:off x="1314450" y="31908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Three interactive experiences</a:t>
            </a:r>
          </a:p>
        </p:txBody>
      </p:sp>
      <p:sp>
        <p:nvSpPr>
          <p:cNvPr id="11" name="">
            <a:extLst xmlns:a="http://schemas.openxmlformats.org/drawingml/2006/main">
              <a:ext uri="{FF2B5EF4-FFF2-40B4-BE49-F238E27FC236}">
                <a16:creationId xmlns:a16="http://schemas.microsoft.com/office/drawing/2014/main" id="{6448AC83-7EEB-4D10-9885-13157AAEED16}"/>
              </a:ext>
            </a:extLst>
          </p:cNvPr>
          <p:cNvSpPr>
            <a:spLocks xmlns:a="http://schemas.openxmlformats.org/drawingml/2006/main" noGrp="1"/>
          </p:cNvSpPr>
          <p:nvPr/>
        </p:nvSpPr>
        <p:spPr>
          <a:xfrm xmlns:a="http://schemas.openxmlformats.org/drawingml/2006/main">
            <a:off x="781050" y="3743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422F460D-DC89-4648-8DEA-3CBBF2F0428D}"/>
              </a:ext>
            </a:extLst>
          </p:cNvPr>
          <p:cNvSpPr>
            <a:spLocks xmlns:a="http://schemas.openxmlformats.org/drawingml/2006/main" noGrp="1"/>
          </p:cNvSpPr>
          <p:nvPr/>
        </p:nvSpPr>
        <p:spPr>
          <a:xfrm xmlns:a="http://schemas.openxmlformats.org/drawingml/2006/main">
            <a:off x="1314450" y="37147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Twenty curated memory stories</a:t>
            </a:r>
          </a:p>
        </p:txBody>
      </p:sp>
      <p:sp>
        <p:nvSpPr>
          <p:cNvPr id="13" name="">
            <a:extLst xmlns:a="http://schemas.openxmlformats.org/drawingml/2006/main">
              <a:ext uri="{FF2B5EF4-FFF2-40B4-BE49-F238E27FC236}">
                <a16:creationId xmlns:a16="http://schemas.microsoft.com/office/drawing/2014/main" id="{99503A01-4845-4EFC-B72C-09F339213839}"/>
              </a:ext>
            </a:extLst>
          </p:cNvPr>
          <p:cNvSpPr>
            <a:spLocks xmlns:a="http://schemas.openxmlformats.org/drawingml/2006/main" noGrp="1"/>
          </p:cNvSpPr>
          <p:nvPr/>
        </p:nvSpPr>
        <p:spPr>
          <a:xfrm xmlns:a="http://schemas.openxmlformats.org/drawingml/2006/main">
            <a:off x="781050" y="42672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00" b="1">
                <a:solidFill>
                  <a:srgbClr val="FF4F9A"/>
                </a:solidFill>
                <a:latin typeface="Arial"/>
                <a:ea typeface="Arial"/>
                <a:cs typeface="Arial"/>
              </a:defRPr>
            </a:pPr>
            <a:r>
              <a:rPr sz="1200" b="1">
                <a:solidFill>
                  <a:srgbClr val="FF4F9A"/>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807F83D5-F721-4FE4-809C-C80566E1058D}"/>
              </a:ext>
            </a:extLst>
          </p:cNvPr>
          <p:cNvSpPr>
            <a:spLocks xmlns:a="http://schemas.openxmlformats.org/drawingml/2006/main" noGrp="1"/>
          </p:cNvSpPr>
          <p:nvPr/>
        </p:nvSpPr>
        <p:spPr>
          <a:xfrm xmlns:a="http://schemas.openxmlformats.org/drawingml/2006/main">
            <a:off x="1314450" y="42386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One public launch and sponsor report</a:t>
            </a:r>
          </a:p>
        </p:txBody>
      </p:sp>
      <p:sp>
        <p:nvSpPr>
          <p:cNvPr id="15" name="">
            <a:extLst xmlns:a="http://schemas.openxmlformats.org/drawingml/2006/main">
              <a:ext uri="{FF2B5EF4-FFF2-40B4-BE49-F238E27FC236}">
                <a16:creationId xmlns:a16="http://schemas.microsoft.com/office/drawing/2014/main" id="{A484DFBC-F428-4D0C-84F8-D0A03D9E07A1}"/>
              </a:ext>
            </a:extLst>
          </p:cNvPr>
          <p:cNvSpPr>
            <a:spLocks xmlns:a="http://schemas.openxmlformats.org/drawingml/2006/main" noGrp="1"/>
          </p:cNvSpPr>
          <p:nvPr/>
        </p:nvSpPr>
        <p:spPr>
          <a:xfrm xmlns:a="http://schemas.openxmlformats.org/drawingml/2006/main">
            <a:off x="6362700" y="16954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350" b="1">
                <a:solidFill>
                  <a:srgbClr val="45E0E8"/>
                </a:solidFill>
                <a:latin typeface="Arial"/>
                <a:ea typeface="Arial"/>
                <a:cs typeface="Arial"/>
              </a:defRPr>
            </a:pPr>
            <a:r>
              <a:rPr sz="1350" b="1">
                <a:solidFill>
                  <a:srgbClr val="45E0E8"/>
                </a:solidFill>
                <a:latin typeface="Arial"/>
                <a:ea typeface="Arial"/>
                <a:cs typeface="Arial"/>
              </a:rPr>
              <a:t>PROPOSED FUNDING ALLOCATION</a:t>
            </a:r>
          </a:p>
        </p:txBody>
      </p:sp>
      <p:sp>
        <p:nvSpPr>
          <p:cNvPr id="16" name="">
            <a:extLst xmlns:a="http://schemas.openxmlformats.org/drawingml/2006/main">
              <a:ext uri="{FF2B5EF4-FFF2-40B4-BE49-F238E27FC236}">
                <a16:creationId xmlns:a16="http://schemas.microsoft.com/office/drawing/2014/main" id="{B717CD7C-4A10-4EE5-9960-E5D3008EAEF2}"/>
              </a:ext>
            </a:extLst>
          </p:cNvPr>
          <p:cNvSpPr>
            <a:spLocks xmlns:a="http://schemas.openxmlformats.org/drawingml/2006/main" noGrp="1"/>
          </p:cNvSpPr>
          <p:nvPr/>
        </p:nvSpPr>
        <p:spPr>
          <a:xfrm xmlns:a="http://schemas.openxmlformats.org/drawingml/2006/main">
            <a:off x="6381750" y="21907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Experience &amp; development</a:t>
            </a:r>
          </a:p>
        </p:txBody>
      </p:sp>
      <p:sp>
        <p:nvSpPr>
          <p:cNvPr id="17" name="">
            <a:extLst xmlns:a="http://schemas.openxmlformats.org/drawingml/2006/main">
              <a:ext uri="{FF2B5EF4-FFF2-40B4-BE49-F238E27FC236}">
                <a16:creationId xmlns:a16="http://schemas.microsoft.com/office/drawing/2014/main" id="{753AFF38-FB9C-4BA1-B993-12A8237421B3}"/>
              </a:ext>
            </a:extLst>
          </p:cNvPr>
          <p:cNvSpPr>
            <a:spLocks xmlns:a="http://schemas.openxmlformats.org/drawingml/2006/main" noGrp="1"/>
          </p:cNvSpPr>
          <p:nvPr/>
        </p:nvSpPr>
        <p:spPr>
          <a:xfrm xmlns:a="http://schemas.openxmlformats.org/drawingml/2006/main">
            <a:off x="6381750" y="24955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A0A7520-9C31-41A8-9D04-67216E917E4B}"/>
              </a:ext>
            </a:extLst>
          </p:cNvPr>
          <p:cNvSpPr>
            <a:spLocks xmlns:a="http://schemas.openxmlformats.org/drawingml/2006/main" noGrp="1"/>
          </p:cNvSpPr>
          <p:nvPr/>
        </p:nvSpPr>
        <p:spPr>
          <a:xfrm xmlns:a="http://schemas.openxmlformats.org/drawingml/2006/main">
            <a:off x="6381750" y="2495550"/>
            <a:ext cx="4000500" cy="114300"/>
          </a:xfrm>
          <a:prstGeom xmlns:a="http://schemas.openxmlformats.org/drawingml/2006/main" prst="roundRect">
            <a:avLst>
              <a:gd name="adj" fmla="val 50000"/>
            </a:avLst>
          </a:prstGeom>
          <a:solidFill xmlns:a="http://schemas.openxmlformats.org/drawingml/2006/main">
            <a:srgbClr val="6C4BF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862E08A-A4C9-400C-BF6D-17F26CFF4C52}"/>
              </a:ext>
            </a:extLst>
          </p:cNvPr>
          <p:cNvSpPr>
            <a:spLocks xmlns:a="http://schemas.openxmlformats.org/drawingml/2006/main" noGrp="1"/>
          </p:cNvSpPr>
          <p:nvPr/>
        </p:nvSpPr>
        <p:spPr>
          <a:xfrm xmlns:a="http://schemas.openxmlformats.org/drawingml/2006/main">
            <a:off x="10477500" y="238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6C4BF4"/>
                </a:solidFill>
                <a:latin typeface="Arial"/>
                <a:ea typeface="Arial"/>
                <a:cs typeface="Arial"/>
              </a:defRPr>
            </a:pPr>
            <a:r>
              <a:rPr sz="1275" b="1">
                <a:solidFill>
                  <a:srgbClr val="6C4BF4"/>
                </a:solidFill>
                <a:latin typeface="Arial"/>
                <a:ea typeface="Arial"/>
                <a:cs typeface="Arial"/>
              </a:rPr>
              <a:t>35%</a:t>
            </a:r>
          </a:p>
        </p:txBody>
      </p:sp>
      <p:sp>
        <p:nvSpPr>
          <p:cNvPr id="20" name="">
            <a:extLst xmlns:a="http://schemas.openxmlformats.org/drawingml/2006/main">
              <a:ext uri="{FF2B5EF4-FFF2-40B4-BE49-F238E27FC236}">
                <a16:creationId xmlns:a16="http://schemas.microsoft.com/office/drawing/2014/main" id="{FC8B2EFB-5EA1-4CEB-AB14-7975E89DB817}"/>
              </a:ext>
            </a:extLst>
          </p:cNvPr>
          <p:cNvSpPr>
            <a:spLocks xmlns:a="http://schemas.openxmlformats.org/drawingml/2006/main" noGrp="1"/>
          </p:cNvSpPr>
          <p:nvPr/>
        </p:nvSpPr>
        <p:spPr>
          <a:xfrm xmlns:a="http://schemas.openxmlformats.org/drawingml/2006/main">
            <a:off x="6381750" y="2838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Content &amp; research</a:t>
            </a:r>
          </a:p>
        </p:txBody>
      </p:sp>
      <p:sp>
        <p:nvSpPr>
          <p:cNvPr id="21" name="">
            <a:extLst xmlns:a="http://schemas.openxmlformats.org/drawingml/2006/main">
              <a:ext uri="{FF2B5EF4-FFF2-40B4-BE49-F238E27FC236}">
                <a16:creationId xmlns:a16="http://schemas.microsoft.com/office/drawing/2014/main" id="{7BA5E3A8-C2AB-4FC2-93AC-11C9962A99C3}"/>
              </a:ext>
            </a:extLst>
          </p:cNvPr>
          <p:cNvSpPr>
            <a:spLocks xmlns:a="http://schemas.openxmlformats.org/drawingml/2006/main" noGrp="1"/>
          </p:cNvSpPr>
          <p:nvPr/>
        </p:nvSpPr>
        <p:spPr>
          <a:xfrm xmlns:a="http://schemas.openxmlformats.org/drawingml/2006/main">
            <a:off x="6381750" y="31432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061BBC4-CA1E-43AA-8070-CD6C823D5E90}"/>
              </a:ext>
            </a:extLst>
          </p:cNvPr>
          <p:cNvSpPr>
            <a:spLocks xmlns:a="http://schemas.openxmlformats.org/drawingml/2006/main" noGrp="1"/>
          </p:cNvSpPr>
          <p:nvPr/>
        </p:nvSpPr>
        <p:spPr>
          <a:xfrm xmlns:a="http://schemas.openxmlformats.org/drawingml/2006/main">
            <a:off x="6381750" y="3143250"/>
            <a:ext cx="2857500" cy="114300"/>
          </a:xfrm>
          <a:prstGeom xmlns:a="http://schemas.openxmlformats.org/drawingml/2006/main" prst="roundRect">
            <a:avLst>
              <a:gd name="adj" fmla="val 50000"/>
            </a:avLst>
          </a:prstGeom>
          <a:solidFill xmlns:a="http://schemas.openxmlformats.org/drawingml/2006/main">
            <a:srgbClr val="FF4F9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602ADDF-65C4-40DB-9F2B-9AE6A3A03AB3}"/>
              </a:ext>
            </a:extLst>
          </p:cNvPr>
          <p:cNvSpPr>
            <a:spLocks xmlns:a="http://schemas.openxmlformats.org/drawingml/2006/main" noGrp="1"/>
          </p:cNvSpPr>
          <p:nvPr/>
        </p:nvSpPr>
        <p:spPr>
          <a:xfrm xmlns:a="http://schemas.openxmlformats.org/drawingml/2006/main">
            <a:off x="10477500" y="3028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FF4F9A"/>
                </a:solidFill>
                <a:latin typeface="Arial"/>
                <a:ea typeface="Arial"/>
                <a:cs typeface="Arial"/>
              </a:defRPr>
            </a:pPr>
            <a:r>
              <a:rPr sz="1275" b="1">
                <a:solidFill>
                  <a:srgbClr val="FF4F9A"/>
                </a:solidFill>
                <a:latin typeface="Arial"/>
                <a:ea typeface="Arial"/>
                <a:cs typeface="Arial"/>
              </a:rPr>
              <a:t>25%</a:t>
            </a:r>
          </a:p>
        </p:txBody>
      </p:sp>
      <p:sp>
        <p:nvSpPr>
          <p:cNvPr id="24" name="">
            <a:extLst xmlns:a="http://schemas.openxmlformats.org/drawingml/2006/main">
              <a:ext uri="{FF2B5EF4-FFF2-40B4-BE49-F238E27FC236}">
                <a16:creationId xmlns:a16="http://schemas.microsoft.com/office/drawing/2014/main" id="{4ECEBE2A-7B76-4584-9F92-FA1318B947D3}"/>
              </a:ext>
            </a:extLst>
          </p:cNvPr>
          <p:cNvSpPr>
            <a:spLocks xmlns:a="http://schemas.openxmlformats.org/drawingml/2006/main" noGrp="1"/>
          </p:cNvSpPr>
          <p:nvPr/>
        </p:nvSpPr>
        <p:spPr>
          <a:xfrm xmlns:a="http://schemas.openxmlformats.org/drawingml/2006/main">
            <a:off x="6381750" y="34861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Visual and audio production</a:t>
            </a:r>
          </a:p>
        </p:txBody>
      </p:sp>
      <p:sp>
        <p:nvSpPr>
          <p:cNvPr id="25" name="">
            <a:extLst xmlns:a="http://schemas.openxmlformats.org/drawingml/2006/main">
              <a:ext uri="{FF2B5EF4-FFF2-40B4-BE49-F238E27FC236}">
                <a16:creationId xmlns:a16="http://schemas.microsoft.com/office/drawing/2014/main" id="{B2C883BB-DF96-42E6-9D45-F683D07601A5}"/>
              </a:ext>
            </a:extLst>
          </p:cNvPr>
          <p:cNvSpPr>
            <a:spLocks xmlns:a="http://schemas.openxmlformats.org/drawingml/2006/main" noGrp="1"/>
          </p:cNvSpPr>
          <p:nvPr/>
        </p:nvSpPr>
        <p:spPr>
          <a:xfrm xmlns:a="http://schemas.openxmlformats.org/drawingml/2006/main">
            <a:off x="6381750" y="37909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A33C0B1-EB64-40EC-97D7-AD9E758E90C1}"/>
              </a:ext>
            </a:extLst>
          </p:cNvPr>
          <p:cNvSpPr>
            <a:spLocks xmlns:a="http://schemas.openxmlformats.org/drawingml/2006/main" noGrp="1"/>
          </p:cNvSpPr>
          <p:nvPr/>
        </p:nvSpPr>
        <p:spPr>
          <a:xfrm xmlns:a="http://schemas.openxmlformats.org/drawingml/2006/main">
            <a:off x="6381750" y="3790950"/>
            <a:ext cx="2286000" cy="114300"/>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AFCDC64-FD39-4BB3-A012-2EA2E1C9AF79}"/>
              </a:ext>
            </a:extLst>
          </p:cNvPr>
          <p:cNvSpPr>
            <a:spLocks xmlns:a="http://schemas.openxmlformats.org/drawingml/2006/main" noGrp="1"/>
          </p:cNvSpPr>
          <p:nvPr/>
        </p:nvSpPr>
        <p:spPr>
          <a:xfrm xmlns:a="http://schemas.openxmlformats.org/drawingml/2006/main">
            <a:off x="10477500" y="36766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FFC857"/>
                </a:solidFill>
                <a:latin typeface="Arial"/>
                <a:ea typeface="Arial"/>
                <a:cs typeface="Arial"/>
              </a:defRPr>
            </a:pPr>
            <a:r>
              <a:rPr sz="1275" b="1">
                <a:solidFill>
                  <a:srgbClr val="FFC857"/>
                </a:solidFill>
                <a:latin typeface="Arial"/>
                <a:ea typeface="Arial"/>
                <a:cs typeface="Arial"/>
              </a:rPr>
              <a:t>20%</a:t>
            </a:r>
          </a:p>
        </p:txBody>
      </p:sp>
      <p:sp>
        <p:nvSpPr>
          <p:cNvPr id="28" name="">
            <a:extLst xmlns:a="http://schemas.openxmlformats.org/drawingml/2006/main">
              <a:ext uri="{FF2B5EF4-FFF2-40B4-BE49-F238E27FC236}">
                <a16:creationId xmlns:a16="http://schemas.microsoft.com/office/drawing/2014/main" id="{9BA1360F-BC13-4008-A5D1-30C5614588A8}"/>
              </a:ext>
            </a:extLst>
          </p:cNvPr>
          <p:cNvSpPr>
            <a:spLocks xmlns:a="http://schemas.openxmlformats.org/drawingml/2006/main" noGrp="1"/>
          </p:cNvSpPr>
          <p:nvPr/>
        </p:nvSpPr>
        <p:spPr>
          <a:xfrm xmlns:a="http://schemas.openxmlformats.org/drawingml/2006/main">
            <a:off x="6381750" y="41338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Launch &amp; community outreach</a:t>
            </a:r>
          </a:p>
        </p:txBody>
      </p:sp>
      <p:sp>
        <p:nvSpPr>
          <p:cNvPr id="29" name="">
            <a:extLst xmlns:a="http://schemas.openxmlformats.org/drawingml/2006/main">
              <a:ext uri="{FF2B5EF4-FFF2-40B4-BE49-F238E27FC236}">
                <a16:creationId xmlns:a16="http://schemas.microsoft.com/office/drawing/2014/main" id="{2CCAD87B-5874-43EF-AAC3-174CB0A89812}"/>
              </a:ext>
            </a:extLst>
          </p:cNvPr>
          <p:cNvSpPr>
            <a:spLocks xmlns:a="http://schemas.openxmlformats.org/drawingml/2006/main" noGrp="1"/>
          </p:cNvSpPr>
          <p:nvPr/>
        </p:nvSpPr>
        <p:spPr>
          <a:xfrm xmlns:a="http://schemas.openxmlformats.org/drawingml/2006/main">
            <a:off x="6381750" y="44386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11E1781-DC59-4DB2-96DA-60165200E48D}"/>
              </a:ext>
            </a:extLst>
          </p:cNvPr>
          <p:cNvSpPr>
            <a:spLocks xmlns:a="http://schemas.openxmlformats.org/drawingml/2006/main" noGrp="1"/>
          </p:cNvSpPr>
          <p:nvPr/>
        </p:nvSpPr>
        <p:spPr>
          <a:xfrm xmlns:a="http://schemas.openxmlformats.org/drawingml/2006/main">
            <a:off x="6381750" y="4438650"/>
            <a:ext cx="1371600" cy="114300"/>
          </a:xfrm>
          <a:prstGeom xmlns:a="http://schemas.openxmlformats.org/drawingml/2006/main" prst="roundRect">
            <a:avLst>
              <a:gd name="adj" fmla="val 50000"/>
            </a:avLst>
          </a:prstGeom>
          <a:solidFill xmlns:a="http://schemas.openxmlformats.org/drawingml/2006/main">
            <a:srgbClr val="45E0E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6F0B901-AB6F-4C58-B8F9-CFB344D7F256}"/>
              </a:ext>
            </a:extLst>
          </p:cNvPr>
          <p:cNvSpPr>
            <a:spLocks xmlns:a="http://schemas.openxmlformats.org/drawingml/2006/main" noGrp="1"/>
          </p:cNvSpPr>
          <p:nvPr/>
        </p:nvSpPr>
        <p:spPr>
          <a:xfrm xmlns:a="http://schemas.openxmlformats.org/drawingml/2006/main">
            <a:off x="10477500" y="4324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45E0E8"/>
                </a:solidFill>
                <a:latin typeface="Arial"/>
                <a:ea typeface="Arial"/>
                <a:cs typeface="Arial"/>
              </a:defRPr>
            </a:pPr>
            <a:r>
              <a:rPr sz="1275" b="1">
                <a:solidFill>
                  <a:srgbClr val="45E0E8"/>
                </a:solidFill>
                <a:latin typeface="Arial"/>
                <a:ea typeface="Arial"/>
                <a:cs typeface="Arial"/>
              </a:rPr>
              <a:t>12%</a:t>
            </a:r>
          </a:p>
        </p:txBody>
      </p:sp>
      <p:sp>
        <p:nvSpPr>
          <p:cNvPr id="32" name="">
            <a:extLst xmlns:a="http://schemas.openxmlformats.org/drawingml/2006/main">
              <a:ext uri="{FF2B5EF4-FFF2-40B4-BE49-F238E27FC236}">
                <a16:creationId xmlns:a16="http://schemas.microsoft.com/office/drawing/2014/main" id="{86632AA2-243F-46AC-8F76-624736125E9B}"/>
              </a:ext>
            </a:extLst>
          </p:cNvPr>
          <p:cNvSpPr>
            <a:spLocks xmlns:a="http://schemas.openxmlformats.org/drawingml/2006/main" noGrp="1"/>
          </p:cNvSpPr>
          <p:nvPr/>
        </p:nvSpPr>
        <p:spPr>
          <a:xfrm xmlns:a="http://schemas.openxmlformats.org/drawingml/2006/main">
            <a:off x="6381750" y="47815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Accessibility &amp; contingency</a:t>
            </a:r>
          </a:p>
        </p:txBody>
      </p:sp>
      <p:sp>
        <p:nvSpPr>
          <p:cNvPr id="33" name="">
            <a:extLst xmlns:a="http://schemas.openxmlformats.org/drawingml/2006/main">
              <a:ext uri="{FF2B5EF4-FFF2-40B4-BE49-F238E27FC236}">
                <a16:creationId xmlns:a16="http://schemas.microsoft.com/office/drawing/2014/main" id="{4FDA11A1-BE10-4DDF-A45B-E3C88BD45C06}"/>
              </a:ext>
            </a:extLst>
          </p:cNvPr>
          <p:cNvSpPr>
            <a:spLocks xmlns:a="http://schemas.openxmlformats.org/drawingml/2006/main" noGrp="1"/>
          </p:cNvSpPr>
          <p:nvPr/>
        </p:nvSpPr>
        <p:spPr>
          <a:xfrm xmlns:a="http://schemas.openxmlformats.org/drawingml/2006/main">
            <a:off x="6381750" y="5086350"/>
            <a:ext cx="4000500" cy="114300"/>
          </a:xfrm>
          <a:prstGeom xmlns:a="http://schemas.openxmlformats.org/drawingml/2006/main" prst="roundRect">
            <a:avLst>
              <a:gd name="adj" fmla="val 50000"/>
            </a:avLst>
          </a:prstGeom>
          <a:solidFill xmlns:a="http://schemas.openxmlformats.org/drawingml/2006/main">
            <a:srgbClr val="24283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829C7AC-AC00-4F89-B413-0C0ABB9E0FD1}"/>
              </a:ext>
            </a:extLst>
          </p:cNvPr>
          <p:cNvSpPr>
            <a:spLocks xmlns:a="http://schemas.openxmlformats.org/drawingml/2006/main" noGrp="1"/>
          </p:cNvSpPr>
          <p:nvPr/>
        </p:nvSpPr>
        <p:spPr>
          <a:xfrm xmlns:a="http://schemas.openxmlformats.org/drawingml/2006/main">
            <a:off x="6381750" y="5086350"/>
            <a:ext cx="914400" cy="114300"/>
          </a:xfrm>
          <a:prstGeom xmlns:a="http://schemas.openxmlformats.org/drawingml/2006/main" prst="roundRect">
            <a:avLst>
              <a:gd name="adj" fmla="val 50000"/>
            </a:avLst>
          </a:prstGeom>
          <a:solidFill xmlns:a="http://schemas.openxmlformats.org/drawingml/2006/main">
            <a:srgbClr val="74F0C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91AED0E-E157-43A4-8C2A-07C5CD1F6C67}"/>
              </a:ext>
            </a:extLst>
          </p:cNvPr>
          <p:cNvSpPr>
            <a:spLocks xmlns:a="http://schemas.openxmlformats.org/drawingml/2006/main" noGrp="1"/>
          </p:cNvSpPr>
          <p:nvPr/>
        </p:nvSpPr>
        <p:spPr>
          <a:xfrm xmlns:a="http://schemas.openxmlformats.org/drawingml/2006/main">
            <a:off x="10477500" y="49720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1275" b="1">
                <a:solidFill>
                  <a:srgbClr val="74F0C4"/>
                </a:solidFill>
                <a:latin typeface="Arial"/>
                <a:ea typeface="Arial"/>
                <a:cs typeface="Arial"/>
              </a:defRPr>
            </a:pPr>
            <a:r>
              <a:rPr sz="1275" b="1">
                <a:solidFill>
                  <a:srgbClr val="74F0C4"/>
                </a:solidFill>
                <a:latin typeface="Arial"/>
                <a:ea typeface="Arial"/>
                <a:cs typeface="Arial"/>
              </a:rPr>
              <a:t>8%</a:t>
            </a:r>
          </a:p>
        </p:txBody>
      </p:sp>
      <p:sp>
        <p:nvSpPr>
          <p:cNvPr id="36" name="">
            <a:extLst xmlns:a="http://schemas.openxmlformats.org/drawingml/2006/main">
              <a:ext uri="{FF2B5EF4-FFF2-40B4-BE49-F238E27FC236}">
                <a16:creationId xmlns:a16="http://schemas.microsoft.com/office/drawing/2014/main" id="{AFC68BB9-456F-48D2-8B54-C4C108369908}"/>
              </a:ext>
            </a:extLst>
          </p:cNvPr>
          <p:cNvSpPr>
            <a:spLocks xmlns:a="http://schemas.openxmlformats.org/drawingml/2006/main" noGrp="1"/>
          </p:cNvSpPr>
          <p:nvPr/>
        </p:nvSpPr>
        <p:spPr>
          <a:xfrm xmlns:a="http://schemas.openxmlformats.org/drawingml/2006/main">
            <a:off x="6410325" y="557212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975" b="0">
                <a:solidFill>
                  <a:srgbClr val="DAD6EA"/>
                </a:solidFill>
                <a:latin typeface="Arial"/>
                <a:ea typeface="Arial"/>
                <a:cs typeface="Arial"/>
              </a:defRPr>
            </a:pPr>
            <a:r>
              <a:rPr sz="975" b="0">
                <a:solidFill>
                  <a:srgbClr val="DAD6EA"/>
                </a:solidFill>
                <a:latin typeface="Arial"/>
                <a:ea typeface="Arial"/>
                <a:cs typeface="Arial"/>
              </a:rPr>
              <a:t>Proposed allocation; final amounts follow sponsor scope and procurement.</a:t>
            </a:r>
          </a:p>
        </p:txBody>
      </p:sp>
      <p:sp>
        <p:nvSpPr>
          <p:cNvPr id="37" name="">
            <a:extLst xmlns:a="http://schemas.openxmlformats.org/drawingml/2006/main">
              <a:ext uri="{FF2B5EF4-FFF2-40B4-BE49-F238E27FC236}">
                <a16:creationId xmlns:a16="http://schemas.microsoft.com/office/drawing/2014/main" id="{4776961D-4C9E-4A72-BD38-BA7042478BDD}"/>
              </a:ext>
            </a:extLst>
          </p:cNvPr>
          <p:cNvSpPr>
            <a:spLocks xmlns:a="http://schemas.openxmlformats.org/drawingml/2006/main" noGrp="1"/>
          </p:cNvSpPr>
          <p:nvPr/>
        </p:nvSpPr>
        <p:spPr>
          <a:xfrm xmlns:a="http://schemas.openxmlformats.org/drawingml/2006/main">
            <a:off x="666750" y="648652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8" name="">
            <a:extLst xmlns:a="http://schemas.openxmlformats.org/drawingml/2006/main">
              <a:ext uri="{FF2B5EF4-FFF2-40B4-BE49-F238E27FC236}">
                <a16:creationId xmlns:a16="http://schemas.microsoft.com/office/drawing/2014/main" id="{91A9896D-E750-4A77-9F6D-DD096894337D}"/>
              </a:ext>
            </a:extLst>
          </p:cNvPr>
          <p:cNvSpPr>
            <a:spLocks xmlns:a="http://schemas.openxmlformats.org/drawingml/2006/main" noGrp="1"/>
          </p:cNvSpPr>
          <p:nvPr/>
        </p:nvSpPr>
        <p:spPr>
          <a:xfrm xmlns:a="http://schemas.openxmlformats.org/drawingml/2006/main">
            <a:off x="1114425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r">
              <a:defRPr sz="750" b="1">
                <a:solidFill>
                  <a:srgbClr val="66647A"/>
                </a:solidFill>
                <a:latin typeface="Arial"/>
                <a:ea typeface="Arial"/>
                <a:cs typeface="Arial"/>
              </a:defRPr>
            </a:pPr>
            <a:r>
              <a:rPr sz="750" b="1">
                <a:solidFill>
                  <a:srgbClr val="66647A"/>
                </a:solidFill>
                <a:latin typeface="Arial"/>
                <a:ea typeface="Arial"/>
                <a:cs typeface="Arial"/>
              </a:rPr>
              <a:t>09</a:t>
            </a:r>
          </a:p>
        </p:txBody>
      </p:sp>
    </p:spTree>
    <p:extLst>
      <p:ext uri="{BB962C8B-B14F-4D97-AF65-F5344CB8AC3E}">
        <p14:creationId xmlns:p14="http://schemas.microsoft.com/office/powerpoint/2010/main" val="1336314000"/>
      </p:ext>
    </p:extLst>
  </p:cSld>
</p:sld>
</file>

<file path=ppt/slides/slide10.xml><?xml version="1.0" encoding="utf-8"?>
<p:sld xmlns:p="http://schemas.openxmlformats.org/presentationml/2006/main">
  <p:cSld>
    <p:bg>
      <p:bgPr>
        <a:solidFill xmlns:a="http://schemas.openxmlformats.org/drawingml/2006/main">
          <a:srgbClr val="080B1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27b418416624cf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43DFA4-DD35-4845-8151-DEBB36AD11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B1B">
              <a:alpha val="8509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90C623-6EA1-4B68-8CF0-353C4BD49DD3}"/>
              </a:ext>
            </a:extLst>
          </p:cNvPr>
          <p:cNvSpPr>
            <a:spLocks xmlns:a="http://schemas.openxmlformats.org/drawingml/2006/main" noGrp="1"/>
          </p:cNvSpPr>
          <p:nvPr/>
        </p:nvSpPr>
        <p:spPr>
          <a:xfrm xmlns:a="http://schemas.openxmlformats.org/drawingml/2006/main">
            <a:off x="1238250" y="1123950"/>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4350" b="1">
                <a:solidFill>
                  <a:srgbClr val="FFFFFF"/>
                </a:solidFill>
                <a:latin typeface="Arial"/>
                <a:ea typeface="Arial"/>
                <a:cs typeface="Arial"/>
              </a:defRPr>
            </a:pPr>
            <a:r>
              <a:rPr sz="4350" b="1">
                <a:solidFill>
                  <a:srgbClr val="FFFFFF"/>
                </a:solidFill>
                <a:latin typeface="Arial"/>
                <a:ea typeface="Arial"/>
                <a:cs typeface="Arial"/>
              </a:rPr>
              <a:t>FUND THE MIRROR</a:t>
            </a:r>
          </a:p>
        </p:txBody>
      </p:sp>
      <p:sp>
        <p:nvSpPr>
          <p:cNvPr id="4" name="">
            <a:extLst xmlns:a="http://schemas.openxmlformats.org/drawingml/2006/main">
              <a:ext uri="{FF2B5EF4-FFF2-40B4-BE49-F238E27FC236}">
                <a16:creationId xmlns:a16="http://schemas.microsoft.com/office/drawing/2014/main" id="{D08EF061-48FB-4D85-9983-FFEEAC1842DB}"/>
              </a:ext>
            </a:extLst>
          </p:cNvPr>
          <p:cNvSpPr>
            <a:spLocks xmlns:a="http://schemas.openxmlformats.org/drawingml/2006/main" noGrp="1"/>
          </p:cNvSpPr>
          <p:nvPr/>
        </p:nvSpPr>
        <p:spPr>
          <a:xfrm xmlns:a="http://schemas.openxmlformats.org/drawingml/2006/main">
            <a:off x="2095500" y="2266950"/>
            <a:ext cx="8001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025" b="1">
                <a:solidFill>
                  <a:srgbClr val="45E0E8"/>
                </a:solidFill>
                <a:latin typeface="Arial"/>
                <a:ea typeface="Arial"/>
                <a:cs typeface="Arial"/>
              </a:defRPr>
            </a:pPr>
            <a:r>
              <a:rPr sz="2025" b="1">
                <a:solidFill>
                  <a:srgbClr val="45E0E8"/>
                </a:solidFill>
                <a:latin typeface="Arial"/>
                <a:ea typeface="Arial"/>
                <a:cs typeface="Arial"/>
              </a:rPr>
              <a:t>Help turn a decade of Filipino memories into a museum people can enter, question, and continue.</a:t>
            </a:r>
          </a:p>
        </p:txBody>
      </p:sp>
      <p:sp>
        <p:nvSpPr>
          <p:cNvPr id="5" name="">
            <a:extLst xmlns:a="http://schemas.openxmlformats.org/drawingml/2006/main">
              <a:ext uri="{FF2B5EF4-FFF2-40B4-BE49-F238E27FC236}">
                <a16:creationId xmlns:a16="http://schemas.microsoft.com/office/drawing/2014/main" id="{FCBBDBC9-9006-4B15-9B8E-22224BB122A4}"/>
              </a:ext>
            </a:extLst>
          </p:cNvPr>
          <p:cNvSpPr>
            <a:spLocks xmlns:a="http://schemas.openxmlformats.org/drawingml/2006/main" noGrp="1"/>
          </p:cNvSpPr>
          <p:nvPr/>
        </p:nvSpPr>
        <p:spPr>
          <a:xfrm xmlns:a="http://schemas.openxmlformats.org/drawingml/2006/main">
            <a:off x="3276600" y="3695700"/>
            <a:ext cx="5638800" cy="685800"/>
          </a:xfrm>
          <a:prstGeom xmlns:a="http://schemas.openxmlformats.org/drawingml/2006/main" prst="roundRect">
            <a:avLst>
              <a:gd name="adj" fmla="val 16667"/>
            </a:avLst>
          </a:prstGeom>
          <a:solidFill xmlns:a="http://schemas.openxmlformats.org/drawingml/2006/main">
            <a:srgbClr val="FF4F9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70D462-3CA2-4AF8-9193-B696D1F22F14}"/>
              </a:ext>
            </a:extLst>
          </p:cNvPr>
          <p:cNvSpPr>
            <a:spLocks xmlns:a="http://schemas.openxmlformats.org/drawingml/2006/main" noGrp="1"/>
          </p:cNvSpPr>
          <p:nvPr/>
        </p:nvSpPr>
        <p:spPr>
          <a:xfrm xmlns:a="http://schemas.openxmlformats.org/drawingml/2006/main">
            <a:off x="3276600" y="3695700"/>
            <a:ext cx="5638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2025" b="1">
                <a:solidFill>
                  <a:srgbClr val="080B1B"/>
                </a:solidFill>
                <a:latin typeface="Arial"/>
                <a:ea typeface="Arial"/>
                <a:cs typeface="Arial"/>
              </a:defRPr>
            </a:pPr>
            <a:r>
              <a:rPr sz="2025" b="1">
                <a:solidFill>
                  <a:srgbClr val="080B1B"/>
                </a:solidFill>
                <a:latin typeface="Arial"/>
                <a:ea typeface="Arial"/>
                <a:cs typeface="Arial"/>
              </a:rPr>
              <a:t>SPONSOR THE PILOT</a:t>
            </a:r>
          </a:p>
        </p:txBody>
      </p:sp>
      <p:sp>
        <p:nvSpPr>
          <p:cNvPr id="7" name="">
            <a:extLst xmlns:a="http://schemas.openxmlformats.org/drawingml/2006/main">
              <a:ext uri="{FF2B5EF4-FFF2-40B4-BE49-F238E27FC236}">
                <a16:creationId xmlns:a16="http://schemas.microsoft.com/office/drawing/2014/main" id="{6631A881-F0F6-4D34-A223-CB406DA627C7}"/>
              </a:ext>
            </a:extLst>
          </p:cNvPr>
          <p:cNvSpPr>
            <a:spLocks xmlns:a="http://schemas.openxmlformats.org/drawingml/2006/main" noGrp="1"/>
          </p:cNvSpPr>
          <p:nvPr/>
        </p:nvSpPr>
        <p:spPr>
          <a:xfrm xmlns:a="http://schemas.openxmlformats.org/drawingml/2006/main">
            <a:off x="2476500" y="47625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1575" b="0">
                <a:solidFill>
                  <a:srgbClr val="FFFFFF"/>
                </a:solidFill>
                <a:latin typeface="Arial"/>
                <a:ea typeface="Arial"/>
                <a:cs typeface="Arial"/>
              </a:defRPr>
            </a:pPr>
            <a:r>
              <a:rPr sz="1575" b="0">
                <a:solidFill>
                  <a:srgbClr val="FFFFFF"/>
                </a:solidFill>
                <a:latin typeface="Arial"/>
                <a:ea typeface="Arial"/>
                <a:cs typeface="Arial"/>
              </a:rPr>
              <a:t>Because “nice, funny, approachable” deserves a proper archive.</a:t>
            </a:r>
          </a:p>
        </p:txBody>
      </p:sp>
      <p:sp>
        <p:nvSpPr>
          <p:cNvPr id="8" name="">
            <a:extLst xmlns:a="http://schemas.openxmlformats.org/drawingml/2006/main">
              <a:ext uri="{FF2B5EF4-FFF2-40B4-BE49-F238E27FC236}">
                <a16:creationId xmlns:a16="http://schemas.microsoft.com/office/drawing/2014/main" id="{25651AA9-90C2-4737-83A9-A36473A6535A}"/>
              </a:ext>
            </a:extLst>
          </p:cNvPr>
          <p:cNvSpPr>
            <a:spLocks xmlns:a="http://schemas.openxmlformats.org/drawingml/2006/main" noGrp="1"/>
          </p:cNvSpPr>
          <p:nvPr/>
        </p:nvSpPr>
        <p:spPr>
          <a:xfrm xmlns:a="http://schemas.openxmlformats.org/drawingml/2006/main">
            <a:off x="3810000" y="60960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900" b="1">
                <a:solidFill>
                  <a:srgbClr val="DAD6EA"/>
                </a:solidFill>
                <a:latin typeface="Arial"/>
                <a:ea typeface="Arial"/>
                <a:cs typeface="Arial"/>
              </a:defRPr>
            </a:pPr>
            <a:r>
              <a:rPr sz="900" b="1">
                <a:solidFill>
                  <a:srgbClr val="DAD6EA"/>
                </a:solidFill>
                <a:latin typeface="Arial"/>
                <a:ea typeface="Arial"/>
                <a:cs typeface="Arial"/>
              </a:rPr>
              <a:t>DIGITAL MIRROR  •  VISUAL MUSEUM PITCH</a:t>
            </a:r>
          </a:p>
        </p:txBody>
      </p:sp>
    </p:spTree>
    <p:extLst>
      <p:ext uri="{BB962C8B-B14F-4D97-AF65-F5344CB8AC3E}">
        <p14:creationId xmlns:p14="http://schemas.microsoft.com/office/powerpoint/2010/main" val="9947313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2026-09-21T11:56:27.5990000Z</dcterms:created>
  <dcterms:modified xsi:type="dcterms:W3CDTF">2026-09-21T11:56:27.6000000Z</dcterms:modified>
</coreProperties>
</file>