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day. We are pitching Digital Mirror, a visual museum about Filipino popular culture from 2000 to 2010. This was the decade when a Friendster testimonial could strengthen a friendship, end a friendship, or reveal that your friend only knew three adjectives: nice, funny, and approachable. We want to preserve more than objects. We want to preserve how television, fashion, performance, places, daily routines, technology, and globalization shaped Filipino identity. With your support, these memories become an interactive public experience rather than a folder called old pics final final two.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challenge is not that people forgot the 2000s. We remember very specific things. We remember television theme songs, unlimited texting, computer shops, videoke, and hairstyles that required commitment and possibly industrial equipment. What disappears is the connection between those memories and the larger cultural changes. Why did Friendster affect belonging? Why did malls and call-center districts change social space and time? Why did Korean, Taiwanese, Japanese, American, and European influences feel local after Filipinos adapted them? Digital Mirror gives those memories a structure, so nostalgia becomes cultural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museum uses seven lenses from the source material. Feelings covers excitement, kilig, belonging, and shared memories. Body and self-image examines fashion, hair, beauty, and identity. Performance includes karaoke, school competitions, bands, television, and audience participation. Space moves between malls, coffee shops, call-center districts, computer shops, and online communities. Time studies primetime routines, night shifts, and late-night unli-text. Technology follows phones, Friendster, cameras, gaming, and early online video. Globalization shows how Filipinos adapted influences from East Asia, the United States, and Europe. The galleries work together like one large mirror.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experience follows five steps. Visitors enter through a digital mirror that asks what shaped them. They choose a memory category, then interact with sound, images, prompts, and comparisons. Next, they contribute a short story or voice memory. The final screen creates a personal culture mirror that they can share. This is important because museums usually speak to visitors. Digital Mirror also listens. And yes, we will apply moderation, because the internet taught us one thing before anything else: never leave an open text box completely unattended.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exhibits make the museum memorable. The Friendster booth asks visitors to write a testimonial for their younger self, then connects that performance of identity to today’s social media. The computer-shop countdown recreates the very specific stress of having twelve minutes left, an unsaved assignment, and someone shouting that it is their turn. The kilig room explores how Asian dramas changed emotion, language, and fandom. The videoke meter rewards participation rather than pitch, which is both culturally accurate and merciful. Humor gets people inside; interpretation gives the experience lasting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tone matters. We are not building a lecture with neon wallpaper. We use humor because recognition creates attention. A visitor laughs at the computer-shop timer, then learns how paid access shaped time, friendship, and digital literacy. A Friendster testimonial looks simple, but it reveals early public identity management. The familiar line nice, funny, approachable becomes evidence of how young Filipinos learned to present themselves online. The joke opens the door. The interpretation makes sponsors part of something worth remembering, discussing, and sharing.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Digital Mirror reaches several audiences without diluting the idea. Students gain a research experience that feels discoverable. Millennials recognize their own memories and contribute context. Families compare generations. Educators gain material organized through clear cultural lenses. Creative communities can add local perspectives. Sponsors receive meaningful visibility around culture, learning, and digital access. The project avoids treating 2000 to 2010 as one identical national experience. Instead, it invites people to compare what they remember, where they lived, and which technologies they could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Sponsors fund cultural preservation, but they also receive practical value. The project creates visible brand presence at entry, within selected galleries, in launch materials, and in the final project report. We will measure visits, exhibit completion, submitted stories, and audience feedback. Sponsor visibility will remain clear without turning the museum into an advertisement. Visitor stories and personal information require consent and careful handling. That balance matters. People should remember who helped build the museum, not feel that the museum followed them home with a sales notification.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propose a focused pilot rather than an oversized first build. The pilot delivers a responsive web museum, seven galleries, three interactive experiences, twenty curated memory stories, a public launch, and a sponsor report. Our proposed funding allocation places thirty-five percent in experience and development, twenty-five percent in content and research, twenty percent in visual and audio production, twelve percent in launch and outreach, and eight percent in accessibility and contingency. These percentages guide planning; final amounts will follow the sponsor scope and procurement requirements. A pilot lets us test, measure, improve, and expand responsibly.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asking you to fund the Digital Mirror pilot. Your support will turn a decade of Filipino memories into a museum that people can enter, question, and continue. The project combines research with humor, participation, and accessible digital design. It preserves the emotional texture of the 2000s while explaining how culture shaped bodies, spaces, routines, technology, and identity. We have the concept, the content structure, and a focused pilot plan. With your investment, the mirror becomes public. And finally, nice, funny, approachable can receive the archive it has always deserved.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wav"/><Relationship Id="rId1" Type="http://schemas.microsoft.com/office/2007/relationships/media" Target="../media/media2.wav"/><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wav"/><Relationship Id="rId1" Type="http://schemas.microsoft.com/office/2007/relationships/media" Target="../media/media4.wav"/><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wav"/><Relationship Id="rId1" Type="http://schemas.microsoft.com/office/2007/relationships/media" Target="../media/media5.wav"/><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wav"/><Relationship Id="rId1" Type="http://schemas.microsoft.com/office/2007/relationships/media" Target="../media/media6.wav"/><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wav"/><Relationship Id="rId1" Type="http://schemas.microsoft.com/office/2007/relationships/media" Target="../media/media7.wav"/><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wav"/><Relationship Id="rId1" Type="http://schemas.microsoft.com/office/2007/relationships/media" Target="../media/media8.wav"/><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wav"/><Relationship Id="rId1" Type="http://schemas.microsoft.com/office/2007/relationships/media" Target="../media/media9.wav"/><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wav"/><Relationship Id="rId1" Type="http://schemas.microsoft.com/office/2007/relationships/media" Target="../media/media10.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5"/>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C35AEE5-2505-4B1E-AADC-968BE3AF16E8}"/>
              </a:ext>
            </a:extLst>
          </p:cNvPr>
          <p:cNvSpPr>
            <a:spLocks noGrp="1"/>
          </p:cNvSpPr>
          <p:nvPr/>
        </p:nvSpPr>
        <p:spPr>
          <a:xfrm>
            <a:off x="0" y="0"/>
            <a:ext cx="5810250" cy="6858000"/>
          </a:xfrm>
          <a:prstGeom prst="rect">
            <a:avLst/>
          </a:prstGeom>
          <a:solidFill>
            <a:srgbClr val="080B1B">
              <a:alpha val="90980"/>
            </a:srgbClr>
          </a:solidFill>
          <a:ln w="0">
            <a:noFill/>
          </a:ln>
        </p:spPr>
      </p:sp>
      <p:sp>
        <p:nvSpPr>
          <p:cNvPr id="3" name="Rectangle 2">
            <a:extLst>
              <a:ext uri="{FF2B5EF4-FFF2-40B4-BE49-F238E27FC236}">
                <a16:creationId xmlns:a16="http://schemas.microsoft.com/office/drawing/2014/main" id="{EF22F6B1-C39C-4B03-BF9A-5C35B28FECE6}"/>
              </a:ext>
            </a:extLst>
          </p:cNvPr>
          <p:cNvSpPr>
            <a:spLocks noGrp="1"/>
          </p:cNvSpPr>
          <p:nvPr/>
        </p:nvSpPr>
        <p:spPr>
          <a:xfrm>
            <a:off x="685800" y="1190625"/>
            <a:ext cx="4762500" cy="1571625"/>
          </a:xfrm>
          <a:prstGeom prst="rect">
            <a:avLst/>
          </a:prstGeom>
          <a:noFill/>
          <a:ln w="0">
            <a:noFill/>
          </a:ln>
        </p:spPr>
        <p:txBody>
          <a:bodyPr lIns="38100" tIns="19050" rIns="38100" bIns="19050" anchor="ctr">
            <a:normAutofit/>
          </a:bodyPr>
          <a:lstStyle/>
          <a:p>
            <a:pPr algn="l">
              <a:defRPr sz="4950" b="1">
                <a:solidFill>
                  <a:srgbClr val="FFFFFF"/>
                </a:solidFill>
                <a:latin typeface="Arial"/>
                <a:ea typeface="Arial"/>
                <a:cs typeface="Arial"/>
              </a:defRPr>
            </a:pPr>
            <a:r>
              <a:rPr sz="4950" b="1">
                <a:solidFill>
                  <a:srgbClr val="FFFFFF"/>
                </a:solidFill>
                <a:latin typeface="Arial"/>
                <a:ea typeface="Arial"/>
                <a:cs typeface="Arial"/>
              </a:rPr>
              <a:t>DIGITAL</a:t>
            </a:r>
          </a:p>
          <a:p>
            <a:pPr algn="l">
              <a:defRPr sz="4950" b="1">
                <a:solidFill>
                  <a:srgbClr val="FFFFFF"/>
                </a:solidFill>
                <a:latin typeface="Arial"/>
                <a:ea typeface="Arial"/>
                <a:cs typeface="Arial"/>
              </a:defRPr>
            </a:pPr>
            <a:r>
              <a:rPr sz="4950" b="1">
                <a:solidFill>
                  <a:srgbClr val="FFFFFF"/>
                </a:solidFill>
                <a:latin typeface="Arial"/>
                <a:ea typeface="Arial"/>
                <a:cs typeface="Arial"/>
              </a:rPr>
              <a:t>MIRROR</a:t>
            </a:r>
          </a:p>
        </p:txBody>
      </p:sp>
      <p:sp>
        <p:nvSpPr>
          <p:cNvPr id="4" name="Rectangle 3">
            <a:extLst>
              <a:ext uri="{FF2B5EF4-FFF2-40B4-BE49-F238E27FC236}">
                <a16:creationId xmlns:a16="http://schemas.microsoft.com/office/drawing/2014/main" id="{6D5A9E26-F5A8-4697-AC92-EA7C91030A91}"/>
              </a:ext>
            </a:extLst>
          </p:cNvPr>
          <p:cNvSpPr>
            <a:spLocks noGrp="1"/>
          </p:cNvSpPr>
          <p:nvPr/>
        </p:nvSpPr>
        <p:spPr>
          <a:xfrm>
            <a:off x="733425" y="2905125"/>
            <a:ext cx="4191000" cy="742950"/>
          </a:xfrm>
          <a:prstGeom prst="rect">
            <a:avLst/>
          </a:prstGeom>
          <a:noFill/>
          <a:ln w="0">
            <a:noFill/>
          </a:ln>
        </p:spPr>
        <p:txBody>
          <a:bodyPr lIns="38100" tIns="19050" rIns="38100" bIns="19050" anchor="ctr">
            <a:normAutofit/>
          </a:bodyPr>
          <a:lstStyle/>
          <a:p>
            <a:pPr algn="l">
              <a:defRPr sz="1800" b="1">
                <a:solidFill>
                  <a:srgbClr val="45E0E8"/>
                </a:solidFill>
                <a:latin typeface="Arial"/>
                <a:ea typeface="Arial"/>
                <a:cs typeface="Arial"/>
              </a:defRPr>
            </a:pPr>
            <a:r>
              <a:rPr sz="1800" b="1">
                <a:solidFill>
                  <a:srgbClr val="45E0E8"/>
                </a:solidFill>
                <a:latin typeface="Arial"/>
                <a:ea typeface="Arial"/>
                <a:cs typeface="Arial"/>
              </a:rPr>
              <a:t>A living visual museum of Filipino popular culture, 2000–2010</a:t>
            </a:r>
          </a:p>
        </p:txBody>
      </p:sp>
      <p:sp>
        <p:nvSpPr>
          <p:cNvPr id="5" name="Rectangle 4">
            <a:extLst>
              <a:ext uri="{FF2B5EF4-FFF2-40B4-BE49-F238E27FC236}">
                <a16:creationId xmlns:a16="http://schemas.microsoft.com/office/drawing/2014/main" id="{02DE22AA-6F3F-4606-A883-F1C393E2EBF7}"/>
              </a:ext>
            </a:extLst>
          </p:cNvPr>
          <p:cNvSpPr>
            <a:spLocks noGrp="1"/>
          </p:cNvSpPr>
          <p:nvPr/>
        </p:nvSpPr>
        <p:spPr>
          <a:xfrm>
            <a:off x="733425" y="3905250"/>
            <a:ext cx="3905250" cy="323850"/>
          </a:xfrm>
          <a:prstGeom prst="rect">
            <a:avLst/>
          </a:prstGeom>
          <a:noFill/>
          <a:ln w="0">
            <a:noFill/>
          </a:ln>
        </p:spPr>
        <p:txBody>
          <a:bodyPr lIns="38100" tIns="19050" rIns="38100" bIns="19050" anchor="ctr">
            <a:normAutofit/>
          </a:bodyPr>
          <a:lstStyle/>
          <a:p>
            <a:pPr algn="l">
              <a:defRPr sz="1200" b="0">
                <a:solidFill>
                  <a:srgbClr val="DAD6EA"/>
                </a:solidFill>
                <a:latin typeface="Arial"/>
                <a:ea typeface="Arial"/>
                <a:cs typeface="Arial"/>
              </a:defRPr>
            </a:pPr>
            <a:r>
              <a:rPr sz="1200" b="0">
                <a:solidFill>
                  <a:srgbClr val="DAD6EA"/>
                </a:solidFill>
                <a:latin typeface="Arial"/>
                <a:ea typeface="Arial"/>
                <a:cs typeface="Arial"/>
              </a:rPr>
              <a:t>Sponsor pitch  •  10-minute presentation</a:t>
            </a:r>
          </a:p>
        </p:txBody>
      </p:sp>
      <p:sp>
        <p:nvSpPr>
          <p:cNvPr id="6" name="Rectangle 5">
            <a:extLst>
              <a:ext uri="{FF2B5EF4-FFF2-40B4-BE49-F238E27FC236}">
                <a16:creationId xmlns:a16="http://schemas.microsoft.com/office/drawing/2014/main" id="{21C19277-3804-453B-8569-B9C68D0A8EC2}"/>
              </a:ext>
            </a:extLst>
          </p:cNvPr>
          <p:cNvSpPr>
            <a:spLocks noGrp="1"/>
          </p:cNvSpPr>
          <p:nvPr/>
        </p:nvSpPr>
        <p:spPr>
          <a:xfrm>
            <a:off x="733425" y="4619625"/>
            <a:ext cx="4286250" cy="685800"/>
          </a:xfrm>
          <a:prstGeom prst="rect">
            <a:avLst/>
          </a:prstGeom>
          <a:noFill/>
          <a:ln w="0">
            <a:noFill/>
          </a:ln>
        </p:spPr>
        <p:txBody>
          <a:bodyPr lIns="38100" tIns="19050" rIns="38100" bIns="19050" anchor="ctr">
            <a:normAutofit/>
          </a:bodyPr>
          <a:lstStyle/>
          <a:p>
            <a:pPr algn="l">
              <a:defRPr sz="1650" b="0">
                <a:solidFill>
                  <a:srgbClr val="FFFFFF"/>
                </a:solidFill>
                <a:latin typeface="Arial"/>
                <a:ea typeface="Arial"/>
                <a:cs typeface="Arial"/>
              </a:defRPr>
            </a:pPr>
            <a:r>
              <a:rPr sz="1650" b="0">
                <a:solidFill>
                  <a:srgbClr val="FFFFFF"/>
                </a:solidFill>
                <a:latin typeface="Arial"/>
                <a:ea typeface="Arial"/>
                <a:cs typeface="Arial"/>
              </a:rPr>
              <a:t>We saved the Friendster testimonials.</a:t>
            </a:r>
          </a:p>
          <a:p>
            <a:pPr algn="l">
              <a:defRPr sz="1650" b="0">
                <a:solidFill>
                  <a:srgbClr val="FFFFFF"/>
                </a:solidFill>
                <a:latin typeface="Arial"/>
                <a:ea typeface="Arial"/>
                <a:cs typeface="Arial"/>
              </a:defRPr>
            </a:pPr>
            <a:r>
              <a:rPr sz="1650" b="0">
                <a:solidFill>
                  <a:srgbClr val="FFFFFF"/>
                </a:solidFill>
                <a:latin typeface="Arial"/>
                <a:ea typeface="Arial"/>
                <a:cs typeface="Arial"/>
              </a:rPr>
              <a:t>Now let us save what they meant.</a:t>
            </a:r>
          </a:p>
        </p:txBody>
      </p:sp>
      <p:pic>
        <p:nvPicPr>
          <p:cNvPr id="8" name="slide-01">
            <a:hlinkClick r:id="" action="ppaction://media"/>
            <a:extLst>
              <a:ext uri="{FF2B5EF4-FFF2-40B4-BE49-F238E27FC236}">
                <a16:creationId xmlns:a16="http://schemas.microsoft.com/office/drawing/2014/main" id="{400424B2-81A5-C71C-814C-F96D88EBC46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690627516"/>
      </p:ext>
    </p:extLst>
  </p:cSld>
  <p:clrMapOvr>
    <a:masterClrMapping/>
  </p:clrMapOvr>
  <mc:AlternateContent xmlns:mc="http://schemas.openxmlformats.org/markup-compatibility/2006">
    <mc:Choice xmlns:p14="http://schemas.microsoft.com/office/powerpoint/2010/main" Requires="p14">
      <p:transition spd="slow" p14:dur="2000" advClick="0" advTm="45312">
        <p:fade/>
      </p:transition>
    </mc:Choice>
    <mc:Fallback>
      <p:transition spd="slow" advClick="0" advTm="4531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1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AB0A762-FFC9-4FB1-BC4A-4B17E7BE9B92}"/>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The memory gap</a:t>
            </a:r>
          </a:p>
        </p:txBody>
      </p:sp>
      <p:sp>
        <p:nvSpPr>
          <p:cNvPr id="2" name="Rectangle 1">
            <a:extLst>
              <a:ext uri="{FF2B5EF4-FFF2-40B4-BE49-F238E27FC236}">
                <a16:creationId xmlns:a16="http://schemas.microsoft.com/office/drawing/2014/main" id="{1827DE18-BBF2-44F7-BD94-D6BC4D7F01F2}"/>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A generation remembers the feeling, but the cultural context is disappearing</a:t>
            </a:r>
          </a:p>
        </p:txBody>
      </p:sp>
      <p:sp>
        <p:nvSpPr>
          <p:cNvPr id="3" name="Rectangle 2">
            <a:extLst>
              <a:ext uri="{FF2B5EF4-FFF2-40B4-BE49-F238E27FC236}">
                <a16:creationId xmlns:a16="http://schemas.microsoft.com/office/drawing/2014/main" id="{AAA4AC3B-F82D-4916-BA20-47C6716C1050}"/>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A171DB0A-0788-4F34-B17E-6022FF97F187}"/>
              </a:ext>
            </a:extLst>
          </p:cNvPr>
          <p:cNvSpPr>
            <a:spLocks noGrp="1"/>
          </p:cNvSpPr>
          <p:nvPr/>
        </p:nvSpPr>
        <p:spPr>
          <a:xfrm>
            <a:off x="742950" y="1809750"/>
            <a:ext cx="2667000" cy="438150"/>
          </a:xfrm>
          <a:prstGeom prst="rect">
            <a:avLst/>
          </a:prstGeom>
          <a:noFill/>
          <a:ln w="0">
            <a:noFill/>
          </a:ln>
        </p:spPr>
        <p:txBody>
          <a:bodyPr lIns="38100" tIns="19050" rIns="38100" bIns="19050" anchor="ctr">
            <a:normAutofit/>
          </a:bodyPr>
          <a:lstStyle/>
          <a:p>
            <a:pPr algn="l">
              <a:defRPr sz="1875" b="1">
                <a:solidFill>
                  <a:srgbClr val="6C4BF4"/>
                </a:solidFill>
                <a:latin typeface="Arial"/>
                <a:ea typeface="Arial"/>
                <a:cs typeface="Arial"/>
              </a:defRPr>
            </a:pPr>
            <a:r>
              <a:rPr sz="1875" b="1">
                <a:solidFill>
                  <a:srgbClr val="6C4BF4"/>
                </a:solidFill>
                <a:latin typeface="Arial"/>
                <a:ea typeface="Arial"/>
                <a:cs typeface="Arial"/>
              </a:rPr>
              <a:t>We remember…</a:t>
            </a:r>
          </a:p>
        </p:txBody>
      </p:sp>
      <p:sp>
        <p:nvSpPr>
          <p:cNvPr id="5" name="Rectangle 4">
            <a:extLst>
              <a:ext uri="{FF2B5EF4-FFF2-40B4-BE49-F238E27FC236}">
                <a16:creationId xmlns:a16="http://schemas.microsoft.com/office/drawing/2014/main" id="{5C2A7B25-4A0F-4A81-8734-B3344EC5872A}"/>
              </a:ext>
            </a:extLst>
          </p:cNvPr>
          <p:cNvSpPr>
            <a:spLocks noGrp="1"/>
          </p:cNvSpPr>
          <p:nvPr/>
        </p:nvSpPr>
        <p:spPr>
          <a:xfrm>
            <a:off x="952500" y="234315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the PBB theme song</a:t>
            </a:r>
          </a:p>
        </p:txBody>
      </p:sp>
      <p:sp>
        <p:nvSpPr>
          <p:cNvPr id="6" name="Rectangle: Rounded Corners 5">
            <a:extLst>
              <a:ext uri="{FF2B5EF4-FFF2-40B4-BE49-F238E27FC236}">
                <a16:creationId xmlns:a16="http://schemas.microsoft.com/office/drawing/2014/main" id="{B33BB835-B871-499D-8415-52D1554704AB}"/>
              </a:ext>
            </a:extLst>
          </p:cNvPr>
          <p:cNvSpPr>
            <a:spLocks noGrp="1"/>
          </p:cNvSpPr>
          <p:nvPr/>
        </p:nvSpPr>
        <p:spPr>
          <a:xfrm>
            <a:off x="742950" y="2476500"/>
            <a:ext cx="85725" cy="85725"/>
          </a:xfrm>
          <a:prstGeom prst="roundRect">
            <a:avLst>
              <a:gd name="adj" fmla="val 50000"/>
            </a:avLst>
          </a:prstGeom>
          <a:solidFill>
            <a:srgbClr val="45E0E8"/>
          </a:solidFill>
          <a:ln w="0">
            <a:noFill/>
          </a:ln>
        </p:spPr>
      </p:sp>
      <p:sp>
        <p:nvSpPr>
          <p:cNvPr id="7" name="Rectangle 6">
            <a:extLst>
              <a:ext uri="{FF2B5EF4-FFF2-40B4-BE49-F238E27FC236}">
                <a16:creationId xmlns:a16="http://schemas.microsoft.com/office/drawing/2014/main" id="{D5E66BF9-05DD-4465-8488-7812D149A8F1}"/>
              </a:ext>
            </a:extLst>
          </p:cNvPr>
          <p:cNvSpPr>
            <a:spLocks noGrp="1"/>
          </p:cNvSpPr>
          <p:nvPr/>
        </p:nvSpPr>
        <p:spPr>
          <a:xfrm>
            <a:off x="952500" y="285750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unli-text after midnight</a:t>
            </a:r>
          </a:p>
        </p:txBody>
      </p:sp>
      <p:sp>
        <p:nvSpPr>
          <p:cNvPr id="8" name="Rectangle: Rounded Corners 7">
            <a:extLst>
              <a:ext uri="{FF2B5EF4-FFF2-40B4-BE49-F238E27FC236}">
                <a16:creationId xmlns:a16="http://schemas.microsoft.com/office/drawing/2014/main" id="{3D9F95CA-31E1-4C7D-B224-5B8947BD6C74}"/>
              </a:ext>
            </a:extLst>
          </p:cNvPr>
          <p:cNvSpPr>
            <a:spLocks noGrp="1"/>
          </p:cNvSpPr>
          <p:nvPr/>
        </p:nvSpPr>
        <p:spPr>
          <a:xfrm>
            <a:off x="742950" y="2990850"/>
            <a:ext cx="85725" cy="85725"/>
          </a:xfrm>
          <a:prstGeom prst="roundRect">
            <a:avLst>
              <a:gd name="adj" fmla="val 50000"/>
            </a:avLst>
          </a:prstGeom>
          <a:solidFill>
            <a:srgbClr val="FF4F9A"/>
          </a:solidFill>
          <a:ln w="0">
            <a:noFill/>
          </a:ln>
        </p:spPr>
      </p:sp>
      <p:sp>
        <p:nvSpPr>
          <p:cNvPr id="9" name="Rectangle 8">
            <a:extLst>
              <a:ext uri="{FF2B5EF4-FFF2-40B4-BE49-F238E27FC236}">
                <a16:creationId xmlns:a16="http://schemas.microsoft.com/office/drawing/2014/main" id="{AF94077C-E9B5-4C0F-B466-A85CE7450105}"/>
              </a:ext>
            </a:extLst>
          </p:cNvPr>
          <p:cNvSpPr>
            <a:spLocks noGrp="1"/>
          </p:cNvSpPr>
          <p:nvPr/>
        </p:nvSpPr>
        <p:spPr>
          <a:xfrm>
            <a:off x="952500" y="337185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one paid hour at the computer shop</a:t>
            </a:r>
          </a:p>
        </p:txBody>
      </p:sp>
      <p:sp>
        <p:nvSpPr>
          <p:cNvPr id="10" name="Rectangle: Rounded Corners 9">
            <a:extLst>
              <a:ext uri="{FF2B5EF4-FFF2-40B4-BE49-F238E27FC236}">
                <a16:creationId xmlns:a16="http://schemas.microsoft.com/office/drawing/2014/main" id="{5D115A44-587B-40B7-A93B-4AD2923B2C24}"/>
              </a:ext>
            </a:extLst>
          </p:cNvPr>
          <p:cNvSpPr>
            <a:spLocks noGrp="1"/>
          </p:cNvSpPr>
          <p:nvPr/>
        </p:nvSpPr>
        <p:spPr>
          <a:xfrm>
            <a:off x="742950" y="3505200"/>
            <a:ext cx="85725" cy="85725"/>
          </a:xfrm>
          <a:prstGeom prst="roundRect">
            <a:avLst>
              <a:gd name="adj" fmla="val 50000"/>
            </a:avLst>
          </a:prstGeom>
          <a:solidFill>
            <a:srgbClr val="FFC857"/>
          </a:solidFill>
          <a:ln w="0">
            <a:noFill/>
          </a:ln>
        </p:spPr>
      </p:sp>
      <p:sp>
        <p:nvSpPr>
          <p:cNvPr id="11" name="Rectangle 10">
            <a:extLst>
              <a:ext uri="{FF2B5EF4-FFF2-40B4-BE49-F238E27FC236}">
                <a16:creationId xmlns:a16="http://schemas.microsoft.com/office/drawing/2014/main" id="{1E1D2524-F9C5-4AD7-B04A-4522C4582F95}"/>
              </a:ext>
            </a:extLst>
          </p:cNvPr>
          <p:cNvSpPr>
            <a:spLocks noGrp="1"/>
          </p:cNvSpPr>
          <p:nvPr/>
        </p:nvSpPr>
        <p:spPr>
          <a:xfrm>
            <a:off x="952500" y="388620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rebonded hair surviving humidity</a:t>
            </a:r>
          </a:p>
        </p:txBody>
      </p:sp>
      <p:sp>
        <p:nvSpPr>
          <p:cNvPr id="12" name="Rectangle: Rounded Corners 11">
            <a:extLst>
              <a:ext uri="{FF2B5EF4-FFF2-40B4-BE49-F238E27FC236}">
                <a16:creationId xmlns:a16="http://schemas.microsoft.com/office/drawing/2014/main" id="{06C30AB6-842A-4E4A-8B98-E210CA48AA07}"/>
              </a:ext>
            </a:extLst>
          </p:cNvPr>
          <p:cNvSpPr>
            <a:spLocks noGrp="1"/>
          </p:cNvSpPr>
          <p:nvPr/>
        </p:nvSpPr>
        <p:spPr>
          <a:xfrm>
            <a:off x="742950" y="4019550"/>
            <a:ext cx="85725" cy="85725"/>
          </a:xfrm>
          <a:prstGeom prst="roundRect">
            <a:avLst>
              <a:gd name="adj" fmla="val 50000"/>
            </a:avLst>
          </a:prstGeom>
          <a:solidFill>
            <a:srgbClr val="6C4BF4"/>
          </a:solidFill>
          <a:ln w="0">
            <a:noFill/>
          </a:ln>
        </p:spPr>
      </p:sp>
      <p:sp>
        <p:nvSpPr>
          <p:cNvPr id="13" name="Rectangle 12">
            <a:extLst>
              <a:ext uri="{FF2B5EF4-FFF2-40B4-BE49-F238E27FC236}">
                <a16:creationId xmlns:a16="http://schemas.microsoft.com/office/drawing/2014/main" id="{993A6727-2F26-4695-A6AD-8CDC3886175F}"/>
              </a:ext>
            </a:extLst>
          </p:cNvPr>
          <p:cNvSpPr>
            <a:spLocks noGrp="1"/>
          </p:cNvSpPr>
          <p:nvPr/>
        </p:nvSpPr>
        <p:spPr>
          <a:xfrm>
            <a:off x="952500" y="4400550"/>
            <a:ext cx="4572000" cy="400050"/>
          </a:xfrm>
          <a:prstGeom prst="rect">
            <a:avLst/>
          </a:prstGeom>
          <a:noFill/>
          <a:ln w="0">
            <a:noFill/>
          </a:ln>
        </p:spPr>
        <p:txBody>
          <a:bodyPr lIns="38100" tIns="19050" rIns="38100" bIns="19050" anchor="ctr">
            <a:normAutofit/>
          </a:bodyPr>
          <a:lstStyle/>
          <a:p>
            <a:pPr algn="l">
              <a:defRPr sz="1575" b="1">
                <a:solidFill>
                  <a:srgbClr val="11142A"/>
                </a:solidFill>
                <a:latin typeface="Arial"/>
                <a:ea typeface="Arial"/>
                <a:cs typeface="Arial"/>
              </a:defRPr>
            </a:pPr>
            <a:r>
              <a:rPr sz="1575" b="1">
                <a:solidFill>
                  <a:srgbClr val="11142A"/>
                </a:solidFill>
                <a:latin typeface="Arial"/>
                <a:ea typeface="Arial"/>
                <a:cs typeface="Arial"/>
              </a:rPr>
              <a:t>videoke confidence at 2% accuracy</a:t>
            </a:r>
          </a:p>
        </p:txBody>
      </p:sp>
      <p:sp>
        <p:nvSpPr>
          <p:cNvPr id="14" name="Rectangle: Rounded Corners 13">
            <a:extLst>
              <a:ext uri="{FF2B5EF4-FFF2-40B4-BE49-F238E27FC236}">
                <a16:creationId xmlns:a16="http://schemas.microsoft.com/office/drawing/2014/main" id="{2AA60890-466C-434B-84F7-9234EBA22000}"/>
              </a:ext>
            </a:extLst>
          </p:cNvPr>
          <p:cNvSpPr>
            <a:spLocks noGrp="1"/>
          </p:cNvSpPr>
          <p:nvPr/>
        </p:nvSpPr>
        <p:spPr>
          <a:xfrm>
            <a:off x="742950" y="4533900"/>
            <a:ext cx="85725" cy="85725"/>
          </a:xfrm>
          <a:prstGeom prst="roundRect">
            <a:avLst>
              <a:gd name="adj" fmla="val 50000"/>
            </a:avLst>
          </a:prstGeom>
          <a:solidFill>
            <a:srgbClr val="74F0C4"/>
          </a:solidFill>
          <a:ln w="0">
            <a:noFill/>
          </a:ln>
        </p:spPr>
      </p:sp>
      <p:sp>
        <p:nvSpPr>
          <p:cNvPr id="15" name="Rectangle: Rounded Corners 14">
            <a:extLst>
              <a:ext uri="{FF2B5EF4-FFF2-40B4-BE49-F238E27FC236}">
                <a16:creationId xmlns:a16="http://schemas.microsoft.com/office/drawing/2014/main" id="{17E0C94A-1038-4C81-BAA5-D6B9515F49F9}"/>
              </a:ext>
            </a:extLst>
          </p:cNvPr>
          <p:cNvSpPr>
            <a:spLocks noGrp="1"/>
          </p:cNvSpPr>
          <p:nvPr/>
        </p:nvSpPr>
        <p:spPr>
          <a:xfrm>
            <a:off x="6191250" y="1781175"/>
            <a:ext cx="4953000" cy="3429000"/>
          </a:xfrm>
          <a:prstGeom prst="roundRect">
            <a:avLst>
              <a:gd name="adj" fmla="val 5000"/>
            </a:avLst>
          </a:prstGeom>
          <a:solidFill>
            <a:srgbClr val="11142A"/>
          </a:solidFill>
          <a:ln w="0">
            <a:noFill/>
          </a:ln>
        </p:spPr>
      </p:sp>
      <p:sp>
        <p:nvSpPr>
          <p:cNvPr id="16" name="Rectangle 15">
            <a:extLst>
              <a:ext uri="{FF2B5EF4-FFF2-40B4-BE49-F238E27FC236}">
                <a16:creationId xmlns:a16="http://schemas.microsoft.com/office/drawing/2014/main" id="{7F0B2050-AFCD-4FC8-A215-B71C97CBCDA0}"/>
              </a:ext>
            </a:extLst>
          </p:cNvPr>
          <p:cNvSpPr>
            <a:spLocks noGrp="1"/>
          </p:cNvSpPr>
          <p:nvPr/>
        </p:nvSpPr>
        <p:spPr>
          <a:xfrm>
            <a:off x="6667500" y="2143125"/>
            <a:ext cx="4000500" cy="523875"/>
          </a:xfrm>
          <a:prstGeom prst="rect">
            <a:avLst/>
          </a:prstGeom>
          <a:noFill/>
          <a:ln w="0">
            <a:noFill/>
          </a:ln>
        </p:spPr>
        <p:txBody>
          <a:bodyPr lIns="38100" tIns="19050" rIns="38100" bIns="19050" anchor="ctr">
            <a:normAutofit fontScale="95450"/>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But memory alone cannot explain</a:t>
            </a:r>
          </a:p>
        </p:txBody>
      </p:sp>
      <p:sp>
        <p:nvSpPr>
          <p:cNvPr id="17" name="Rectangle 16">
            <a:extLst>
              <a:ext uri="{FF2B5EF4-FFF2-40B4-BE49-F238E27FC236}">
                <a16:creationId xmlns:a16="http://schemas.microsoft.com/office/drawing/2014/main" id="{6754712F-F492-4CB4-90C7-25405096E925}"/>
              </a:ext>
            </a:extLst>
          </p:cNvPr>
          <p:cNvSpPr>
            <a:spLocks noGrp="1"/>
          </p:cNvSpPr>
          <p:nvPr/>
        </p:nvSpPr>
        <p:spPr>
          <a:xfrm>
            <a:off x="6810375" y="2876550"/>
            <a:ext cx="3714750" cy="1809750"/>
          </a:xfrm>
          <a:prstGeom prst="rect">
            <a:avLst/>
          </a:prstGeom>
          <a:noFill/>
          <a:ln w="0">
            <a:noFill/>
          </a:ln>
        </p:spPr>
        <p:txBody>
          <a:bodyPr lIns="38100" tIns="19050" rIns="38100" bIns="19050" anchor="ctr">
            <a:normAutofit/>
          </a:bodyPr>
          <a:lstStyle/>
          <a:p>
            <a:pPr algn="ctr">
              <a:defRPr sz="1650" b="0">
                <a:solidFill>
                  <a:srgbClr val="DAD6EA"/>
                </a:solidFill>
                <a:latin typeface="Arial"/>
                <a:ea typeface="Arial"/>
                <a:cs typeface="Arial"/>
              </a:defRPr>
            </a:pPr>
            <a:r>
              <a:rPr sz="1650" b="0">
                <a:solidFill>
                  <a:srgbClr val="DAD6EA"/>
                </a:solidFill>
                <a:latin typeface="Arial"/>
                <a:ea typeface="Arial"/>
                <a:cs typeface="Arial"/>
              </a:rPr>
              <a:t>how media shaped feelings</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fashion shaped self-image</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new spaces changed behavior</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technology changed relationships</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global culture became Filipino</a:t>
            </a:r>
          </a:p>
        </p:txBody>
      </p:sp>
      <p:sp>
        <p:nvSpPr>
          <p:cNvPr id="18" name="Rectangle 17">
            <a:extLst>
              <a:ext uri="{FF2B5EF4-FFF2-40B4-BE49-F238E27FC236}">
                <a16:creationId xmlns:a16="http://schemas.microsoft.com/office/drawing/2014/main" id="{EB57BA76-2967-49A5-9C01-B05E98B2E484}"/>
              </a:ext>
            </a:extLst>
          </p:cNvPr>
          <p:cNvSpPr>
            <a:spLocks noGrp="1"/>
          </p:cNvSpPr>
          <p:nvPr/>
        </p:nvSpPr>
        <p:spPr>
          <a:xfrm>
            <a:off x="6238875" y="5524500"/>
            <a:ext cx="4857750" cy="419100"/>
          </a:xfrm>
          <a:prstGeom prst="rect">
            <a:avLst/>
          </a:prstGeom>
          <a:noFill/>
          <a:ln w="0">
            <a:noFill/>
          </a:ln>
        </p:spPr>
        <p:txBody>
          <a:bodyPr lIns="38100" tIns="19050" rIns="38100" bIns="19050" anchor="ctr">
            <a:normAutofit fontScale="96693"/>
          </a:bodyPr>
          <a:lstStyle/>
          <a:p>
            <a:pPr algn="ctr">
              <a:defRPr sz="1725" b="1">
                <a:solidFill>
                  <a:srgbClr val="FF4F9A"/>
                </a:solidFill>
                <a:latin typeface="Arial"/>
                <a:ea typeface="Arial"/>
                <a:cs typeface="Arial"/>
              </a:defRPr>
            </a:pPr>
            <a:r>
              <a:rPr sz="1725" b="1">
                <a:solidFill>
                  <a:srgbClr val="FF4F9A"/>
                </a:solidFill>
                <a:latin typeface="Arial"/>
                <a:ea typeface="Arial"/>
                <a:cs typeface="Arial"/>
              </a:rPr>
              <a:t>Digital Mirror connects the joke to the meaning.</a:t>
            </a:r>
          </a:p>
        </p:txBody>
      </p:sp>
      <p:sp>
        <p:nvSpPr>
          <p:cNvPr id="19" name="Rectangle 18">
            <a:extLst>
              <a:ext uri="{FF2B5EF4-FFF2-40B4-BE49-F238E27FC236}">
                <a16:creationId xmlns:a16="http://schemas.microsoft.com/office/drawing/2014/main" id="{E3C20D28-46D0-49C2-AC08-B4698A421760}"/>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0" name="Rectangle 19">
            <a:extLst>
              <a:ext uri="{FF2B5EF4-FFF2-40B4-BE49-F238E27FC236}">
                <a16:creationId xmlns:a16="http://schemas.microsoft.com/office/drawing/2014/main" id="{00E45560-407F-44D4-9774-012CF5507B0A}"/>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02</a:t>
            </a:r>
          </a:p>
        </p:txBody>
      </p:sp>
      <p:pic>
        <p:nvPicPr>
          <p:cNvPr id="22" name="slide-02">
            <a:hlinkClick r:id="" action="ppaction://media"/>
            <a:extLst>
              <a:ext uri="{FF2B5EF4-FFF2-40B4-BE49-F238E27FC236}">
                <a16:creationId xmlns:a16="http://schemas.microsoft.com/office/drawing/2014/main" id="{25DBEE5C-8A7F-1435-5BF1-0991B647AFC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14482236"/>
      </p:ext>
    </p:extLst>
  </p:cSld>
  <p:clrMapOvr>
    <a:masterClrMapping/>
  </p:clrMapOvr>
  <mc:AlternateContent xmlns:mc="http://schemas.openxmlformats.org/markup-compatibility/2006">
    <mc:Choice xmlns:p14="http://schemas.microsoft.com/office/powerpoint/2010/main" Requires="p14">
      <p:transition spd="slow" p14:dur="2000" advClick="0" advTm="49861">
        <p:fade/>
      </p:transition>
    </mc:Choice>
    <mc:Fallback>
      <p:transition spd="slow" advClick="0" advTm="498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66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16D4FA4-1D83-49EC-BB6E-0C32BC0BBFE9}"/>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Seven views of one decade</a:t>
            </a:r>
          </a:p>
        </p:txBody>
      </p:sp>
      <p:sp>
        <p:nvSpPr>
          <p:cNvPr id="2" name="Rectangle 1">
            <a:extLst>
              <a:ext uri="{FF2B5EF4-FFF2-40B4-BE49-F238E27FC236}">
                <a16:creationId xmlns:a16="http://schemas.microsoft.com/office/drawing/2014/main" id="{9F114478-FB26-437B-9EC2-531C9FAFAAD2}"/>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Each gallery reflects a different way popular culture shaped everyday life</a:t>
            </a:r>
          </a:p>
        </p:txBody>
      </p:sp>
      <p:sp>
        <p:nvSpPr>
          <p:cNvPr id="3" name="Rectangle 2">
            <a:extLst>
              <a:ext uri="{FF2B5EF4-FFF2-40B4-BE49-F238E27FC236}">
                <a16:creationId xmlns:a16="http://schemas.microsoft.com/office/drawing/2014/main" id="{C9DD76DC-301E-4979-8DC6-34F76BF5B80A}"/>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50BF548A-275D-4C0C-BC06-F6C830DEEA7C}"/>
              </a:ext>
            </a:extLst>
          </p:cNvPr>
          <p:cNvSpPr>
            <a:spLocks noGrp="1"/>
          </p:cNvSpPr>
          <p:nvPr/>
        </p:nvSpPr>
        <p:spPr>
          <a:xfrm>
            <a:off x="742950" y="1847850"/>
            <a:ext cx="2457450" cy="1314450"/>
          </a:xfrm>
          <a:prstGeom prst="roundRect">
            <a:avLst>
              <a:gd name="adj" fmla="val 10145"/>
            </a:avLst>
          </a:prstGeom>
          <a:solidFill>
            <a:srgbClr val="6C4BF4"/>
          </a:solidFill>
          <a:ln w="0">
            <a:noFill/>
          </a:ln>
        </p:spPr>
      </p:sp>
      <p:sp>
        <p:nvSpPr>
          <p:cNvPr id="5" name="Rectangle 4">
            <a:extLst>
              <a:ext uri="{FF2B5EF4-FFF2-40B4-BE49-F238E27FC236}">
                <a16:creationId xmlns:a16="http://schemas.microsoft.com/office/drawing/2014/main" id="{6DD20CB5-61B3-47EB-8A2A-2F635F3258DA}"/>
              </a:ext>
            </a:extLst>
          </p:cNvPr>
          <p:cNvSpPr>
            <a:spLocks noGrp="1"/>
          </p:cNvSpPr>
          <p:nvPr/>
        </p:nvSpPr>
        <p:spPr>
          <a:xfrm>
            <a:off x="89535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01</a:t>
            </a:r>
          </a:p>
        </p:txBody>
      </p:sp>
      <p:sp>
        <p:nvSpPr>
          <p:cNvPr id="6" name="Rectangle 5">
            <a:extLst>
              <a:ext uri="{FF2B5EF4-FFF2-40B4-BE49-F238E27FC236}">
                <a16:creationId xmlns:a16="http://schemas.microsoft.com/office/drawing/2014/main" id="{98C5EA69-D3CD-4940-BAF2-AE34DF0C9695}"/>
              </a:ext>
            </a:extLst>
          </p:cNvPr>
          <p:cNvSpPr>
            <a:spLocks noGrp="1"/>
          </p:cNvSpPr>
          <p:nvPr/>
        </p:nvSpPr>
        <p:spPr>
          <a:xfrm>
            <a:off x="91440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FEELINGS</a:t>
            </a:r>
          </a:p>
        </p:txBody>
      </p:sp>
      <p:sp>
        <p:nvSpPr>
          <p:cNvPr id="7" name="Rectangle 6">
            <a:extLst>
              <a:ext uri="{FF2B5EF4-FFF2-40B4-BE49-F238E27FC236}">
                <a16:creationId xmlns:a16="http://schemas.microsoft.com/office/drawing/2014/main" id="{29940218-5B65-44FE-807B-572BFD8603E7}"/>
              </a:ext>
            </a:extLst>
          </p:cNvPr>
          <p:cNvSpPr>
            <a:spLocks noGrp="1"/>
          </p:cNvSpPr>
          <p:nvPr/>
        </p:nvSpPr>
        <p:spPr>
          <a:xfrm>
            <a:off x="91440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kilig, belonging, excitement</a:t>
            </a:r>
          </a:p>
        </p:txBody>
      </p:sp>
      <p:sp>
        <p:nvSpPr>
          <p:cNvPr id="8" name="Rectangle: Rounded Corners 7">
            <a:extLst>
              <a:ext uri="{FF2B5EF4-FFF2-40B4-BE49-F238E27FC236}">
                <a16:creationId xmlns:a16="http://schemas.microsoft.com/office/drawing/2014/main" id="{33C23E00-DC29-4F10-9C77-FDD2C0924052}"/>
              </a:ext>
            </a:extLst>
          </p:cNvPr>
          <p:cNvSpPr>
            <a:spLocks noGrp="1"/>
          </p:cNvSpPr>
          <p:nvPr/>
        </p:nvSpPr>
        <p:spPr>
          <a:xfrm>
            <a:off x="3467100" y="1847850"/>
            <a:ext cx="2457450" cy="1314450"/>
          </a:xfrm>
          <a:prstGeom prst="roundRect">
            <a:avLst>
              <a:gd name="adj" fmla="val 10145"/>
            </a:avLst>
          </a:prstGeom>
          <a:solidFill>
            <a:srgbClr val="FF4F9A"/>
          </a:solidFill>
          <a:ln w="0">
            <a:noFill/>
          </a:ln>
        </p:spPr>
      </p:sp>
      <p:sp>
        <p:nvSpPr>
          <p:cNvPr id="9" name="Rectangle 8">
            <a:extLst>
              <a:ext uri="{FF2B5EF4-FFF2-40B4-BE49-F238E27FC236}">
                <a16:creationId xmlns:a16="http://schemas.microsoft.com/office/drawing/2014/main" id="{FCF2B6B9-4B73-444A-947F-4B5C76107AFA}"/>
              </a:ext>
            </a:extLst>
          </p:cNvPr>
          <p:cNvSpPr>
            <a:spLocks noGrp="1"/>
          </p:cNvSpPr>
          <p:nvPr/>
        </p:nvSpPr>
        <p:spPr>
          <a:xfrm>
            <a:off x="361950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02</a:t>
            </a:r>
          </a:p>
        </p:txBody>
      </p:sp>
      <p:sp>
        <p:nvSpPr>
          <p:cNvPr id="10" name="Rectangle 9">
            <a:extLst>
              <a:ext uri="{FF2B5EF4-FFF2-40B4-BE49-F238E27FC236}">
                <a16:creationId xmlns:a16="http://schemas.microsoft.com/office/drawing/2014/main" id="{69F82CD0-1631-4B85-8A12-A9ACC3296E09}"/>
              </a:ext>
            </a:extLst>
          </p:cNvPr>
          <p:cNvSpPr>
            <a:spLocks noGrp="1"/>
          </p:cNvSpPr>
          <p:nvPr/>
        </p:nvSpPr>
        <p:spPr>
          <a:xfrm>
            <a:off x="363855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SELF-IMAGE</a:t>
            </a:r>
          </a:p>
        </p:txBody>
      </p:sp>
      <p:sp>
        <p:nvSpPr>
          <p:cNvPr id="11" name="Rectangle 10">
            <a:extLst>
              <a:ext uri="{FF2B5EF4-FFF2-40B4-BE49-F238E27FC236}">
                <a16:creationId xmlns:a16="http://schemas.microsoft.com/office/drawing/2014/main" id="{F52B4BCA-F37D-4DBF-928B-AE0DA773586A}"/>
              </a:ext>
            </a:extLst>
          </p:cNvPr>
          <p:cNvSpPr>
            <a:spLocks noGrp="1"/>
          </p:cNvSpPr>
          <p:nvPr/>
        </p:nvSpPr>
        <p:spPr>
          <a:xfrm>
            <a:off x="363855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fashion, hair, confidence</a:t>
            </a:r>
          </a:p>
        </p:txBody>
      </p:sp>
      <p:sp>
        <p:nvSpPr>
          <p:cNvPr id="12" name="Rectangle: Rounded Corners 11">
            <a:extLst>
              <a:ext uri="{FF2B5EF4-FFF2-40B4-BE49-F238E27FC236}">
                <a16:creationId xmlns:a16="http://schemas.microsoft.com/office/drawing/2014/main" id="{CD42E5CF-7B9A-4CB5-BCDA-678A59A19A73}"/>
              </a:ext>
            </a:extLst>
          </p:cNvPr>
          <p:cNvSpPr>
            <a:spLocks noGrp="1"/>
          </p:cNvSpPr>
          <p:nvPr/>
        </p:nvSpPr>
        <p:spPr>
          <a:xfrm>
            <a:off x="6191250" y="1847850"/>
            <a:ext cx="2457450" cy="1314450"/>
          </a:xfrm>
          <a:prstGeom prst="roundRect">
            <a:avLst>
              <a:gd name="adj" fmla="val 10145"/>
            </a:avLst>
          </a:prstGeom>
          <a:solidFill>
            <a:srgbClr val="FFC857"/>
          </a:solidFill>
          <a:ln w="0">
            <a:noFill/>
          </a:ln>
        </p:spPr>
      </p:sp>
      <p:sp>
        <p:nvSpPr>
          <p:cNvPr id="13" name="Rectangle 12">
            <a:extLst>
              <a:ext uri="{FF2B5EF4-FFF2-40B4-BE49-F238E27FC236}">
                <a16:creationId xmlns:a16="http://schemas.microsoft.com/office/drawing/2014/main" id="{F5EE4237-3067-42E1-A595-4099CDFC4092}"/>
              </a:ext>
            </a:extLst>
          </p:cNvPr>
          <p:cNvSpPr>
            <a:spLocks noGrp="1"/>
          </p:cNvSpPr>
          <p:nvPr/>
        </p:nvSpPr>
        <p:spPr>
          <a:xfrm>
            <a:off x="634365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03</a:t>
            </a:r>
          </a:p>
        </p:txBody>
      </p:sp>
      <p:sp>
        <p:nvSpPr>
          <p:cNvPr id="14" name="Rectangle 13">
            <a:extLst>
              <a:ext uri="{FF2B5EF4-FFF2-40B4-BE49-F238E27FC236}">
                <a16:creationId xmlns:a16="http://schemas.microsoft.com/office/drawing/2014/main" id="{A1A7827E-1B98-447F-A540-711A9D929C8C}"/>
              </a:ext>
            </a:extLst>
          </p:cNvPr>
          <p:cNvSpPr>
            <a:spLocks noGrp="1"/>
          </p:cNvSpPr>
          <p:nvPr/>
        </p:nvSpPr>
        <p:spPr>
          <a:xfrm>
            <a:off x="636270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PERFORMANCE</a:t>
            </a:r>
          </a:p>
        </p:txBody>
      </p:sp>
      <p:sp>
        <p:nvSpPr>
          <p:cNvPr id="15" name="Rectangle 14">
            <a:extLst>
              <a:ext uri="{FF2B5EF4-FFF2-40B4-BE49-F238E27FC236}">
                <a16:creationId xmlns:a16="http://schemas.microsoft.com/office/drawing/2014/main" id="{EF1E3961-BF4A-4FD6-94A4-B19F670EDCF5}"/>
              </a:ext>
            </a:extLst>
          </p:cNvPr>
          <p:cNvSpPr>
            <a:spLocks noGrp="1"/>
          </p:cNvSpPr>
          <p:nvPr/>
        </p:nvSpPr>
        <p:spPr>
          <a:xfrm>
            <a:off x="636270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singing, dance, television</a:t>
            </a:r>
          </a:p>
        </p:txBody>
      </p:sp>
      <p:sp>
        <p:nvSpPr>
          <p:cNvPr id="16" name="Rectangle: Rounded Corners 15">
            <a:extLst>
              <a:ext uri="{FF2B5EF4-FFF2-40B4-BE49-F238E27FC236}">
                <a16:creationId xmlns:a16="http://schemas.microsoft.com/office/drawing/2014/main" id="{63F505B4-AC6E-4756-8242-F27F6DB3CB0B}"/>
              </a:ext>
            </a:extLst>
          </p:cNvPr>
          <p:cNvSpPr>
            <a:spLocks noGrp="1"/>
          </p:cNvSpPr>
          <p:nvPr/>
        </p:nvSpPr>
        <p:spPr>
          <a:xfrm>
            <a:off x="8915400" y="1847850"/>
            <a:ext cx="2457450" cy="1314450"/>
          </a:xfrm>
          <a:prstGeom prst="roundRect">
            <a:avLst>
              <a:gd name="adj" fmla="val 10145"/>
            </a:avLst>
          </a:prstGeom>
          <a:solidFill>
            <a:srgbClr val="45E0E8"/>
          </a:solidFill>
          <a:ln w="0">
            <a:noFill/>
          </a:ln>
        </p:spPr>
      </p:sp>
      <p:sp>
        <p:nvSpPr>
          <p:cNvPr id="17" name="Rectangle 16">
            <a:extLst>
              <a:ext uri="{FF2B5EF4-FFF2-40B4-BE49-F238E27FC236}">
                <a16:creationId xmlns:a16="http://schemas.microsoft.com/office/drawing/2014/main" id="{3895FE6C-879E-4C9E-ACC0-083EF7AB819A}"/>
              </a:ext>
            </a:extLst>
          </p:cNvPr>
          <p:cNvSpPr>
            <a:spLocks noGrp="1"/>
          </p:cNvSpPr>
          <p:nvPr/>
        </p:nvSpPr>
        <p:spPr>
          <a:xfrm>
            <a:off x="906780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04</a:t>
            </a:r>
          </a:p>
        </p:txBody>
      </p:sp>
      <p:sp>
        <p:nvSpPr>
          <p:cNvPr id="18" name="Rectangle 17">
            <a:extLst>
              <a:ext uri="{FF2B5EF4-FFF2-40B4-BE49-F238E27FC236}">
                <a16:creationId xmlns:a16="http://schemas.microsoft.com/office/drawing/2014/main" id="{7CCE1864-CCED-4E13-A989-725FDAE7D3D9}"/>
              </a:ext>
            </a:extLst>
          </p:cNvPr>
          <p:cNvSpPr>
            <a:spLocks noGrp="1"/>
          </p:cNvSpPr>
          <p:nvPr/>
        </p:nvSpPr>
        <p:spPr>
          <a:xfrm>
            <a:off x="908685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SPACE</a:t>
            </a:r>
          </a:p>
        </p:txBody>
      </p:sp>
      <p:sp>
        <p:nvSpPr>
          <p:cNvPr id="19" name="Rectangle 18">
            <a:extLst>
              <a:ext uri="{FF2B5EF4-FFF2-40B4-BE49-F238E27FC236}">
                <a16:creationId xmlns:a16="http://schemas.microsoft.com/office/drawing/2014/main" id="{559A25FB-2935-4BA8-83BC-10916BD3D11F}"/>
              </a:ext>
            </a:extLst>
          </p:cNvPr>
          <p:cNvSpPr>
            <a:spLocks noGrp="1"/>
          </p:cNvSpPr>
          <p:nvPr/>
        </p:nvSpPr>
        <p:spPr>
          <a:xfrm>
            <a:off x="908685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malls, cafes, internet shops</a:t>
            </a:r>
          </a:p>
        </p:txBody>
      </p:sp>
      <p:sp>
        <p:nvSpPr>
          <p:cNvPr id="20" name="Rectangle: Rounded Corners 19">
            <a:extLst>
              <a:ext uri="{FF2B5EF4-FFF2-40B4-BE49-F238E27FC236}">
                <a16:creationId xmlns:a16="http://schemas.microsoft.com/office/drawing/2014/main" id="{FD708A9C-8BBB-42F8-90BE-574C8E3B9A6D}"/>
              </a:ext>
            </a:extLst>
          </p:cNvPr>
          <p:cNvSpPr>
            <a:spLocks noGrp="1"/>
          </p:cNvSpPr>
          <p:nvPr/>
        </p:nvSpPr>
        <p:spPr>
          <a:xfrm>
            <a:off x="742950" y="3562350"/>
            <a:ext cx="2457450" cy="1314450"/>
          </a:xfrm>
          <a:prstGeom prst="roundRect">
            <a:avLst>
              <a:gd name="adj" fmla="val 10145"/>
            </a:avLst>
          </a:prstGeom>
          <a:solidFill>
            <a:srgbClr val="74F0C4"/>
          </a:solidFill>
          <a:ln w="0">
            <a:noFill/>
          </a:ln>
        </p:spPr>
      </p:sp>
      <p:sp>
        <p:nvSpPr>
          <p:cNvPr id="21" name="Rectangle 20">
            <a:extLst>
              <a:ext uri="{FF2B5EF4-FFF2-40B4-BE49-F238E27FC236}">
                <a16:creationId xmlns:a16="http://schemas.microsoft.com/office/drawing/2014/main" id="{5A10F5D6-5D5A-49C5-A4A3-18457028A119}"/>
              </a:ext>
            </a:extLst>
          </p:cNvPr>
          <p:cNvSpPr>
            <a:spLocks noGrp="1"/>
          </p:cNvSpPr>
          <p:nvPr/>
        </p:nvSpPr>
        <p:spPr>
          <a:xfrm>
            <a:off x="89535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05</a:t>
            </a:r>
          </a:p>
        </p:txBody>
      </p:sp>
      <p:sp>
        <p:nvSpPr>
          <p:cNvPr id="22" name="Rectangle 21">
            <a:extLst>
              <a:ext uri="{FF2B5EF4-FFF2-40B4-BE49-F238E27FC236}">
                <a16:creationId xmlns:a16="http://schemas.microsoft.com/office/drawing/2014/main" id="{ABBF46CA-39F8-46FF-A4C4-AA8137ED43C7}"/>
              </a:ext>
            </a:extLst>
          </p:cNvPr>
          <p:cNvSpPr>
            <a:spLocks noGrp="1"/>
          </p:cNvSpPr>
          <p:nvPr/>
        </p:nvSpPr>
        <p:spPr>
          <a:xfrm>
            <a:off x="914400" y="40195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TIME</a:t>
            </a:r>
          </a:p>
        </p:txBody>
      </p:sp>
      <p:sp>
        <p:nvSpPr>
          <p:cNvPr id="23" name="Rectangle 22">
            <a:extLst>
              <a:ext uri="{FF2B5EF4-FFF2-40B4-BE49-F238E27FC236}">
                <a16:creationId xmlns:a16="http://schemas.microsoft.com/office/drawing/2014/main" id="{D22340CB-72AB-44BC-A3E6-A9A195EB92AF}"/>
              </a:ext>
            </a:extLst>
          </p:cNvPr>
          <p:cNvSpPr>
            <a:spLocks noGrp="1"/>
          </p:cNvSpPr>
          <p:nvPr/>
        </p:nvSpPr>
        <p:spPr>
          <a:xfrm>
            <a:off x="914400" y="43529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primetime, night shifts, unli-text</a:t>
            </a:r>
          </a:p>
        </p:txBody>
      </p:sp>
      <p:sp>
        <p:nvSpPr>
          <p:cNvPr id="24" name="Rectangle: Rounded Corners 23">
            <a:extLst>
              <a:ext uri="{FF2B5EF4-FFF2-40B4-BE49-F238E27FC236}">
                <a16:creationId xmlns:a16="http://schemas.microsoft.com/office/drawing/2014/main" id="{1BB2DF07-60A1-41F1-BB54-BA1C73D6B70F}"/>
              </a:ext>
            </a:extLst>
          </p:cNvPr>
          <p:cNvSpPr>
            <a:spLocks noGrp="1"/>
          </p:cNvSpPr>
          <p:nvPr/>
        </p:nvSpPr>
        <p:spPr>
          <a:xfrm>
            <a:off x="3467100" y="3562350"/>
            <a:ext cx="2457450" cy="1314450"/>
          </a:xfrm>
          <a:prstGeom prst="roundRect">
            <a:avLst>
              <a:gd name="adj" fmla="val 10145"/>
            </a:avLst>
          </a:prstGeom>
          <a:solidFill>
            <a:srgbClr val="5591FF"/>
          </a:solidFill>
          <a:ln w="0">
            <a:noFill/>
          </a:ln>
        </p:spPr>
      </p:sp>
      <p:sp>
        <p:nvSpPr>
          <p:cNvPr id="25" name="Rectangle 24">
            <a:extLst>
              <a:ext uri="{FF2B5EF4-FFF2-40B4-BE49-F238E27FC236}">
                <a16:creationId xmlns:a16="http://schemas.microsoft.com/office/drawing/2014/main" id="{8C198BCF-D0C7-4788-B12A-D525AF49FFF4}"/>
              </a:ext>
            </a:extLst>
          </p:cNvPr>
          <p:cNvSpPr>
            <a:spLocks noGrp="1"/>
          </p:cNvSpPr>
          <p:nvPr/>
        </p:nvSpPr>
        <p:spPr>
          <a:xfrm>
            <a:off x="361950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06</a:t>
            </a:r>
          </a:p>
        </p:txBody>
      </p:sp>
      <p:sp>
        <p:nvSpPr>
          <p:cNvPr id="26" name="Rectangle 25">
            <a:extLst>
              <a:ext uri="{FF2B5EF4-FFF2-40B4-BE49-F238E27FC236}">
                <a16:creationId xmlns:a16="http://schemas.microsoft.com/office/drawing/2014/main" id="{52038858-8D6B-4BCB-B007-14BF356EE809}"/>
              </a:ext>
            </a:extLst>
          </p:cNvPr>
          <p:cNvSpPr>
            <a:spLocks noGrp="1"/>
          </p:cNvSpPr>
          <p:nvPr/>
        </p:nvSpPr>
        <p:spPr>
          <a:xfrm>
            <a:off x="3638550" y="40195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TECHNOLOGY</a:t>
            </a:r>
          </a:p>
        </p:txBody>
      </p:sp>
      <p:sp>
        <p:nvSpPr>
          <p:cNvPr id="27" name="Rectangle 26">
            <a:extLst>
              <a:ext uri="{FF2B5EF4-FFF2-40B4-BE49-F238E27FC236}">
                <a16:creationId xmlns:a16="http://schemas.microsoft.com/office/drawing/2014/main" id="{8369B809-D5F0-4132-8F86-5D65A9D5BE1A}"/>
              </a:ext>
            </a:extLst>
          </p:cNvPr>
          <p:cNvSpPr>
            <a:spLocks noGrp="1"/>
          </p:cNvSpPr>
          <p:nvPr/>
        </p:nvSpPr>
        <p:spPr>
          <a:xfrm>
            <a:off x="3638550" y="43529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SMS, Friendster, cameras</a:t>
            </a:r>
          </a:p>
        </p:txBody>
      </p:sp>
      <p:sp>
        <p:nvSpPr>
          <p:cNvPr id="28" name="Rectangle: Rounded Corners 27">
            <a:extLst>
              <a:ext uri="{FF2B5EF4-FFF2-40B4-BE49-F238E27FC236}">
                <a16:creationId xmlns:a16="http://schemas.microsoft.com/office/drawing/2014/main" id="{B0E0E3C8-9946-464C-BE22-48A28C7BF2A0}"/>
              </a:ext>
            </a:extLst>
          </p:cNvPr>
          <p:cNvSpPr>
            <a:spLocks noGrp="1"/>
          </p:cNvSpPr>
          <p:nvPr/>
        </p:nvSpPr>
        <p:spPr>
          <a:xfrm>
            <a:off x="6191250" y="3562350"/>
            <a:ext cx="5391150" cy="1314450"/>
          </a:xfrm>
          <a:prstGeom prst="roundRect">
            <a:avLst>
              <a:gd name="adj" fmla="val 10145"/>
            </a:avLst>
          </a:prstGeom>
          <a:solidFill>
            <a:srgbClr val="D76DFF"/>
          </a:solidFill>
          <a:ln w="0">
            <a:noFill/>
          </a:ln>
        </p:spPr>
      </p:sp>
      <p:sp>
        <p:nvSpPr>
          <p:cNvPr id="29" name="Rectangle 28">
            <a:extLst>
              <a:ext uri="{FF2B5EF4-FFF2-40B4-BE49-F238E27FC236}">
                <a16:creationId xmlns:a16="http://schemas.microsoft.com/office/drawing/2014/main" id="{415FDAAF-8AD3-425B-82C1-D12A6825FB60}"/>
              </a:ext>
            </a:extLst>
          </p:cNvPr>
          <p:cNvSpPr>
            <a:spLocks noGrp="1"/>
          </p:cNvSpPr>
          <p:nvPr/>
        </p:nvSpPr>
        <p:spPr>
          <a:xfrm>
            <a:off x="634365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07</a:t>
            </a:r>
          </a:p>
        </p:txBody>
      </p:sp>
      <p:sp>
        <p:nvSpPr>
          <p:cNvPr id="30" name="Rectangle 29">
            <a:extLst>
              <a:ext uri="{FF2B5EF4-FFF2-40B4-BE49-F238E27FC236}">
                <a16:creationId xmlns:a16="http://schemas.microsoft.com/office/drawing/2014/main" id="{8E6111CD-DFE0-4A24-BB88-9E63C8B9FB4F}"/>
              </a:ext>
            </a:extLst>
          </p:cNvPr>
          <p:cNvSpPr>
            <a:spLocks noGrp="1"/>
          </p:cNvSpPr>
          <p:nvPr/>
        </p:nvSpPr>
        <p:spPr>
          <a:xfrm>
            <a:off x="6362700" y="4019550"/>
            <a:ext cx="50482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GLOBALIZATION</a:t>
            </a:r>
          </a:p>
        </p:txBody>
      </p:sp>
      <p:sp>
        <p:nvSpPr>
          <p:cNvPr id="31" name="Rectangle 30">
            <a:extLst>
              <a:ext uri="{FF2B5EF4-FFF2-40B4-BE49-F238E27FC236}">
                <a16:creationId xmlns:a16="http://schemas.microsoft.com/office/drawing/2014/main" id="{001599D1-D6C3-4F07-A47A-F1C2F1E4F83C}"/>
              </a:ext>
            </a:extLst>
          </p:cNvPr>
          <p:cNvSpPr>
            <a:spLocks noGrp="1"/>
          </p:cNvSpPr>
          <p:nvPr/>
        </p:nvSpPr>
        <p:spPr>
          <a:xfrm>
            <a:off x="6362700" y="4352925"/>
            <a:ext cx="50482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Asian and Western influences</a:t>
            </a:r>
          </a:p>
        </p:txBody>
      </p:sp>
      <p:sp>
        <p:nvSpPr>
          <p:cNvPr id="32" name="Rectangle 31">
            <a:extLst>
              <a:ext uri="{FF2B5EF4-FFF2-40B4-BE49-F238E27FC236}">
                <a16:creationId xmlns:a16="http://schemas.microsoft.com/office/drawing/2014/main" id="{FF87258D-1F01-4C82-BF1C-DCB04BAF129A}"/>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3" name="Rectangle 32">
            <a:extLst>
              <a:ext uri="{FF2B5EF4-FFF2-40B4-BE49-F238E27FC236}">
                <a16:creationId xmlns:a16="http://schemas.microsoft.com/office/drawing/2014/main" id="{552E0319-B02A-402C-8478-2A3C5916A7FF}"/>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03</a:t>
            </a:r>
          </a:p>
        </p:txBody>
      </p:sp>
      <p:pic>
        <p:nvPicPr>
          <p:cNvPr id="35" name="slide-03">
            <a:hlinkClick r:id="" action="ppaction://media"/>
            <a:extLst>
              <a:ext uri="{FF2B5EF4-FFF2-40B4-BE49-F238E27FC236}">
                <a16:creationId xmlns:a16="http://schemas.microsoft.com/office/drawing/2014/main" id="{4A8B3C51-D8E3-4CFA-EB24-4D3A8636C10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293652544"/>
      </p:ext>
    </p:extLst>
  </p:cSld>
  <p:clrMapOvr>
    <a:masterClrMapping/>
  </p:clrMapOvr>
  <mc:AlternateContent xmlns:mc="http://schemas.openxmlformats.org/markup-compatibility/2006">
    <mc:Choice xmlns:p14="http://schemas.microsoft.com/office/powerpoint/2010/main" Requires="p14">
      <p:transition spd="slow" p14:dur="2000" advClick="0" advTm="58141">
        <p:fade/>
      </p:transition>
    </mc:Choice>
    <mc:Fallback>
      <p:transition spd="slow" advClick="0" advTm="5814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940"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96DCA15-C95A-4734-8C7D-A6589ED43C40}"/>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The visitor experience</a:t>
            </a:r>
          </a:p>
        </p:txBody>
      </p:sp>
      <p:sp>
        <p:nvSpPr>
          <p:cNvPr id="2" name="Rectangle 1">
            <a:extLst>
              <a:ext uri="{FF2B5EF4-FFF2-40B4-BE49-F238E27FC236}">
                <a16:creationId xmlns:a16="http://schemas.microsoft.com/office/drawing/2014/main" id="{35656F88-E064-4687-8356-924472DD5C93}"/>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A five-step journey from recognition to contribution</a:t>
            </a:r>
          </a:p>
        </p:txBody>
      </p:sp>
      <p:sp>
        <p:nvSpPr>
          <p:cNvPr id="3" name="Rectangle 2">
            <a:extLst>
              <a:ext uri="{FF2B5EF4-FFF2-40B4-BE49-F238E27FC236}">
                <a16:creationId xmlns:a16="http://schemas.microsoft.com/office/drawing/2014/main" id="{9613CE34-4BA6-4027-AEE6-FD5B794DA76A}"/>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D847F30B-3B0B-4451-840C-0A0B8A08E7DE}"/>
              </a:ext>
            </a:extLst>
          </p:cNvPr>
          <p:cNvSpPr>
            <a:spLocks noGrp="1"/>
          </p:cNvSpPr>
          <p:nvPr/>
        </p:nvSpPr>
        <p:spPr>
          <a:xfrm>
            <a:off x="809625" y="1714500"/>
            <a:ext cx="590550" cy="590550"/>
          </a:xfrm>
          <a:prstGeom prst="roundRect">
            <a:avLst>
              <a:gd name="adj" fmla="val 50000"/>
            </a:avLst>
          </a:prstGeom>
          <a:solidFill>
            <a:srgbClr val="6C4BF4"/>
          </a:solidFill>
          <a:ln w="0">
            <a:noFill/>
          </a:ln>
        </p:spPr>
      </p:sp>
      <p:sp>
        <p:nvSpPr>
          <p:cNvPr id="5" name="Rectangle 4">
            <a:extLst>
              <a:ext uri="{FF2B5EF4-FFF2-40B4-BE49-F238E27FC236}">
                <a16:creationId xmlns:a16="http://schemas.microsoft.com/office/drawing/2014/main" id="{146A58B5-B8F5-4215-9A49-723E2B296D7B}"/>
              </a:ext>
            </a:extLst>
          </p:cNvPr>
          <p:cNvSpPr>
            <a:spLocks noGrp="1"/>
          </p:cNvSpPr>
          <p:nvPr/>
        </p:nvSpPr>
        <p:spPr>
          <a:xfrm>
            <a:off x="809625" y="17145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1</a:t>
            </a:r>
          </a:p>
        </p:txBody>
      </p:sp>
      <p:sp>
        <p:nvSpPr>
          <p:cNvPr id="6" name="Rectangle 5">
            <a:extLst>
              <a:ext uri="{FF2B5EF4-FFF2-40B4-BE49-F238E27FC236}">
                <a16:creationId xmlns:a16="http://schemas.microsoft.com/office/drawing/2014/main" id="{43BFDD99-1B72-40B1-9FB3-C28B77CECA0B}"/>
              </a:ext>
            </a:extLst>
          </p:cNvPr>
          <p:cNvSpPr>
            <a:spLocks noGrp="1"/>
          </p:cNvSpPr>
          <p:nvPr/>
        </p:nvSpPr>
        <p:spPr>
          <a:xfrm>
            <a:off x="1685925" y="17049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ENTER</a:t>
            </a:r>
          </a:p>
        </p:txBody>
      </p:sp>
      <p:sp>
        <p:nvSpPr>
          <p:cNvPr id="7" name="Rectangle 6">
            <a:extLst>
              <a:ext uri="{FF2B5EF4-FFF2-40B4-BE49-F238E27FC236}">
                <a16:creationId xmlns:a16="http://schemas.microsoft.com/office/drawing/2014/main" id="{6A3BC1B5-5C93-4D78-972E-F07C1184F819}"/>
              </a:ext>
            </a:extLst>
          </p:cNvPr>
          <p:cNvSpPr>
            <a:spLocks noGrp="1"/>
          </p:cNvSpPr>
          <p:nvPr/>
        </p:nvSpPr>
        <p:spPr>
          <a:xfrm>
            <a:off x="1685925" y="19716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A glowing mirror asks: “What made you, you?”</a:t>
            </a:r>
          </a:p>
        </p:txBody>
      </p:sp>
      <p:sp>
        <p:nvSpPr>
          <p:cNvPr id="8" name="Rectangle 7">
            <a:extLst>
              <a:ext uri="{FF2B5EF4-FFF2-40B4-BE49-F238E27FC236}">
                <a16:creationId xmlns:a16="http://schemas.microsoft.com/office/drawing/2014/main" id="{CE3DB278-6929-4854-8C6E-D76D71BE4ACD}"/>
              </a:ext>
            </a:extLst>
          </p:cNvPr>
          <p:cNvSpPr>
            <a:spLocks noGrp="1"/>
          </p:cNvSpPr>
          <p:nvPr/>
        </p:nvSpPr>
        <p:spPr>
          <a:xfrm>
            <a:off x="1085850" y="2305050"/>
            <a:ext cx="38100" cy="285750"/>
          </a:xfrm>
          <a:prstGeom prst="rect">
            <a:avLst/>
          </a:prstGeom>
          <a:solidFill>
            <a:srgbClr val="DAD6EA"/>
          </a:solidFill>
          <a:ln w="0">
            <a:noFill/>
          </a:ln>
        </p:spPr>
      </p:sp>
      <p:sp>
        <p:nvSpPr>
          <p:cNvPr id="9" name="Rectangle: Rounded Corners 8">
            <a:extLst>
              <a:ext uri="{FF2B5EF4-FFF2-40B4-BE49-F238E27FC236}">
                <a16:creationId xmlns:a16="http://schemas.microsoft.com/office/drawing/2014/main" id="{7C350FCB-9866-498D-8410-14A97B9E6216}"/>
              </a:ext>
            </a:extLst>
          </p:cNvPr>
          <p:cNvSpPr>
            <a:spLocks noGrp="1"/>
          </p:cNvSpPr>
          <p:nvPr/>
        </p:nvSpPr>
        <p:spPr>
          <a:xfrm>
            <a:off x="809625" y="2590800"/>
            <a:ext cx="590550" cy="590550"/>
          </a:xfrm>
          <a:prstGeom prst="roundRect">
            <a:avLst>
              <a:gd name="adj" fmla="val 50000"/>
            </a:avLst>
          </a:prstGeom>
          <a:solidFill>
            <a:srgbClr val="FF4F9A"/>
          </a:solidFill>
          <a:ln w="0">
            <a:noFill/>
          </a:ln>
        </p:spPr>
      </p:sp>
      <p:sp>
        <p:nvSpPr>
          <p:cNvPr id="10" name="Rectangle 9">
            <a:extLst>
              <a:ext uri="{FF2B5EF4-FFF2-40B4-BE49-F238E27FC236}">
                <a16:creationId xmlns:a16="http://schemas.microsoft.com/office/drawing/2014/main" id="{5B9710E3-4440-4ECE-9C69-B1CDCB6B581C}"/>
              </a:ext>
            </a:extLst>
          </p:cNvPr>
          <p:cNvSpPr>
            <a:spLocks noGrp="1"/>
          </p:cNvSpPr>
          <p:nvPr/>
        </p:nvSpPr>
        <p:spPr>
          <a:xfrm>
            <a:off x="809625" y="25908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2</a:t>
            </a:r>
          </a:p>
        </p:txBody>
      </p:sp>
      <p:sp>
        <p:nvSpPr>
          <p:cNvPr id="11" name="Rectangle 10">
            <a:extLst>
              <a:ext uri="{FF2B5EF4-FFF2-40B4-BE49-F238E27FC236}">
                <a16:creationId xmlns:a16="http://schemas.microsoft.com/office/drawing/2014/main" id="{1511F562-9B37-4049-A204-F1EE85738A27}"/>
              </a:ext>
            </a:extLst>
          </p:cNvPr>
          <p:cNvSpPr>
            <a:spLocks noGrp="1"/>
          </p:cNvSpPr>
          <p:nvPr/>
        </p:nvSpPr>
        <p:spPr>
          <a:xfrm>
            <a:off x="1685925" y="25812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CHOOSE</a:t>
            </a:r>
          </a:p>
        </p:txBody>
      </p:sp>
      <p:sp>
        <p:nvSpPr>
          <p:cNvPr id="12" name="Rectangle 11">
            <a:extLst>
              <a:ext uri="{FF2B5EF4-FFF2-40B4-BE49-F238E27FC236}">
                <a16:creationId xmlns:a16="http://schemas.microsoft.com/office/drawing/2014/main" id="{6C346ED9-54A9-4716-B00B-204287479288}"/>
              </a:ext>
            </a:extLst>
          </p:cNvPr>
          <p:cNvSpPr>
            <a:spLocks noGrp="1"/>
          </p:cNvSpPr>
          <p:nvPr/>
        </p:nvSpPr>
        <p:spPr>
          <a:xfrm>
            <a:off x="1685925" y="28479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Pick a memory: TV, fashion, music, place, or technology</a:t>
            </a:r>
          </a:p>
        </p:txBody>
      </p:sp>
      <p:sp>
        <p:nvSpPr>
          <p:cNvPr id="13" name="Rectangle 12">
            <a:extLst>
              <a:ext uri="{FF2B5EF4-FFF2-40B4-BE49-F238E27FC236}">
                <a16:creationId xmlns:a16="http://schemas.microsoft.com/office/drawing/2014/main" id="{602D92CE-C9C4-450B-A8E3-3529D1149DE2}"/>
              </a:ext>
            </a:extLst>
          </p:cNvPr>
          <p:cNvSpPr>
            <a:spLocks noGrp="1"/>
          </p:cNvSpPr>
          <p:nvPr/>
        </p:nvSpPr>
        <p:spPr>
          <a:xfrm>
            <a:off x="1085850" y="3181350"/>
            <a:ext cx="38100" cy="285750"/>
          </a:xfrm>
          <a:prstGeom prst="rect">
            <a:avLst/>
          </a:prstGeom>
          <a:solidFill>
            <a:srgbClr val="DAD6EA"/>
          </a:solidFill>
          <a:ln w="0">
            <a:noFill/>
          </a:ln>
        </p:spPr>
      </p:sp>
      <p:sp>
        <p:nvSpPr>
          <p:cNvPr id="14" name="Rectangle: Rounded Corners 13">
            <a:extLst>
              <a:ext uri="{FF2B5EF4-FFF2-40B4-BE49-F238E27FC236}">
                <a16:creationId xmlns:a16="http://schemas.microsoft.com/office/drawing/2014/main" id="{CF5E89F7-BFD8-433C-97DF-D6725C8F6DC2}"/>
              </a:ext>
            </a:extLst>
          </p:cNvPr>
          <p:cNvSpPr>
            <a:spLocks noGrp="1"/>
          </p:cNvSpPr>
          <p:nvPr/>
        </p:nvSpPr>
        <p:spPr>
          <a:xfrm>
            <a:off x="809625" y="3467100"/>
            <a:ext cx="590550" cy="590550"/>
          </a:xfrm>
          <a:prstGeom prst="roundRect">
            <a:avLst>
              <a:gd name="adj" fmla="val 50000"/>
            </a:avLst>
          </a:prstGeom>
          <a:solidFill>
            <a:srgbClr val="FFC857"/>
          </a:solidFill>
          <a:ln w="0">
            <a:noFill/>
          </a:ln>
        </p:spPr>
      </p:sp>
      <p:sp>
        <p:nvSpPr>
          <p:cNvPr id="15" name="Rectangle 14">
            <a:extLst>
              <a:ext uri="{FF2B5EF4-FFF2-40B4-BE49-F238E27FC236}">
                <a16:creationId xmlns:a16="http://schemas.microsoft.com/office/drawing/2014/main" id="{F041DC47-EA52-4F2A-8C24-6AE7159F486B}"/>
              </a:ext>
            </a:extLst>
          </p:cNvPr>
          <p:cNvSpPr>
            <a:spLocks noGrp="1"/>
          </p:cNvSpPr>
          <p:nvPr/>
        </p:nvSpPr>
        <p:spPr>
          <a:xfrm>
            <a:off x="809625" y="34671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3</a:t>
            </a:r>
          </a:p>
        </p:txBody>
      </p:sp>
      <p:sp>
        <p:nvSpPr>
          <p:cNvPr id="16" name="Rectangle 15">
            <a:extLst>
              <a:ext uri="{FF2B5EF4-FFF2-40B4-BE49-F238E27FC236}">
                <a16:creationId xmlns:a16="http://schemas.microsoft.com/office/drawing/2014/main" id="{CCE98659-AC51-4A9A-93E8-417550D93CB2}"/>
              </a:ext>
            </a:extLst>
          </p:cNvPr>
          <p:cNvSpPr>
            <a:spLocks noGrp="1"/>
          </p:cNvSpPr>
          <p:nvPr/>
        </p:nvSpPr>
        <p:spPr>
          <a:xfrm>
            <a:off x="1685925" y="34575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INTERACT</a:t>
            </a:r>
          </a:p>
        </p:txBody>
      </p:sp>
      <p:sp>
        <p:nvSpPr>
          <p:cNvPr id="17" name="Rectangle 16">
            <a:extLst>
              <a:ext uri="{FF2B5EF4-FFF2-40B4-BE49-F238E27FC236}">
                <a16:creationId xmlns:a16="http://schemas.microsoft.com/office/drawing/2014/main" id="{1833044E-B11C-4080-A3B9-21E4D721F1E3}"/>
              </a:ext>
            </a:extLst>
          </p:cNvPr>
          <p:cNvSpPr>
            <a:spLocks noGrp="1"/>
          </p:cNvSpPr>
          <p:nvPr/>
        </p:nvSpPr>
        <p:spPr>
          <a:xfrm>
            <a:off x="1685925" y="37242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Hear, compare, remix, and respond to an exhibit</a:t>
            </a:r>
          </a:p>
        </p:txBody>
      </p:sp>
      <p:sp>
        <p:nvSpPr>
          <p:cNvPr id="18" name="Rectangle 17">
            <a:extLst>
              <a:ext uri="{FF2B5EF4-FFF2-40B4-BE49-F238E27FC236}">
                <a16:creationId xmlns:a16="http://schemas.microsoft.com/office/drawing/2014/main" id="{60EAD211-70C9-4CFD-B53A-DC72515E0ED5}"/>
              </a:ext>
            </a:extLst>
          </p:cNvPr>
          <p:cNvSpPr>
            <a:spLocks noGrp="1"/>
          </p:cNvSpPr>
          <p:nvPr/>
        </p:nvSpPr>
        <p:spPr>
          <a:xfrm>
            <a:off x="1085850" y="4057650"/>
            <a:ext cx="38100" cy="285750"/>
          </a:xfrm>
          <a:prstGeom prst="rect">
            <a:avLst/>
          </a:prstGeom>
          <a:solidFill>
            <a:srgbClr val="DAD6EA"/>
          </a:solidFill>
          <a:ln w="0">
            <a:noFill/>
          </a:ln>
        </p:spPr>
      </p:sp>
      <p:sp>
        <p:nvSpPr>
          <p:cNvPr id="19" name="Rectangle: Rounded Corners 18">
            <a:extLst>
              <a:ext uri="{FF2B5EF4-FFF2-40B4-BE49-F238E27FC236}">
                <a16:creationId xmlns:a16="http://schemas.microsoft.com/office/drawing/2014/main" id="{F9A6AD09-7FC5-4DD9-AE0E-6610B5E338A8}"/>
              </a:ext>
            </a:extLst>
          </p:cNvPr>
          <p:cNvSpPr>
            <a:spLocks noGrp="1"/>
          </p:cNvSpPr>
          <p:nvPr/>
        </p:nvSpPr>
        <p:spPr>
          <a:xfrm>
            <a:off x="809625" y="4343400"/>
            <a:ext cx="590550" cy="590550"/>
          </a:xfrm>
          <a:prstGeom prst="roundRect">
            <a:avLst>
              <a:gd name="adj" fmla="val 50000"/>
            </a:avLst>
          </a:prstGeom>
          <a:solidFill>
            <a:srgbClr val="45E0E8"/>
          </a:solidFill>
          <a:ln w="0">
            <a:noFill/>
          </a:ln>
        </p:spPr>
      </p:sp>
      <p:sp>
        <p:nvSpPr>
          <p:cNvPr id="20" name="Rectangle 19">
            <a:extLst>
              <a:ext uri="{FF2B5EF4-FFF2-40B4-BE49-F238E27FC236}">
                <a16:creationId xmlns:a16="http://schemas.microsoft.com/office/drawing/2014/main" id="{D75449CD-09CB-488A-AF10-F756B92BBFE2}"/>
              </a:ext>
            </a:extLst>
          </p:cNvPr>
          <p:cNvSpPr>
            <a:spLocks noGrp="1"/>
          </p:cNvSpPr>
          <p:nvPr/>
        </p:nvSpPr>
        <p:spPr>
          <a:xfrm>
            <a:off x="809625" y="43434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4</a:t>
            </a:r>
          </a:p>
        </p:txBody>
      </p:sp>
      <p:sp>
        <p:nvSpPr>
          <p:cNvPr id="21" name="Rectangle 20">
            <a:extLst>
              <a:ext uri="{FF2B5EF4-FFF2-40B4-BE49-F238E27FC236}">
                <a16:creationId xmlns:a16="http://schemas.microsoft.com/office/drawing/2014/main" id="{2D49E491-B2D8-4809-B093-67B1828343F8}"/>
              </a:ext>
            </a:extLst>
          </p:cNvPr>
          <p:cNvSpPr>
            <a:spLocks noGrp="1"/>
          </p:cNvSpPr>
          <p:nvPr/>
        </p:nvSpPr>
        <p:spPr>
          <a:xfrm>
            <a:off x="1685925" y="43338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CONTRIBUTE</a:t>
            </a:r>
          </a:p>
        </p:txBody>
      </p:sp>
      <p:sp>
        <p:nvSpPr>
          <p:cNvPr id="22" name="Rectangle 21">
            <a:extLst>
              <a:ext uri="{FF2B5EF4-FFF2-40B4-BE49-F238E27FC236}">
                <a16:creationId xmlns:a16="http://schemas.microsoft.com/office/drawing/2014/main" id="{071D2DE7-9D02-4C95-8275-22AD363328B5}"/>
              </a:ext>
            </a:extLst>
          </p:cNvPr>
          <p:cNvSpPr>
            <a:spLocks noGrp="1"/>
          </p:cNvSpPr>
          <p:nvPr/>
        </p:nvSpPr>
        <p:spPr>
          <a:xfrm>
            <a:off x="1685925" y="46005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Add a short story, photo caption, or voice memory</a:t>
            </a:r>
          </a:p>
        </p:txBody>
      </p:sp>
      <p:sp>
        <p:nvSpPr>
          <p:cNvPr id="23" name="Rectangle 22">
            <a:extLst>
              <a:ext uri="{FF2B5EF4-FFF2-40B4-BE49-F238E27FC236}">
                <a16:creationId xmlns:a16="http://schemas.microsoft.com/office/drawing/2014/main" id="{4B1AED94-7877-46F4-B5A4-F5F9724A5552}"/>
              </a:ext>
            </a:extLst>
          </p:cNvPr>
          <p:cNvSpPr>
            <a:spLocks noGrp="1"/>
          </p:cNvSpPr>
          <p:nvPr/>
        </p:nvSpPr>
        <p:spPr>
          <a:xfrm>
            <a:off x="1085850" y="4933950"/>
            <a:ext cx="38100" cy="285750"/>
          </a:xfrm>
          <a:prstGeom prst="rect">
            <a:avLst/>
          </a:prstGeom>
          <a:solidFill>
            <a:srgbClr val="DAD6EA"/>
          </a:solidFill>
          <a:ln w="0">
            <a:noFill/>
          </a:ln>
        </p:spPr>
      </p:sp>
      <p:sp>
        <p:nvSpPr>
          <p:cNvPr id="24" name="Rectangle: Rounded Corners 23">
            <a:extLst>
              <a:ext uri="{FF2B5EF4-FFF2-40B4-BE49-F238E27FC236}">
                <a16:creationId xmlns:a16="http://schemas.microsoft.com/office/drawing/2014/main" id="{A3E255D6-A44F-4F3E-80AF-5C98E705B15C}"/>
              </a:ext>
            </a:extLst>
          </p:cNvPr>
          <p:cNvSpPr>
            <a:spLocks noGrp="1"/>
          </p:cNvSpPr>
          <p:nvPr/>
        </p:nvSpPr>
        <p:spPr>
          <a:xfrm>
            <a:off x="809625" y="5219700"/>
            <a:ext cx="590550" cy="590550"/>
          </a:xfrm>
          <a:prstGeom prst="roundRect">
            <a:avLst>
              <a:gd name="adj" fmla="val 50000"/>
            </a:avLst>
          </a:prstGeom>
          <a:solidFill>
            <a:srgbClr val="74F0C4"/>
          </a:solidFill>
          <a:ln w="0">
            <a:noFill/>
          </a:ln>
        </p:spPr>
      </p:sp>
      <p:sp>
        <p:nvSpPr>
          <p:cNvPr id="25" name="Rectangle 24">
            <a:extLst>
              <a:ext uri="{FF2B5EF4-FFF2-40B4-BE49-F238E27FC236}">
                <a16:creationId xmlns:a16="http://schemas.microsoft.com/office/drawing/2014/main" id="{CF703A3D-B7BF-4F2C-86CA-2DE9701411BC}"/>
              </a:ext>
            </a:extLst>
          </p:cNvPr>
          <p:cNvSpPr>
            <a:spLocks noGrp="1"/>
          </p:cNvSpPr>
          <p:nvPr/>
        </p:nvSpPr>
        <p:spPr>
          <a:xfrm>
            <a:off x="809625" y="52197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5</a:t>
            </a:r>
          </a:p>
        </p:txBody>
      </p:sp>
      <p:sp>
        <p:nvSpPr>
          <p:cNvPr id="26" name="Rectangle 25">
            <a:extLst>
              <a:ext uri="{FF2B5EF4-FFF2-40B4-BE49-F238E27FC236}">
                <a16:creationId xmlns:a16="http://schemas.microsoft.com/office/drawing/2014/main" id="{234FA85F-BB60-41C3-831B-09BD91B1C55A}"/>
              </a:ext>
            </a:extLst>
          </p:cNvPr>
          <p:cNvSpPr>
            <a:spLocks noGrp="1"/>
          </p:cNvSpPr>
          <p:nvPr/>
        </p:nvSpPr>
        <p:spPr>
          <a:xfrm>
            <a:off x="1685925" y="52101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REFLECT</a:t>
            </a:r>
          </a:p>
        </p:txBody>
      </p:sp>
      <p:sp>
        <p:nvSpPr>
          <p:cNvPr id="27" name="Rectangle 26">
            <a:extLst>
              <a:ext uri="{FF2B5EF4-FFF2-40B4-BE49-F238E27FC236}">
                <a16:creationId xmlns:a16="http://schemas.microsoft.com/office/drawing/2014/main" id="{1B44B312-11A4-4DFE-8057-676CC224007D}"/>
              </a:ext>
            </a:extLst>
          </p:cNvPr>
          <p:cNvSpPr>
            <a:spLocks noGrp="1"/>
          </p:cNvSpPr>
          <p:nvPr/>
        </p:nvSpPr>
        <p:spPr>
          <a:xfrm>
            <a:off x="1685925" y="54768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Receive a personal “culture mirror” to share</a:t>
            </a:r>
          </a:p>
        </p:txBody>
      </p:sp>
      <p:sp>
        <p:nvSpPr>
          <p:cNvPr id="28" name="Rectangle: Rounded Corners 27">
            <a:extLst>
              <a:ext uri="{FF2B5EF4-FFF2-40B4-BE49-F238E27FC236}">
                <a16:creationId xmlns:a16="http://schemas.microsoft.com/office/drawing/2014/main" id="{47C765DA-A479-4968-8FEF-6C088C856256}"/>
              </a:ext>
            </a:extLst>
          </p:cNvPr>
          <p:cNvSpPr>
            <a:spLocks noGrp="1"/>
          </p:cNvSpPr>
          <p:nvPr/>
        </p:nvSpPr>
        <p:spPr>
          <a:xfrm>
            <a:off x="9810750" y="1733550"/>
            <a:ext cx="1428750" cy="4095750"/>
          </a:xfrm>
          <a:prstGeom prst="roundRect">
            <a:avLst>
              <a:gd name="adj" fmla="val 12000"/>
            </a:avLst>
          </a:prstGeom>
          <a:solidFill>
            <a:srgbClr val="11142A"/>
          </a:solidFill>
          <a:ln w="0">
            <a:noFill/>
          </a:ln>
        </p:spPr>
      </p:sp>
      <p:sp>
        <p:nvSpPr>
          <p:cNvPr id="29" name="Rectangle 28">
            <a:extLst>
              <a:ext uri="{FF2B5EF4-FFF2-40B4-BE49-F238E27FC236}">
                <a16:creationId xmlns:a16="http://schemas.microsoft.com/office/drawing/2014/main" id="{635B9ABE-43D3-4E09-875F-C53CADB215E8}"/>
              </a:ext>
            </a:extLst>
          </p:cNvPr>
          <p:cNvSpPr>
            <a:spLocks noGrp="1"/>
          </p:cNvSpPr>
          <p:nvPr/>
        </p:nvSpPr>
        <p:spPr>
          <a:xfrm>
            <a:off x="9963150" y="2333625"/>
            <a:ext cx="1123950" cy="1219200"/>
          </a:xfrm>
          <a:prstGeom prst="rect">
            <a:avLst/>
          </a:prstGeom>
          <a:noFill/>
          <a:ln w="0">
            <a:noFill/>
          </a:ln>
        </p:spPr>
        <p:txBody>
          <a:bodyPr lIns="38100" tIns="19050" rIns="38100" bIns="19050" anchor="ctr">
            <a:normAutofit fontScale="71548"/>
          </a:bodyPr>
          <a:lstStyle/>
          <a:p>
            <a:pPr algn="ctr">
              <a:defRPr sz="2250" b="1">
                <a:solidFill>
                  <a:srgbClr val="FFFFFF"/>
                </a:solidFill>
                <a:latin typeface="Arial"/>
                <a:ea typeface="Arial"/>
                <a:cs typeface="Arial"/>
              </a:defRPr>
            </a:pPr>
            <a:r>
              <a:rPr sz="2250" b="1">
                <a:solidFill>
                  <a:srgbClr val="FFFFFF"/>
                </a:solidFill>
                <a:latin typeface="Arial"/>
                <a:ea typeface="Arial"/>
                <a:cs typeface="Arial"/>
              </a:rPr>
              <a:t>A museum</a:t>
            </a:r>
          </a:p>
          <a:p>
            <a:pPr algn="ctr">
              <a:defRPr sz="2250" b="1">
                <a:solidFill>
                  <a:srgbClr val="FFFFFF"/>
                </a:solidFill>
                <a:latin typeface="Arial"/>
                <a:ea typeface="Arial"/>
                <a:cs typeface="Arial"/>
              </a:defRPr>
            </a:pPr>
            <a:r>
              <a:rPr sz="2250" b="1">
                <a:solidFill>
                  <a:srgbClr val="FFFFFF"/>
                </a:solidFill>
                <a:latin typeface="Arial"/>
                <a:ea typeface="Arial"/>
                <a:cs typeface="Arial"/>
              </a:rPr>
              <a:t>that listens</a:t>
            </a:r>
          </a:p>
          <a:p>
            <a:pPr algn="ctr">
              <a:defRPr sz="2250" b="1">
                <a:solidFill>
                  <a:srgbClr val="FFFFFF"/>
                </a:solidFill>
                <a:latin typeface="Arial"/>
                <a:ea typeface="Arial"/>
                <a:cs typeface="Arial"/>
              </a:defRPr>
            </a:pPr>
            <a:r>
              <a:rPr sz="2250" b="1">
                <a:solidFill>
                  <a:srgbClr val="FFFFFF"/>
                </a:solidFill>
                <a:latin typeface="Arial"/>
                <a:ea typeface="Arial"/>
                <a:cs typeface="Arial"/>
              </a:rPr>
              <a:t>back</a:t>
            </a:r>
          </a:p>
        </p:txBody>
      </p:sp>
      <p:sp>
        <p:nvSpPr>
          <p:cNvPr id="30" name="Rectangle 29">
            <a:extLst>
              <a:ext uri="{FF2B5EF4-FFF2-40B4-BE49-F238E27FC236}">
                <a16:creationId xmlns:a16="http://schemas.microsoft.com/office/drawing/2014/main" id="{79C099FF-F259-4888-A1F8-01A2F9D553F4}"/>
              </a:ext>
            </a:extLst>
          </p:cNvPr>
          <p:cNvSpPr>
            <a:spLocks noGrp="1"/>
          </p:cNvSpPr>
          <p:nvPr/>
        </p:nvSpPr>
        <p:spPr>
          <a:xfrm>
            <a:off x="9963150" y="3952875"/>
            <a:ext cx="1123950" cy="933450"/>
          </a:xfrm>
          <a:prstGeom prst="rect">
            <a:avLst/>
          </a:prstGeom>
          <a:noFill/>
          <a:ln w="0">
            <a:noFill/>
          </a:ln>
        </p:spPr>
        <p:txBody>
          <a:bodyPr lIns="38100" tIns="19050" rIns="38100" bIns="19050" anchor="ctr">
            <a:normAutofit/>
          </a:bodyPr>
          <a:lstStyle/>
          <a:p>
            <a:pPr algn="ctr">
              <a:defRPr sz="1350" b="0">
                <a:solidFill>
                  <a:srgbClr val="45E0E8"/>
                </a:solidFill>
                <a:latin typeface="Arial"/>
                <a:ea typeface="Arial"/>
                <a:cs typeface="Arial"/>
              </a:defRPr>
            </a:pPr>
            <a:r>
              <a:rPr sz="1350" b="0">
                <a:solidFill>
                  <a:srgbClr val="45E0E8"/>
                </a:solidFill>
                <a:latin typeface="Arial"/>
                <a:ea typeface="Arial"/>
                <a:cs typeface="Arial"/>
              </a:rPr>
              <a:t>Visitors leave</a:t>
            </a:r>
          </a:p>
          <a:p>
            <a:pPr algn="ctr">
              <a:defRPr sz="1350" b="0">
                <a:solidFill>
                  <a:srgbClr val="45E0E8"/>
                </a:solidFill>
                <a:latin typeface="Arial"/>
                <a:ea typeface="Arial"/>
                <a:cs typeface="Arial"/>
              </a:defRPr>
            </a:pPr>
            <a:r>
              <a:rPr sz="1350" b="0">
                <a:solidFill>
                  <a:srgbClr val="45E0E8"/>
                </a:solidFill>
                <a:latin typeface="Arial"/>
                <a:ea typeface="Arial"/>
                <a:cs typeface="Arial"/>
              </a:rPr>
              <a:t>with a memory</a:t>
            </a:r>
          </a:p>
          <a:p>
            <a:pPr algn="ctr">
              <a:defRPr sz="1350" b="0">
                <a:solidFill>
                  <a:srgbClr val="45E0E8"/>
                </a:solidFill>
                <a:latin typeface="Arial"/>
                <a:ea typeface="Arial"/>
                <a:cs typeface="Arial"/>
              </a:defRPr>
            </a:pPr>
            <a:r>
              <a:rPr sz="1350" b="0">
                <a:solidFill>
                  <a:srgbClr val="45E0E8"/>
                </a:solidFill>
                <a:latin typeface="Arial"/>
                <a:ea typeface="Arial"/>
                <a:cs typeface="Arial"/>
              </a:rPr>
              <a:t>and add one.</a:t>
            </a:r>
          </a:p>
        </p:txBody>
      </p:sp>
      <p:sp>
        <p:nvSpPr>
          <p:cNvPr id="31" name="Rectangle 30">
            <a:extLst>
              <a:ext uri="{FF2B5EF4-FFF2-40B4-BE49-F238E27FC236}">
                <a16:creationId xmlns:a16="http://schemas.microsoft.com/office/drawing/2014/main" id="{A7D4270D-A33C-460A-8DC0-D544FD4E4E7B}"/>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2" name="Rectangle 31">
            <a:extLst>
              <a:ext uri="{FF2B5EF4-FFF2-40B4-BE49-F238E27FC236}">
                <a16:creationId xmlns:a16="http://schemas.microsoft.com/office/drawing/2014/main" id="{5A4E38A5-73B0-405C-A21A-C6598E8A52ED}"/>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04</a:t>
            </a:r>
          </a:p>
        </p:txBody>
      </p:sp>
      <p:pic>
        <p:nvPicPr>
          <p:cNvPr id="34" name="slide-04">
            <a:hlinkClick r:id="" action="ppaction://media"/>
            <a:extLst>
              <a:ext uri="{FF2B5EF4-FFF2-40B4-BE49-F238E27FC236}">
                <a16:creationId xmlns:a16="http://schemas.microsoft.com/office/drawing/2014/main" id="{78A4517C-F743-1F4F-DF43-4B4E5917E78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0368406"/>
      </p:ext>
    </p:extLst>
  </p:cSld>
  <p:clrMapOvr>
    <a:masterClrMapping/>
  </p:clrMapOvr>
  <mc:AlternateContent xmlns:mc="http://schemas.openxmlformats.org/markup-compatibility/2006">
    <mc:Choice xmlns:p14="http://schemas.microsoft.com/office/powerpoint/2010/main" Requires="p14">
      <p:transition spd="slow" p14:dur="2000" advClick="0" advTm="44748">
        <p:fade/>
      </p:transition>
    </mc:Choice>
    <mc:Fallback>
      <p:transition spd="slow" advClick="0" advTm="4474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547"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326C4F2-A15B-4CD8-BB48-13B1E48557A4}"/>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Signature exhibits</a:t>
            </a:r>
          </a:p>
        </p:txBody>
      </p:sp>
      <p:sp>
        <p:nvSpPr>
          <p:cNvPr id="2" name="Rectangle 1">
            <a:extLst>
              <a:ext uri="{FF2B5EF4-FFF2-40B4-BE49-F238E27FC236}">
                <a16:creationId xmlns:a16="http://schemas.microsoft.com/office/drawing/2014/main" id="{DAFA1D2D-A775-406D-B7D1-FE48DCD3B509}"/>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Four interactive moments that turn familiar memories into cultural evidence</a:t>
            </a:r>
          </a:p>
        </p:txBody>
      </p:sp>
      <p:sp>
        <p:nvSpPr>
          <p:cNvPr id="3" name="Rectangle 2">
            <a:extLst>
              <a:ext uri="{FF2B5EF4-FFF2-40B4-BE49-F238E27FC236}">
                <a16:creationId xmlns:a16="http://schemas.microsoft.com/office/drawing/2014/main" id="{14B04AD2-2D95-41AC-8989-C478C4658107}"/>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8FF893C9-B242-4058-AB2A-A90C1D90FF86}"/>
              </a:ext>
            </a:extLst>
          </p:cNvPr>
          <p:cNvSpPr>
            <a:spLocks noGrp="1"/>
          </p:cNvSpPr>
          <p:nvPr/>
        </p:nvSpPr>
        <p:spPr>
          <a:xfrm>
            <a:off x="685800" y="1762125"/>
            <a:ext cx="5191125" cy="1619250"/>
          </a:xfrm>
          <a:prstGeom prst="roundRect">
            <a:avLst>
              <a:gd name="adj" fmla="val 7059"/>
            </a:avLst>
          </a:prstGeom>
          <a:solidFill>
            <a:srgbClr val="FFFFFF"/>
          </a:solidFill>
          <a:ln w="0">
            <a:noFill/>
          </a:ln>
        </p:spPr>
      </p:sp>
      <p:sp>
        <p:nvSpPr>
          <p:cNvPr id="5" name="Rectangle 4">
            <a:extLst>
              <a:ext uri="{FF2B5EF4-FFF2-40B4-BE49-F238E27FC236}">
                <a16:creationId xmlns:a16="http://schemas.microsoft.com/office/drawing/2014/main" id="{BBA41A0E-ADD1-4FA6-9CC6-26ACD5D58235}"/>
              </a:ext>
            </a:extLst>
          </p:cNvPr>
          <p:cNvSpPr>
            <a:spLocks noGrp="1"/>
          </p:cNvSpPr>
          <p:nvPr/>
        </p:nvSpPr>
        <p:spPr>
          <a:xfrm>
            <a:off x="685800" y="1762125"/>
            <a:ext cx="114300" cy="1619250"/>
          </a:xfrm>
          <a:prstGeom prst="rect">
            <a:avLst/>
          </a:prstGeom>
          <a:solidFill>
            <a:srgbClr val="FF4F9A"/>
          </a:solidFill>
          <a:ln w="0">
            <a:noFill/>
          </a:ln>
        </p:spPr>
      </p:sp>
      <p:sp>
        <p:nvSpPr>
          <p:cNvPr id="6" name="Rectangle 5">
            <a:extLst>
              <a:ext uri="{FF2B5EF4-FFF2-40B4-BE49-F238E27FC236}">
                <a16:creationId xmlns:a16="http://schemas.microsoft.com/office/drawing/2014/main" id="{F0D85600-3D8C-4835-831B-5D3C233B0216}"/>
              </a:ext>
            </a:extLst>
          </p:cNvPr>
          <p:cNvSpPr>
            <a:spLocks noGrp="1"/>
          </p:cNvSpPr>
          <p:nvPr/>
        </p:nvSpPr>
        <p:spPr>
          <a:xfrm>
            <a:off x="1009650" y="1952625"/>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FRIENDSTER TESTIMONIAL BOOTH</a:t>
            </a:r>
          </a:p>
        </p:txBody>
      </p:sp>
      <p:sp>
        <p:nvSpPr>
          <p:cNvPr id="7" name="Rectangle 6">
            <a:extLst>
              <a:ext uri="{FF2B5EF4-FFF2-40B4-BE49-F238E27FC236}">
                <a16:creationId xmlns:a16="http://schemas.microsoft.com/office/drawing/2014/main" id="{FFCA0766-A0C5-44A6-9C1F-A78D9BDF0F59}"/>
              </a:ext>
            </a:extLst>
          </p:cNvPr>
          <p:cNvSpPr>
            <a:spLocks noGrp="1"/>
          </p:cNvSpPr>
          <p:nvPr/>
        </p:nvSpPr>
        <p:spPr>
          <a:xfrm>
            <a:off x="1009650" y="2447925"/>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Write a testimonial for your 2005 self. Then compare how online identity changed.</a:t>
            </a:r>
          </a:p>
        </p:txBody>
      </p:sp>
      <p:sp>
        <p:nvSpPr>
          <p:cNvPr id="8" name="Rectangle: Rounded Corners 7">
            <a:extLst>
              <a:ext uri="{FF2B5EF4-FFF2-40B4-BE49-F238E27FC236}">
                <a16:creationId xmlns:a16="http://schemas.microsoft.com/office/drawing/2014/main" id="{BFEDC28D-0470-4628-901D-AE601BF6D218}"/>
              </a:ext>
            </a:extLst>
          </p:cNvPr>
          <p:cNvSpPr>
            <a:spLocks noGrp="1"/>
          </p:cNvSpPr>
          <p:nvPr/>
        </p:nvSpPr>
        <p:spPr>
          <a:xfrm>
            <a:off x="6286500" y="1762125"/>
            <a:ext cx="5191125" cy="1619250"/>
          </a:xfrm>
          <a:prstGeom prst="roundRect">
            <a:avLst>
              <a:gd name="adj" fmla="val 7059"/>
            </a:avLst>
          </a:prstGeom>
          <a:solidFill>
            <a:srgbClr val="FFFFFF"/>
          </a:solidFill>
          <a:ln w="0">
            <a:noFill/>
          </a:ln>
        </p:spPr>
      </p:sp>
      <p:sp>
        <p:nvSpPr>
          <p:cNvPr id="9" name="Rectangle 8">
            <a:extLst>
              <a:ext uri="{FF2B5EF4-FFF2-40B4-BE49-F238E27FC236}">
                <a16:creationId xmlns:a16="http://schemas.microsoft.com/office/drawing/2014/main" id="{84C94688-2338-43B4-B5C0-1874FD40DF8B}"/>
              </a:ext>
            </a:extLst>
          </p:cNvPr>
          <p:cNvSpPr>
            <a:spLocks noGrp="1"/>
          </p:cNvSpPr>
          <p:nvPr/>
        </p:nvSpPr>
        <p:spPr>
          <a:xfrm>
            <a:off x="6286500" y="1762125"/>
            <a:ext cx="114300" cy="1619250"/>
          </a:xfrm>
          <a:prstGeom prst="rect">
            <a:avLst/>
          </a:prstGeom>
          <a:solidFill>
            <a:srgbClr val="45E0E8"/>
          </a:solidFill>
          <a:ln w="0">
            <a:noFill/>
          </a:ln>
        </p:spPr>
      </p:sp>
      <p:sp>
        <p:nvSpPr>
          <p:cNvPr id="10" name="Rectangle 9">
            <a:extLst>
              <a:ext uri="{FF2B5EF4-FFF2-40B4-BE49-F238E27FC236}">
                <a16:creationId xmlns:a16="http://schemas.microsoft.com/office/drawing/2014/main" id="{D62F6E70-FC02-4C81-A301-D0E85D9F425B}"/>
              </a:ext>
            </a:extLst>
          </p:cNvPr>
          <p:cNvSpPr>
            <a:spLocks noGrp="1"/>
          </p:cNvSpPr>
          <p:nvPr/>
        </p:nvSpPr>
        <p:spPr>
          <a:xfrm>
            <a:off x="6610350" y="1952625"/>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COMPUTER SHOP COUNTDOWN</a:t>
            </a:r>
          </a:p>
        </p:txBody>
      </p:sp>
      <p:sp>
        <p:nvSpPr>
          <p:cNvPr id="11" name="Rectangle 10">
            <a:extLst>
              <a:ext uri="{FF2B5EF4-FFF2-40B4-BE49-F238E27FC236}">
                <a16:creationId xmlns:a16="http://schemas.microsoft.com/office/drawing/2014/main" id="{E4D8E406-C029-405E-AA32-73C64807C784}"/>
              </a:ext>
            </a:extLst>
          </p:cNvPr>
          <p:cNvSpPr>
            <a:spLocks noGrp="1"/>
          </p:cNvSpPr>
          <p:nvPr/>
        </p:nvSpPr>
        <p:spPr>
          <a:xfrm>
            <a:off x="6610350" y="2447925"/>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A timer recreates the pressure of 12 minutes left and no saved school project.</a:t>
            </a:r>
          </a:p>
        </p:txBody>
      </p:sp>
      <p:sp>
        <p:nvSpPr>
          <p:cNvPr id="12" name="Rectangle: Rounded Corners 11">
            <a:extLst>
              <a:ext uri="{FF2B5EF4-FFF2-40B4-BE49-F238E27FC236}">
                <a16:creationId xmlns:a16="http://schemas.microsoft.com/office/drawing/2014/main" id="{147324F1-9F18-4293-9ADB-730A641CDE7D}"/>
              </a:ext>
            </a:extLst>
          </p:cNvPr>
          <p:cNvSpPr>
            <a:spLocks noGrp="1"/>
          </p:cNvSpPr>
          <p:nvPr/>
        </p:nvSpPr>
        <p:spPr>
          <a:xfrm>
            <a:off x="685800" y="3714750"/>
            <a:ext cx="5191125" cy="1619250"/>
          </a:xfrm>
          <a:prstGeom prst="roundRect">
            <a:avLst>
              <a:gd name="adj" fmla="val 7059"/>
            </a:avLst>
          </a:prstGeom>
          <a:solidFill>
            <a:srgbClr val="FFFFFF"/>
          </a:solidFill>
          <a:ln w="0">
            <a:noFill/>
          </a:ln>
        </p:spPr>
      </p:sp>
      <p:sp>
        <p:nvSpPr>
          <p:cNvPr id="13" name="Rectangle 12">
            <a:extLst>
              <a:ext uri="{FF2B5EF4-FFF2-40B4-BE49-F238E27FC236}">
                <a16:creationId xmlns:a16="http://schemas.microsoft.com/office/drawing/2014/main" id="{68A8A111-8BF4-4236-B7E7-DAC79342705A}"/>
              </a:ext>
            </a:extLst>
          </p:cNvPr>
          <p:cNvSpPr>
            <a:spLocks noGrp="1"/>
          </p:cNvSpPr>
          <p:nvPr/>
        </p:nvSpPr>
        <p:spPr>
          <a:xfrm>
            <a:off x="685800" y="3714750"/>
            <a:ext cx="114300" cy="1619250"/>
          </a:xfrm>
          <a:prstGeom prst="rect">
            <a:avLst/>
          </a:prstGeom>
          <a:solidFill>
            <a:srgbClr val="FFC857"/>
          </a:solidFill>
          <a:ln w="0">
            <a:noFill/>
          </a:ln>
        </p:spPr>
      </p:sp>
      <p:sp>
        <p:nvSpPr>
          <p:cNvPr id="14" name="Rectangle 13">
            <a:extLst>
              <a:ext uri="{FF2B5EF4-FFF2-40B4-BE49-F238E27FC236}">
                <a16:creationId xmlns:a16="http://schemas.microsoft.com/office/drawing/2014/main" id="{21F7299C-DCBC-4A25-801A-4C7057939BAF}"/>
              </a:ext>
            </a:extLst>
          </p:cNvPr>
          <p:cNvSpPr>
            <a:spLocks noGrp="1"/>
          </p:cNvSpPr>
          <p:nvPr/>
        </p:nvSpPr>
        <p:spPr>
          <a:xfrm>
            <a:off x="1009650" y="3905250"/>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KILIG TRANSLATION ROOM</a:t>
            </a:r>
          </a:p>
        </p:txBody>
      </p:sp>
      <p:sp>
        <p:nvSpPr>
          <p:cNvPr id="15" name="Rectangle 14">
            <a:extLst>
              <a:ext uri="{FF2B5EF4-FFF2-40B4-BE49-F238E27FC236}">
                <a16:creationId xmlns:a16="http://schemas.microsoft.com/office/drawing/2014/main" id="{4B225BE5-5BAA-49F9-90E7-AB1428177972}"/>
              </a:ext>
            </a:extLst>
          </p:cNvPr>
          <p:cNvSpPr>
            <a:spLocks noGrp="1"/>
          </p:cNvSpPr>
          <p:nvPr/>
        </p:nvSpPr>
        <p:spPr>
          <a:xfrm>
            <a:off x="1009650" y="4400550"/>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Visitors map how Taiwanese and Korean dramas shaped emotion, language, and fandom.</a:t>
            </a:r>
          </a:p>
        </p:txBody>
      </p:sp>
      <p:sp>
        <p:nvSpPr>
          <p:cNvPr id="16" name="Rectangle: Rounded Corners 15">
            <a:extLst>
              <a:ext uri="{FF2B5EF4-FFF2-40B4-BE49-F238E27FC236}">
                <a16:creationId xmlns:a16="http://schemas.microsoft.com/office/drawing/2014/main" id="{760F09DB-3901-488D-A0D9-2FF15D5F7420}"/>
              </a:ext>
            </a:extLst>
          </p:cNvPr>
          <p:cNvSpPr>
            <a:spLocks noGrp="1"/>
          </p:cNvSpPr>
          <p:nvPr/>
        </p:nvSpPr>
        <p:spPr>
          <a:xfrm>
            <a:off x="6286500" y="3714750"/>
            <a:ext cx="5191125" cy="1619250"/>
          </a:xfrm>
          <a:prstGeom prst="roundRect">
            <a:avLst>
              <a:gd name="adj" fmla="val 7059"/>
            </a:avLst>
          </a:prstGeom>
          <a:solidFill>
            <a:srgbClr val="FFFFFF"/>
          </a:solidFill>
          <a:ln w="0">
            <a:noFill/>
          </a:ln>
        </p:spPr>
      </p:sp>
      <p:sp>
        <p:nvSpPr>
          <p:cNvPr id="17" name="Rectangle 16">
            <a:extLst>
              <a:ext uri="{FF2B5EF4-FFF2-40B4-BE49-F238E27FC236}">
                <a16:creationId xmlns:a16="http://schemas.microsoft.com/office/drawing/2014/main" id="{770C84BB-33BF-40C8-82EE-C170A0E2D4D7}"/>
              </a:ext>
            </a:extLst>
          </p:cNvPr>
          <p:cNvSpPr>
            <a:spLocks noGrp="1"/>
          </p:cNvSpPr>
          <p:nvPr/>
        </p:nvSpPr>
        <p:spPr>
          <a:xfrm>
            <a:off x="6286500" y="3714750"/>
            <a:ext cx="114300" cy="1619250"/>
          </a:xfrm>
          <a:prstGeom prst="rect">
            <a:avLst/>
          </a:prstGeom>
          <a:solidFill>
            <a:srgbClr val="74F0C4"/>
          </a:solidFill>
          <a:ln w="0">
            <a:noFill/>
          </a:ln>
        </p:spPr>
      </p:sp>
      <p:sp>
        <p:nvSpPr>
          <p:cNvPr id="18" name="Rectangle 17">
            <a:extLst>
              <a:ext uri="{FF2B5EF4-FFF2-40B4-BE49-F238E27FC236}">
                <a16:creationId xmlns:a16="http://schemas.microsoft.com/office/drawing/2014/main" id="{C40400DA-4A52-4183-B4E1-8121EECBEBAE}"/>
              </a:ext>
            </a:extLst>
          </p:cNvPr>
          <p:cNvSpPr>
            <a:spLocks noGrp="1"/>
          </p:cNvSpPr>
          <p:nvPr/>
        </p:nvSpPr>
        <p:spPr>
          <a:xfrm>
            <a:off x="6610350" y="3905250"/>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VIDEOKE CONFIDENCE METER</a:t>
            </a:r>
          </a:p>
        </p:txBody>
      </p:sp>
      <p:sp>
        <p:nvSpPr>
          <p:cNvPr id="19" name="Rectangle 18">
            <a:extLst>
              <a:ext uri="{FF2B5EF4-FFF2-40B4-BE49-F238E27FC236}">
                <a16:creationId xmlns:a16="http://schemas.microsoft.com/office/drawing/2014/main" id="{34610A46-B273-4BBC-B9ED-886F5CAFF6A3}"/>
              </a:ext>
            </a:extLst>
          </p:cNvPr>
          <p:cNvSpPr>
            <a:spLocks noGrp="1"/>
          </p:cNvSpPr>
          <p:nvPr/>
        </p:nvSpPr>
        <p:spPr>
          <a:xfrm>
            <a:off x="6610350" y="4400550"/>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The system measures participation, not pitch. Democracy survives another chorus.</a:t>
            </a:r>
          </a:p>
        </p:txBody>
      </p:sp>
      <p:sp>
        <p:nvSpPr>
          <p:cNvPr id="20" name="Rectangle 19">
            <a:extLst>
              <a:ext uri="{FF2B5EF4-FFF2-40B4-BE49-F238E27FC236}">
                <a16:creationId xmlns:a16="http://schemas.microsoft.com/office/drawing/2014/main" id="{8101A6E6-9FF1-4B2A-BCC7-1E9CBB73B1B1}"/>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1" name="Rectangle 20">
            <a:extLst>
              <a:ext uri="{FF2B5EF4-FFF2-40B4-BE49-F238E27FC236}">
                <a16:creationId xmlns:a16="http://schemas.microsoft.com/office/drawing/2014/main" id="{A0D985AC-143E-40E1-9A48-1718EC7A0596}"/>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05</a:t>
            </a:r>
          </a:p>
        </p:txBody>
      </p:sp>
      <p:pic>
        <p:nvPicPr>
          <p:cNvPr id="23" name="slide-05">
            <a:hlinkClick r:id="" action="ppaction://media"/>
            <a:extLst>
              <a:ext uri="{FF2B5EF4-FFF2-40B4-BE49-F238E27FC236}">
                <a16:creationId xmlns:a16="http://schemas.microsoft.com/office/drawing/2014/main" id="{99F6DE32-0390-A09B-210D-DD06F839306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87819293"/>
      </p:ext>
    </p:extLst>
  </p:cSld>
  <p:clrMapOvr>
    <a:masterClrMapping/>
  </p:clrMapOvr>
  <mc:AlternateContent xmlns:mc="http://schemas.openxmlformats.org/markup-compatibility/2006">
    <mc:Choice xmlns:p14="http://schemas.microsoft.com/office/powerpoint/2010/main" Requires="p14">
      <p:transition spd="slow" p14:dur="2000" advClick="0" advTm="44347">
        <p:fade/>
      </p:transition>
    </mc:Choice>
    <mc:Fallback>
      <p:transition spd="slow" advClick="0" advTm="4434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14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9C73CE5-B143-4325-890C-0AA0D72D5A3C}"/>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A museum people will quote</a:t>
            </a:r>
          </a:p>
        </p:txBody>
      </p:sp>
      <p:sp>
        <p:nvSpPr>
          <p:cNvPr id="2" name="Rectangle 1">
            <a:extLst>
              <a:ext uri="{FF2B5EF4-FFF2-40B4-BE49-F238E27FC236}">
                <a16:creationId xmlns:a16="http://schemas.microsoft.com/office/drawing/2014/main" id="{F83D58FF-BCD0-4BBB-BE4C-98BD5101F9FE}"/>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Humor creates recognition; reflection creates value</a:t>
            </a:r>
          </a:p>
        </p:txBody>
      </p:sp>
      <p:sp>
        <p:nvSpPr>
          <p:cNvPr id="3" name="Rectangle 2">
            <a:extLst>
              <a:ext uri="{FF2B5EF4-FFF2-40B4-BE49-F238E27FC236}">
                <a16:creationId xmlns:a16="http://schemas.microsoft.com/office/drawing/2014/main" id="{3A8300B0-40C8-4E01-98A1-C6DA5EF5E2AB}"/>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E2ED12C5-1AD3-4B89-BBFF-1C84EABA0467}"/>
              </a:ext>
            </a:extLst>
          </p:cNvPr>
          <p:cNvSpPr>
            <a:spLocks noGrp="1"/>
          </p:cNvSpPr>
          <p:nvPr/>
        </p:nvSpPr>
        <p:spPr>
          <a:xfrm>
            <a:off x="742950" y="1809750"/>
            <a:ext cx="5286375" cy="1190625"/>
          </a:xfrm>
          <a:prstGeom prst="rect">
            <a:avLst/>
          </a:prstGeom>
          <a:noFill/>
          <a:ln w="0">
            <a:noFill/>
          </a:ln>
        </p:spPr>
        <p:txBody>
          <a:bodyPr lIns="38100" tIns="19050" rIns="38100" bIns="19050" anchor="ctr">
            <a:normAutofit fontScale="97718"/>
          </a:bodyPr>
          <a:lstStyle/>
          <a:p>
            <a:pPr algn="l">
              <a:defRPr sz="2775" b="1">
                <a:solidFill>
                  <a:srgbClr val="11142A"/>
                </a:solidFill>
                <a:latin typeface="Arial"/>
                <a:ea typeface="Arial"/>
                <a:cs typeface="Arial"/>
              </a:defRPr>
            </a:pPr>
            <a:r>
              <a:rPr sz="2775" b="1">
                <a:solidFill>
                  <a:srgbClr val="11142A"/>
                </a:solidFill>
                <a:latin typeface="Arial"/>
                <a:ea typeface="Arial"/>
                <a:cs typeface="Arial"/>
              </a:rPr>
              <a:t>“You were not offline.</a:t>
            </a:r>
          </a:p>
          <a:p>
            <a:pPr algn="l">
              <a:defRPr sz="2775" b="1">
                <a:solidFill>
                  <a:srgbClr val="11142A"/>
                </a:solidFill>
                <a:latin typeface="Arial"/>
                <a:ea typeface="Arial"/>
                <a:cs typeface="Arial"/>
              </a:defRPr>
            </a:pPr>
            <a:r>
              <a:rPr sz="2775" b="1">
                <a:solidFill>
                  <a:srgbClr val="11142A"/>
                </a:solidFill>
                <a:latin typeface="Arial"/>
                <a:ea typeface="Arial"/>
                <a:cs typeface="Arial"/>
              </a:rPr>
              <a:t>You were waiting for your turn.”</a:t>
            </a:r>
          </a:p>
        </p:txBody>
      </p:sp>
      <p:sp>
        <p:nvSpPr>
          <p:cNvPr id="5" name="Rectangle 4">
            <a:extLst>
              <a:ext uri="{FF2B5EF4-FFF2-40B4-BE49-F238E27FC236}">
                <a16:creationId xmlns:a16="http://schemas.microsoft.com/office/drawing/2014/main" id="{3A44B3B2-D697-49D9-B753-216712CADD01}"/>
              </a:ext>
            </a:extLst>
          </p:cNvPr>
          <p:cNvSpPr>
            <a:spLocks noGrp="1"/>
          </p:cNvSpPr>
          <p:nvPr/>
        </p:nvSpPr>
        <p:spPr>
          <a:xfrm>
            <a:off x="781050" y="3238500"/>
            <a:ext cx="5048250" cy="876300"/>
          </a:xfrm>
          <a:prstGeom prst="rect">
            <a:avLst/>
          </a:prstGeom>
          <a:noFill/>
          <a:ln w="0">
            <a:noFill/>
          </a:ln>
        </p:spPr>
        <p:txBody>
          <a:bodyPr lIns="38100" tIns="19050" rIns="38100" bIns="19050" anchor="ctr">
            <a:normAutofit/>
          </a:bodyPr>
          <a:lstStyle/>
          <a:p>
            <a:pPr algn="l">
              <a:defRPr sz="1575" b="0">
                <a:solidFill>
                  <a:srgbClr val="66647A"/>
                </a:solidFill>
                <a:latin typeface="Arial"/>
                <a:ea typeface="Arial"/>
                <a:cs typeface="Arial"/>
              </a:defRPr>
            </a:pPr>
            <a:r>
              <a:rPr sz="1575" b="0">
                <a:solidFill>
                  <a:srgbClr val="66647A"/>
                </a:solidFill>
                <a:latin typeface="Arial"/>
                <a:ea typeface="Arial"/>
                <a:cs typeface="Arial"/>
              </a:rPr>
              <a:t>Computer shops turned limited access into shared time, multiplayer friendships, and digital literacy.</a:t>
            </a:r>
          </a:p>
        </p:txBody>
      </p:sp>
      <p:sp>
        <p:nvSpPr>
          <p:cNvPr id="6" name="Rectangle: Rounded Corners 5">
            <a:extLst>
              <a:ext uri="{FF2B5EF4-FFF2-40B4-BE49-F238E27FC236}">
                <a16:creationId xmlns:a16="http://schemas.microsoft.com/office/drawing/2014/main" id="{692120FA-B170-4BCB-887A-543C7A1842BB}"/>
              </a:ext>
            </a:extLst>
          </p:cNvPr>
          <p:cNvSpPr>
            <a:spLocks noGrp="1"/>
          </p:cNvSpPr>
          <p:nvPr/>
        </p:nvSpPr>
        <p:spPr>
          <a:xfrm>
            <a:off x="6572250" y="1666875"/>
            <a:ext cx="4572000" cy="3333750"/>
          </a:xfrm>
          <a:prstGeom prst="roundRect">
            <a:avLst>
              <a:gd name="adj" fmla="val 5143"/>
            </a:avLst>
          </a:prstGeom>
          <a:solidFill>
            <a:srgbClr val="6C4BF4"/>
          </a:solidFill>
          <a:ln w="0">
            <a:noFill/>
          </a:ln>
        </p:spPr>
      </p:sp>
      <p:sp>
        <p:nvSpPr>
          <p:cNvPr id="7" name="Rectangle 6">
            <a:extLst>
              <a:ext uri="{FF2B5EF4-FFF2-40B4-BE49-F238E27FC236}">
                <a16:creationId xmlns:a16="http://schemas.microsoft.com/office/drawing/2014/main" id="{C1CE04CB-C29F-4E13-ADB6-9176CC6817E4}"/>
              </a:ext>
            </a:extLst>
          </p:cNvPr>
          <p:cNvSpPr>
            <a:spLocks noGrp="1"/>
          </p:cNvSpPr>
          <p:nvPr/>
        </p:nvSpPr>
        <p:spPr>
          <a:xfrm>
            <a:off x="6953250" y="2000250"/>
            <a:ext cx="3810000" cy="781050"/>
          </a:xfrm>
          <a:prstGeom prst="rect">
            <a:avLst/>
          </a:prstGeom>
          <a:noFill/>
          <a:ln w="0">
            <a:noFill/>
          </a:ln>
        </p:spPr>
        <p:txBody>
          <a:bodyPr lIns="38100" tIns="19050" rIns="38100" bIns="19050" anchor="ctr">
            <a:norm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FRIENDSTER</a:t>
            </a:r>
          </a:p>
          <a:p>
            <a:pPr algn="ctr">
              <a:defRPr sz="2100" b="1">
                <a:solidFill>
                  <a:srgbClr val="FFFFFF"/>
                </a:solidFill>
                <a:latin typeface="Arial"/>
                <a:ea typeface="Arial"/>
                <a:cs typeface="Arial"/>
              </a:defRPr>
            </a:pPr>
            <a:r>
              <a:rPr sz="2100" b="1">
                <a:solidFill>
                  <a:srgbClr val="FFFFFF"/>
                </a:solidFill>
                <a:latin typeface="Arial"/>
                <a:ea typeface="Arial"/>
                <a:cs typeface="Arial"/>
              </a:rPr>
              <a:t>TESTIMONIAL</a:t>
            </a:r>
          </a:p>
        </p:txBody>
      </p:sp>
      <p:sp>
        <p:nvSpPr>
          <p:cNvPr id="8" name="Rectangle 7">
            <a:extLst>
              <a:ext uri="{FF2B5EF4-FFF2-40B4-BE49-F238E27FC236}">
                <a16:creationId xmlns:a16="http://schemas.microsoft.com/office/drawing/2014/main" id="{BAE76C52-6195-4F9F-8772-18185833F2D9}"/>
              </a:ext>
            </a:extLst>
          </p:cNvPr>
          <p:cNvSpPr>
            <a:spLocks noGrp="1"/>
          </p:cNvSpPr>
          <p:nvPr/>
        </p:nvSpPr>
        <p:spPr>
          <a:xfrm>
            <a:off x="7124700" y="3028950"/>
            <a:ext cx="3476625" cy="1047750"/>
          </a:xfrm>
          <a:prstGeom prst="rect">
            <a:avLst/>
          </a:prstGeom>
          <a:noFill/>
          <a:ln w="0">
            <a:noFill/>
          </a:ln>
        </p:spPr>
        <p:txBody>
          <a:bodyPr lIns="38100" tIns="19050" rIns="38100" bIns="19050" anchor="ctr">
            <a:normAutofit/>
          </a:bodyPr>
          <a:lstStyle/>
          <a:p>
            <a:pPr algn="ctr">
              <a:defRPr sz="1875" b="0">
                <a:solidFill>
                  <a:srgbClr val="FFC857"/>
                </a:solidFill>
                <a:latin typeface="Arial"/>
                <a:ea typeface="Arial"/>
                <a:cs typeface="Arial"/>
              </a:defRPr>
            </a:pPr>
            <a:r>
              <a:rPr sz="1875" b="0">
                <a:solidFill>
                  <a:srgbClr val="FFC857"/>
                </a:solidFill>
                <a:latin typeface="Arial"/>
                <a:ea typeface="Arial"/>
                <a:cs typeface="Arial"/>
              </a:rPr>
              <a:t>“Nice, funny, approachable.</a:t>
            </a:r>
          </a:p>
          <a:p>
            <a:pPr algn="ctr">
              <a:defRPr sz="1875" b="0">
                <a:solidFill>
                  <a:srgbClr val="FFC857"/>
                </a:solidFill>
                <a:latin typeface="Arial"/>
                <a:ea typeface="Arial"/>
                <a:cs typeface="Arial"/>
              </a:defRPr>
            </a:pPr>
            <a:r>
              <a:rPr sz="1875" b="0">
                <a:solidFill>
                  <a:srgbClr val="FFC857"/>
                </a:solidFill>
                <a:latin typeface="Arial"/>
                <a:ea typeface="Arial"/>
                <a:cs typeface="Arial"/>
              </a:rPr>
              <a:t>Stay who you are.</a:t>
            </a:r>
          </a:p>
          <a:p>
            <a:pPr algn="ctr">
              <a:defRPr sz="1875" b="0">
                <a:solidFill>
                  <a:srgbClr val="FFC857"/>
                </a:solidFill>
                <a:latin typeface="Arial"/>
                <a:ea typeface="Arial"/>
                <a:cs typeface="Arial"/>
              </a:defRPr>
            </a:pPr>
            <a:r>
              <a:rPr sz="1875" b="0">
                <a:solidFill>
                  <a:srgbClr val="FFC857"/>
                </a:solidFill>
                <a:latin typeface="Arial"/>
                <a:ea typeface="Arial"/>
                <a:cs typeface="Arial"/>
              </a:rPr>
              <a:t>Thanks for the testi.”</a:t>
            </a:r>
          </a:p>
        </p:txBody>
      </p:sp>
      <p:sp>
        <p:nvSpPr>
          <p:cNvPr id="9" name="Rectangle 8">
            <a:extLst>
              <a:ext uri="{FF2B5EF4-FFF2-40B4-BE49-F238E27FC236}">
                <a16:creationId xmlns:a16="http://schemas.microsoft.com/office/drawing/2014/main" id="{01C43D1B-1CCE-4DDB-B47C-7E32FAC242CA}"/>
              </a:ext>
            </a:extLst>
          </p:cNvPr>
          <p:cNvSpPr>
            <a:spLocks noGrp="1"/>
          </p:cNvSpPr>
          <p:nvPr/>
        </p:nvSpPr>
        <p:spPr>
          <a:xfrm>
            <a:off x="7000875" y="4362450"/>
            <a:ext cx="3714750" cy="323850"/>
          </a:xfrm>
          <a:prstGeom prst="rect">
            <a:avLst/>
          </a:prstGeom>
          <a:noFill/>
          <a:ln w="0">
            <a:noFill/>
          </a:ln>
        </p:spPr>
        <p:txBody>
          <a:bodyPr lIns="38100" tIns="19050" rIns="38100" bIns="19050" anchor="ctr">
            <a:normAutofit/>
          </a:bodyPr>
          <a:lstStyle/>
          <a:p>
            <a:pPr algn="ctr">
              <a:defRPr sz="1125" b="1">
                <a:solidFill>
                  <a:srgbClr val="DAD6EA"/>
                </a:solidFill>
                <a:latin typeface="Arial"/>
                <a:ea typeface="Arial"/>
                <a:cs typeface="Arial"/>
              </a:defRPr>
            </a:pPr>
            <a:r>
              <a:rPr sz="1125" b="1">
                <a:solidFill>
                  <a:srgbClr val="DAD6EA"/>
                </a:solidFill>
                <a:latin typeface="Arial"/>
                <a:ea typeface="Arial"/>
                <a:cs typeface="Arial"/>
              </a:rPr>
              <a:t>Translation: early public identity management.</a:t>
            </a:r>
          </a:p>
        </p:txBody>
      </p:sp>
      <p:sp>
        <p:nvSpPr>
          <p:cNvPr id="10" name="Rectangle 9">
            <a:extLst>
              <a:ext uri="{FF2B5EF4-FFF2-40B4-BE49-F238E27FC236}">
                <a16:creationId xmlns:a16="http://schemas.microsoft.com/office/drawing/2014/main" id="{1549E46B-BD79-4681-8D26-68FC144EB410}"/>
              </a:ext>
            </a:extLst>
          </p:cNvPr>
          <p:cNvSpPr>
            <a:spLocks noGrp="1"/>
          </p:cNvSpPr>
          <p:nvPr/>
        </p:nvSpPr>
        <p:spPr>
          <a:xfrm>
            <a:off x="1095375" y="5429250"/>
            <a:ext cx="10001250" cy="457200"/>
          </a:xfrm>
          <a:prstGeom prst="rect">
            <a:avLst/>
          </a:prstGeom>
          <a:noFill/>
          <a:ln w="0">
            <a:noFill/>
          </a:ln>
        </p:spPr>
        <p:txBody>
          <a:bodyPr lIns="38100" tIns="19050" rIns="38100" bIns="19050" anchor="ctr">
            <a:normAutofit/>
          </a:bodyPr>
          <a:lstStyle/>
          <a:p>
            <a:pPr algn="ctr">
              <a:defRPr sz="1875" b="1">
                <a:solidFill>
                  <a:srgbClr val="FF4F9A"/>
                </a:solidFill>
                <a:latin typeface="Arial"/>
                <a:ea typeface="Arial"/>
                <a:cs typeface="Arial"/>
              </a:defRPr>
            </a:pPr>
            <a:r>
              <a:rPr sz="1875" b="1">
                <a:solidFill>
                  <a:srgbClr val="FF4F9A"/>
                </a:solidFill>
                <a:latin typeface="Arial"/>
                <a:ea typeface="Arial"/>
                <a:cs typeface="Arial"/>
              </a:rPr>
              <a:t>The laugh opens the door. The exhibit explains why the memory matters.</a:t>
            </a:r>
          </a:p>
        </p:txBody>
      </p:sp>
      <p:sp>
        <p:nvSpPr>
          <p:cNvPr id="11" name="Rectangle 10">
            <a:extLst>
              <a:ext uri="{FF2B5EF4-FFF2-40B4-BE49-F238E27FC236}">
                <a16:creationId xmlns:a16="http://schemas.microsoft.com/office/drawing/2014/main" id="{AF589112-12DA-4EC7-A2C8-7F877C85311C}"/>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12" name="Rectangle 11">
            <a:extLst>
              <a:ext uri="{FF2B5EF4-FFF2-40B4-BE49-F238E27FC236}">
                <a16:creationId xmlns:a16="http://schemas.microsoft.com/office/drawing/2014/main" id="{E9397F39-4E13-4AC2-8609-4702010206C7}"/>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06</a:t>
            </a:r>
          </a:p>
        </p:txBody>
      </p:sp>
      <p:pic>
        <p:nvPicPr>
          <p:cNvPr id="14" name="slide-06">
            <a:hlinkClick r:id="" action="ppaction://media"/>
            <a:extLst>
              <a:ext uri="{FF2B5EF4-FFF2-40B4-BE49-F238E27FC236}">
                <a16:creationId xmlns:a16="http://schemas.microsoft.com/office/drawing/2014/main" id="{7B0C2E3B-2491-4FF8-1A1B-7890A40BFCA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624179316"/>
      </p:ext>
    </p:extLst>
  </p:cSld>
  <p:clrMapOvr>
    <a:masterClrMapping/>
  </p:clrMapOvr>
  <mc:AlternateContent xmlns:mc="http://schemas.openxmlformats.org/markup-compatibility/2006">
    <mc:Choice xmlns:p14="http://schemas.microsoft.com/office/powerpoint/2010/main" Requires="p14">
      <p:transition spd="slow" p14:dur="2000" advClick="0" advTm="44267">
        <p:fade/>
      </p:transition>
    </mc:Choice>
    <mc:Fallback>
      <p:transition spd="slow" advClick="0" advTm="442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067"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D0AA3F9-2B70-457C-A75C-C5B2CD395084}"/>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Who enters the mirror</a:t>
            </a:r>
          </a:p>
        </p:txBody>
      </p:sp>
      <p:sp>
        <p:nvSpPr>
          <p:cNvPr id="2" name="Rectangle 1">
            <a:extLst>
              <a:ext uri="{FF2B5EF4-FFF2-40B4-BE49-F238E27FC236}">
                <a16:creationId xmlns:a16="http://schemas.microsoft.com/office/drawing/2014/main" id="{BA473CBF-1B63-47CD-ABF1-54515B04D6C0}"/>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The concept connects generations instead of serving one nostalgia audience</a:t>
            </a:r>
          </a:p>
        </p:txBody>
      </p:sp>
      <p:sp>
        <p:nvSpPr>
          <p:cNvPr id="3" name="Rectangle 2">
            <a:extLst>
              <a:ext uri="{FF2B5EF4-FFF2-40B4-BE49-F238E27FC236}">
                <a16:creationId xmlns:a16="http://schemas.microsoft.com/office/drawing/2014/main" id="{E52E2DD4-19FC-4099-9212-306C9532E44A}"/>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2FAC536C-5375-41A4-9826-A952104D4F9A}"/>
              </a:ext>
            </a:extLst>
          </p:cNvPr>
          <p:cNvSpPr>
            <a:spLocks noGrp="1"/>
          </p:cNvSpPr>
          <p:nvPr/>
        </p:nvSpPr>
        <p:spPr>
          <a:xfrm>
            <a:off x="723900" y="1762125"/>
            <a:ext cx="3143250" cy="342900"/>
          </a:xfrm>
          <a:prstGeom prst="rect">
            <a:avLst/>
          </a:prstGeom>
          <a:noFill/>
          <a:ln w="0">
            <a:noFill/>
          </a:ln>
        </p:spPr>
        <p:txBody>
          <a:bodyPr lIns="38100" tIns="19050" rIns="38100" bIns="19050" anchor="ctr">
            <a:normAutofit/>
          </a:bodyPr>
          <a:lstStyle/>
          <a:p>
            <a:pPr algn="l">
              <a:defRPr sz="1500" b="1">
                <a:solidFill>
                  <a:srgbClr val="45E0E8"/>
                </a:solidFill>
                <a:latin typeface="Arial"/>
                <a:ea typeface="Arial"/>
                <a:cs typeface="Arial"/>
              </a:defRPr>
            </a:pPr>
            <a:r>
              <a:rPr sz="1500" b="1">
                <a:solidFill>
                  <a:srgbClr val="45E0E8"/>
                </a:solidFill>
                <a:latin typeface="Arial"/>
                <a:ea typeface="Arial"/>
                <a:cs typeface="Arial"/>
              </a:rPr>
              <a:t>STUDENTS</a:t>
            </a:r>
          </a:p>
        </p:txBody>
      </p:sp>
      <p:sp>
        <p:nvSpPr>
          <p:cNvPr id="5" name="Rectangle 4">
            <a:extLst>
              <a:ext uri="{FF2B5EF4-FFF2-40B4-BE49-F238E27FC236}">
                <a16:creationId xmlns:a16="http://schemas.microsoft.com/office/drawing/2014/main" id="{38D6BF28-B318-4B22-9BB2-8A654CECAAD1}"/>
              </a:ext>
            </a:extLst>
          </p:cNvPr>
          <p:cNvSpPr>
            <a:spLocks noGrp="1"/>
          </p:cNvSpPr>
          <p:nvPr/>
        </p:nvSpPr>
        <p:spPr>
          <a:xfrm>
            <a:off x="7239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A research experience that feels like discovery</a:t>
            </a:r>
          </a:p>
        </p:txBody>
      </p:sp>
      <p:sp>
        <p:nvSpPr>
          <p:cNvPr id="6" name="Rectangle 5">
            <a:extLst>
              <a:ext uri="{FF2B5EF4-FFF2-40B4-BE49-F238E27FC236}">
                <a16:creationId xmlns:a16="http://schemas.microsoft.com/office/drawing/2014/main" id="{D6F84C7F-7EA4-444E-8580-C100351136F7}"/>
              </a:ext>
            </a:extLst>
          </p:cNvPr>
          <p:cNvSpPr>
            <a:spLocks noGrp="1"/>
          </p:cNvSpPr>
          <p:nvPr/>
        </p:nvSpPr>
        <p:spPr>
          <a:xfrm>
            <a:off x="723900" y="3019425"/>
            <a:ext cx="3143250" cy="28575"/>
          </a:xfrm>
          <a:prstGeom prst="rect">
            <a:avLst/>
          </a:prstGeom>
          <a:solidFill>
            <a:srgbClr val="DAD6EA"/>
          </a:solidFill>
          <a:ln w="0">
            <a:noFill/>
          </a:ln>
        </p:spPr>
      </p:sp>
      <p:sp>
        <p:nvSpPr>
          <p:cNvPr id="7" name="Rectangle 6">
            <a:extLst>
              <a:ext uri="{FF2B5EF4-FFF2-40B4-BE49-F238E27FC236}">
                <a16:creationId xmlns:a16="http://schemas.microsoft.com/office/drawing/2014/main" id="{12264973-DDB1-4BA4-9525-63E610FEDA5A}"/>
              </a:ext>
            </a:extLst>
          </p:cNvPr>
          <p:cNvSpPr>
            <a:spLocks noGrp="1"/>
          </p:cNvSpPr>
          <p:nvPr/>
        </p:nvSpPr>
        <p:spPr>
          <a:xfrm>
            <a:off x="4457700" y="1762125"/>
            <a:ext cx="3143250" cy="342900"/>
          </a:xfrm>
          <a:prstGeom prst="rect">
            <a:avLst/>
          </a:prstGeom>
          <a:noFill/>
          <a:ln w="0">
            <a:noFill/>
          </a:ln>
        </p:spPr>
        <p:txBody>
          <a:bodyPr lIns="38100" tIns="19050" rIns="38100" bIns="19050" anchor="ctr">
            <a:normAutofit/>
          </a:bodyPr>
          <a:lstStyle/>
          <a:p>
            <a:pPr algn="l">
              <a:defRPr sz="1500" b="1">
                <a:solidFill>
                  <a:srgbClr val="FF4F9A"/>
                </a:solidFill>
                <a:latin typeface="Arial"/>
                <a:ea typeface="Arial"/>
                <a:cs typeface="Arial"/>
              </a:defRPr>
            </a:pPr>
            <a:r>
              <a:rPr sz="1500" b="1">
                <a:solidFill>
                  <a:srgbClr val="FF4F9A"/>
                </a:solidFill>
                <a:latin typeface="Arial"/>
                <a:ea typeface="Arial"/>
                <a:cs typeface="Arial"/>
              </a:rPr>
              <a:t>MILLENNIALS</a:t>
            </a:r>
          </a:p>
        </p:txBody>
      </p:sp>
      <p:sp>
        <p:nvSpPr>
          <p:cNvPr id="8" name="Rectangle 7">
            <a:extLst>
              <a:ext uri="{FF2B5EF4-FFF2-40B4-BE49-F238E27FC236}">
                <a16:creationId xmlns:a16="http://schemas.microsoft.com/office/drawing/2014/main" id="{15971ED5-A78A-4B79-8662-79CC9F43F27E}"/>
              </a:ext>
            </a:extLst>
          </p:cNvPr>
          <p:cNvSpPr>
            <a:spLocks noGrp="1"/>
          </p:cNvSpPr>
          <p:nvPr/>
        </p:nvSpPr>
        <p:spPr>
          <a:xfrm>
            <a:off x="44577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Recognition, memory, and a chance to contribute</a:t>
            </a:r>
          </a:p>
        </p:txBody>
      </p:sp>
      <p:sp>
        <p:nvSpPr>
          <p:cNvPr id="9" name="Rectangle 8">
            <a:extLst>
              <a:ext uri="{FF2B5EF4-FFF2-40B4-BE49-F238E27FC236}">
                <a16:creationId xmlns:a16="http://schemas.microsoft.com/office/drawing/2014/main" id="{6CDE8C0B-BD60-48CF-8A38-3A9E30A8D737}"/>
              </a:ext>
            </a:extLst>
          </p:cNvPr>
          <p:cNvSpPr>
            <a:spLocks noGrp="1"/>
          </p:cNvSpPr>
          <p:nvPr/>
        </p:nvSpPr>
        <p:spPr>
          <a:xfrm>
            <a:off x="4457700" y="3019425"/>
            <a:ext cx="3143250" cy="28575"/>
          </a:xfrm>
          <a:prstGeom prst="rect">
            <a:avLst/>
          </a:prstGeom>
          <a:solidFill>
            <a:srgbClr val="DAD6EA"/>
          </a:solidFill>
          <a:ln w="0">
            <a:noFill/>
          </a:ln>
        </p:spPr>
      </p:sp>
      <p:sp>
        <p:nvSpPr>
          <p:cNvPr id="10" name="Rectangle 9">
            <a:extLst>
              <a:ext uri="{FF2B5EF4-FFF2-40B4-BE49-F238E27FC236}">
                <a16:creationId xmlns:a16="http://schemas.microsoft.com/office/drawing/2014/main" id="{63D7A887-8B84-44DE-A5B3-93E486C55397}"/>
              </a:ext>
            </a:extLst>
          </p:cNvPr>
          <p:cNvSpPr>
            <a:spLocks noGrp="1"/>
          </p:cNvSpPr>
          <p:nvPr/>
        </p:nvSpPr>
        <p:spPr>
          <a:xfrm>
            <a:off x="8191500" y="1762125"/>
            <a:ext cx="3143250" cy="342900"/>
          </a:xfrm>
          <a:prstGeom prst="rect">
            <a:avLst/>
          </a:prstGeom>
          <a:noFill/>
          <a:ln w="0">
            <a:noFill/>
          </a:ln>
        </p:spPr>
        <p:txBody>
          <a:bodyPr lIns="38100" tIns="19050" rIns="38100" bIns="19050" anchor="ctr">
            <a:normAutofit/>
          </a:bodyPr>
          <a:lstStyle/>
          <a:p>
            <a:pPr algn="l">
              <a:defRPr sz="1500" b="1">
                <a:solidFill>
                  <a:srgbClr val="FFC857"/>
                </a:solidFill>
                <a:latin typeface="Arial"/>
                <a:ea typeface="Arial"/>
                <a:cs typeface="Arial"/>
              </a:defRPr>
            </a:pPr>
            <a:r>
              <a:rPr sz="1500" b="1">
                <a:solidFill>
                  <a:srgbClr val="FFC857"/>
                </a:solidFill>
                <a:latin typeface="Arial"/>
                <a:ea typeface="Arial"/>
                <a:cs typeface="Arial"/>
              </a:rPr>
              <a:t>FAMILIES</a:t>
            </a:r>
          </a:p>
        </p:txBody>
      </p:sp>
      <p:sp>
        <p:nvSpPr>
          <p:cNvPr id="11" name="Rectangle 10">
            <a:extLst>
              <a:ext uri="{FF2B5EF4-FFF2-40B4-BE49-F238E27FC236}">
                <a16:creationId xmlns:a16="http://schemas.microsoft.com/office/drawing/2014/main" id="{305EE6E0-8560-4DCA-B5F0-137572F5570E}"/>
              </a:ext>
            </a:extLst>
          </p:cNvPr>
          <p:cNvSpPr>
            <a:spLocks noGrp="1"/>
          </p:cNvSpPr>
          <p:nvPr/>
        </p:nvSpPr>
        <p:spPr>
          <a:xfrm>
            <a:off x="81915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Stories that move between parents and children</a:t>
            </a:r>
          </a:p>
        </p:txBody>
      </p:sp>
      <p:sp>
        <p:nvSpPr>
          <p:cNvPr id="12" name="Rectangle 11">
            <a:extLst>
              <a:ext uri="{FF2B5EF4-FFF2-40B4-BE49-F238E27FC236}">
                <a16:creationId xmlns:a16="http://schemas.microsoft.com/office/drawing/2014/main" id="{776B1CAA-597E-4504-A1B1-D549B49EA8CB}"/>
              </a:ext>
            </a:extLst>
          </p:cNvPr>
          <p:cNvSpPr>
            <a:spLocks noGrp="1"/>
          </p:cNvSpPr>
          <p:nvPr/>
        </p:nvSpPr>
        <p:spPr>
          <a:xfrm>
            <a:off x="8191500" y="3019425"/>
            <a:ext cx="3143250" cy="28575"/>
          </a:xfrm>
          <a:prstGeom prst="rect">
            <a:avLst/>
          </a:prstGeom>
          <a:solidFill>
            <a:srgbClr val="DAD6EA"/>
          </a:solidFill>
          <a:ln w="0">
            <a:noFill/>
          </a:ln>
        </p:spPr>
      </p:sp>
      <p:sp>
        <p:nvSpPr>
          <p:cNvPr id="13" name="Rectangle 12">
            <a:extLst>
              <a:ext uri="{FF2B5EF4-FFF2-40B4-BE49-F238E27FC236}">
                <a16:creationId xmlns:a16="http://schemas.microsoft.com/office/drawing/2014/main" id="{A65AD461-40BB-488B-A7FA-CF75F2141091}"/>
              </a:ext>
            </a:extLst>
          </p:cNvPr>
          <p:cNvSpPr>
            <a:spLocks noGrp="1"/>
          </p:cNvSpPr>
          <p:nvPr/>
        </p:nvSpPr>
        <p:spPr>
          <a:xfrm>
            <a:off x="723900" y="3571875"/>
            <a:ext cx="3143250" cy="342900"/>
          </a:xfrm>
          <a:prstGeom prst="rect">
            <a:avLst/>
          </a:prstGeom>
          <a:noFill/>
          <a:ln w="0">
            <a:noFill/>
          </a:ln>
        </p:spPr>
        <p:txBody>
          <a:bodyPr lIns="38100" tIns="19050" rIns="38100" bIns="19050" anchor="ctr">
            <a:normAutofit/>
          </a:bodyPr>
          <a:lstStyle/>
          <a:p>
            <a:pPr algn="l">
              <a:defRPr sz="1500" b="1">
                <a:solidFill>
                  <a:srgbClr val="74F0C4"/>
                </a:solidFill>
                <a:latin typeface="Arial"/>
                <a:ea typeface="Arial"/>
                <a:cs typeface="Arial"/>
              </a:defRPr>
            </a:pPr>
            <a:r>
              <a:rPr sz="1500" b="1">
                <a:solidFill>
                  <a:srgbClr val="74F0C4"/>
                </a:solidFill>
                <a:latin typeface="Arial"/>
                <a:ea typeface="Arial"/>
                <a:cs typeface="Arial"/>
              </a:rPr>
              <a:t>EDUCATORS</a:t>
            </a:r>
          </a:p>
        </p:txBody>
      </p:sp>
      <p:sp>
        <p:nvSpPr>
          <p:cNvPr id="14" name="Rectangle 13">
            <a:extLst>
              <a:ext uri="{FF2B5EF4-FFF2-40B4-BE49-F238E27FC236}">
                <a16:creationId xmlns:a16="http://schemas.microsoft.com/office/drawing/2014/main" id="{90F568AA-3D0A-4853-8844-ED7F578B13B3}"/>
              </a:ext>
            </a:extLst>
          </p:cNvPr>
          <p:cNvSpPr>
            <a:spLocks noGrp="1"/>
          </p:cNvSpPr>
          <p:nvPr/>
        </p:nvSpPr>
        <p:spPr>
          <a:xfrm>
            <a:off x="7239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Material organized through seven cultural lenses</a:t>
            </a:r>
          </a:p>
        </p:txBody>
      </p:sp>
      <p:sp>
        <p:nvSpPr>
          <p:cNvPr id="15" name="Rectangle 14">
            <a:extLst>
              <a:ext uri="{FF2B5EF4-FFF2-40B4-BE49-F238E27FC236}">
                <a16:creationId xmlns:a16="http://schemas.microsoft.com/office/drawing/2014/main" id="{4288FE59-B0EE-48B4-8BA2-07FB1B68B676}"/>
              </a:ext>
            </a:extLst>
          </p:cNvPr>
          <p:cNvSpPr>
            <a:spLocks noGrp="1"/>
          </p:cNvSpPr>
          <p:nvPr/>
        </p:nvSpPr>
        <p:spPr>
          <a:xfrm>
            <a:off x="723900" y="4829175"/>
            <a:ext cx="3143250" cy="28575"/>
          </a:xfrm>
          <a:prstGeom prst="rect">
            <a:avLst/>
          </a:prstGeom>
          <a:solidFill>
            <a:srgbClr val="DAD6EA"/>
          </a:solidFill>
          <a:ln w="0">
            <a:noFill/>
          </a:ln>
        </p:spPr>
      </p:sp>
      <p:sp>
        <p:nvSpPr>
          <p:cNvPr id="16" name="Rectangle 15">
            <a:extLst>
              <a:ext uri="{FF2B5EF4-FFF2-40B4-BE49-F238E27FC236}">
                <a16:creationId xmlns:a16="http://schemas.microsoft.com/office/drawing/2014/main" id="{0B7828D1-C925-446E-824F-B3AB05B0D9D3}"/>
              </a:ext>
            </a:extLst>
          </p:cNvPr>
          <p:cNvSpPr>
            <a:spLocks noGrp="1"/>
          </p:cNvSpPr>
          <p:nvPr/>
        </p:nvSpPr>
        <p:spPr>
          <a:xfrm>
            <a:off x="4457700" y="3571875"/>
            <a:ext cx="3143250" cy="342900"/>
          </a:xfrm>
          <a:prstGeom prst="rect">
            <a:avLst/>
          </a:prstGeom>
          <a:noFill/>
          <a:ln w="0">
            <a:noFill/>
          </a:ln>
        </p:spPr>
        <p:txBody>
          <a:bodyPr lIns="38100" tIns="19050" rIns="38100" bIns="19050" anchor="ctr">
            <a:normAutofit/>
          </a:bodyPr>
          <a:lstStyle/>
          <a:p>
            <a:pPr algn="l">
              <a:defRPr sz="1500" b="1">
                <a:solidFill>
                  <a:srgbClr val="5591FF"/>
                </a:solidFill>
                <a:latin typeface="Arial"/>
                <a:ea typeface="Arial"/>
                <a:cs typeface="Arial"/>
              </a:defRPr>
            </a:pPr>
            <a:r>
              <a:rPr sz="1500" b="1">
                <a:solidFill>
                  <a:srgbClr val="5591FF"/>
                </a:solidFill>
                <a:latin typeface="Arial"/>
                <a:ea typeface="Arial"/>
                <a:cs typeface="Arial"/>
              </a:rPr>
              <a:t>CREATIVE COMMUNITIES</a:t>
            </a:r>
          </a:p>
        </p:txBody>
      </p:sp>
      <p:sp>
        <p:nvSpPr>
          <p:cNvPr id="17" name="Rectangle 16">
            <a:extLst>
              <a:ext uri="{FF2B5EF4-FFF2-40B4-BE49-F238E27FC236}">
                <a16:creationId xmlns:a16="http://schemas.microsoft.com/office/drawing/2014/main" id="{54299B76-7E22-420B-A8E0-3AE556349FD3}"/>
              </a:ext>
            </a:extLst>
          </p:cNvPr>
          <p:cNvSpPr>
            <a:spLocks noGrp="1"/>
          </p:cNvSpPr>
          <p:nvPr/>
        </p:nvSpPr>
        <p:spPr>
          <a:xfrm>
            <a:off x="44577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A platform for local stories and interpretation</a:t>
            </a:r>
          </a:p>
        </p:txBody>
      </p:sp>
      <p:sp>
        <p:nvSpPr>
          <p:cNvPr id="18" name="Rectangle 17">
            <a:extLst>
              <a:ext uri="{FF2B5EF4-FFF2-40B4-BE49-F238E27FC236}">
                <a16:creationId xmlns:a16="http://schemas.microsoft.com/office/drawing/2014/main" id="{C1D33A18-CF41-4688-8850-1E9A8FC82945}"/>
              </a:ext>
            </a:extLst>
          </p:cNvPr>
          <p:cNvSpPr>
            <a:spLocks noGrp="1"/>
          </p:cNvSpPr>
          <p:nvPr/>
        </p:nvSpPr>
        <p:spPr>
          <a:xfrm>
            <a:off x="4457700" y="4829175"/>
            <a:ext cx="3143250" cy="28575"/>
          </a:xfrm>
          <a:prstGeom prst="rect">
            <a:avLst/>
          </a:prstGeom>
          <a:solidFill>
            <a:srgbClr val="DAD6EA"/>
          </a:solidFill>
          <a:ln w="0">
            <a:noFill/>
          </a:ln>
        </p:spPr>
      </p:sp>
      <p:sp>
        <p:nvSpPr>
          <p:cNvPr id="19" name="Rectangle 18">
            <a:extLst>
              <a:ext uri="{FF2B5EF4-FFF2-40B4-BE49-F238E27FC236}">
                <a16:creationId xmlns:a16="http://schemas.microsoft.com/office/drawing/2014/main" id="{E882D331-AD59-4253-A276-53E84E9C24FD}"/>
              </a:ext>
            </a:extLst>
          </p:cNvPr>
          <p:cNvSpPr>
            <a:spLocks noGrp="1"/>
          </p:cNvSpPr>
          <p:nvPr/>
        </p:nvSpPr>
        <p:spPr>
          <a:xfrm>
            <a:off x="8191500" y="3571875"/>
            <a:ext cx="3143250" cy="342900"/>
          </a:xfrm>
          <a:prstGeom prst="rect">
            <a:avLst/>
          </a:prstGeom>
          <a:noFill/>
          <a:ln w="0">
            <a:noFill/>
          </a:ln>
        </p:spPr>
        <p:txBody>
          <a:bodyPr lIns="38100" tIns="19050" rIns="38100" bIns="19050" anchor="ctr">
            <a:normAutofit/>
          </a:bodyPr>
          <a:lstStyle/>
          <a:p>
            <a:pPr algn="l">
              <a:defRPr sz="1500" b="1">
                <a:solidFill>
                  <a:srgbClr val="D76DFF"/>
                </a:solidFill>
                <a:latin typeface="Arial"/>
                <a:ea typeface="Arial"/>
                <a:cs typeface="Arial"/>
              </a:defRPr>
            </a:pPr>
            <a:r>
              <a:rPr sz="1500" b="1">
                <a:solidFill>
                  <a:srgbClr val="D76DFF"/>
                </a:solidFill>
                <a:latin typeface="Arial"/>
                <a:ea typeface="Arial"/>
                <a:cs typeface="Arial"/>
              </a:rPr>
              <a:t>SPONSORS</a:t>
            </a:r>
          </a:p>
        </p:txBody>
      </p:sp>
      <p:sp>
        <p:nvSpPr>
          <p:cNvPr id="20" name="Rectangle 19">
            <a:extLst>
              <a:ext uri="{FF2B5EF4-FFF2-40B4-BE49-F238E27FC236}">
                <a16:creationId xmlns:a16="http://schemas.microsoft.com/office/drawing/2014/main" id="{D60AF18C-1B7E-4CD2-9AE0-8CE57E2B2C61}"/>
              </a:ext>
            </a:extLst>
          </p:cNvPr>
          <p:cNvSpPr>
            <a:spLocks noGrp="1"/>
          </p:cNvSpPr>
          <p:nvPr/>
        </p:nvSpPr>
        <p:spPr>
          <a:xfrm>
            <a:off x="81915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Visible support for culture, education, and digital access</a:t>
            </a:r>
          </a:p>
        </p:txBody>
      </p:sp>
      <p:sp>
        <p:nvSpPr>
          <p:cNvPr id="21" name="Rectangle 20">
            <a:extLst>
              <a:ext uri="{FF2B5EF4-FFF2-40B4-BE49-F238E27FC236}">
                <a16:creationId xmlns:a16="http://schemas.microsoft.com/office/drawing/2014/main" id="{5682E87D-7B34-4CCA-91E0-EC792B9F7BD9}"/>
              </a:ext>
            </a:extLst>
          </p:cNvPr>
          <p:cNvSpPr>
            <a:spLocks noGrp="1"/>
          </p:cNvSpPr>
          <p:nvPr/>
        </p:nvSpPr>
        <p:spPr>
          <a:xfrm>
            <a:off x="8191500" y="4829175"/>
            <a:ext cx="3143250" cy="28575"/>
          </a:xfrm>
          <a:prstGeom prst="rect">
            <a:avLst/>
          </a:prstGeom>
          <a:solidFill>
            <a:srgbClr val="DAD6EA"/>
          </a:solidFill>
          <a:ln w="0">
            <a:noFill/>
          </a:ln>
        </p:spPr>
      </p:sp>
      <p:sp>
        <p:nvSpPr>
          <p:cNvPr id="22" name="Rectangle 21">
            <a:extLst>
              <a:ext uri="{FF2B5EF4-FFF2-40B4-BE49-F238E27FC236}">
                <a16:creationId xmlns:a16="http://schemas.microsoft.com/office/drawing/2014/main" id="{E757263F-E0D7-4074-BEC1-0871539BF8D3}"/>
              </a:ext>
            </a:extLst>
          </p:cNvPr>
          <p:cNvSpPr>
            <a:spLocks noGrp="1"/>
          </p:cNvSpPr>
          <p:nvPr/>
        </p:nvSpPr>
        <p:spPr>
          <a:xfrm>
            <a:off x="952500" y="5476875"/>
            <a:ext cx="10287000" cy="457200"/>
          </a:xfrm>
          <a:prstGeom prst="rect">
            <a:avLst/>
          </a:prstGeom>
          <a:noFill/>
          <a:ln w="0">
            <a:noFill/>
          </a:ln>
        </p:spPr>
        <p:txBody>
          <a:bodyPr lIns="38100" tIns="19050" rIns="38100" bIns="19050" anchor="ctr">
            <a:norm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One decade. Different memories. A shared Filipino conversation.</a:t>
            </a:r>
          </a:p>
        </p:txBody>
      </p:sp>
      <p:sp>
        <p:nvSpPr>
          <p:cNvPr id="23" name="Rectangle 22">
            <a:extLst>
              <a:ext uri="{FF2B5EF4-FFF2-40B4-BE49-F238E27FC236}">
                <a16:creationId xmlns:a16="http://schemas.microsoft.com/office/drawing/2014/main" id="{389285FB-9152-4897-87E4-FC39C62B49DD}"/>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4" name="Rectangle 23">
            <a:extLst>
              <a:ext uri="{FF2B5EF4-FFF2-40B4-BE49-F238E27FC236}">
                <a16:creationId xmlns:a16="http://schemas.microsoft.com/office/drawing/2014/main" id="{16BD2339-06CA-46C5-9CAE-8688EE3778D8}"/>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07</a:t>
            </a:r>
          </a:p>
        </p:txBody>
      </p:sp>
      <p:pic>
        <p:nvPicPr>
          <p:cNvPr id="26" name="slide-07">
            <a:hlinkClick r:id="" action="ppaction://media"/>
            <a:extLst>
              <a:ext uri="{FF2B5EF4-FFF2-40B4-BE49-F238E27FC236}">
                <a16:creationId xmlns:a16="http://schemas.microsoft.com/office/drawing/2014/main" id="{3BAA4949-FEAE-A8B3-1783-7657CEEBABC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168925178"/>
      </p:ext>
    </p:extLst>
  </p:cSld>
  <p:clrMapOvr>
    <a:masterClrMapping/>
  </p:clrMapOvr>
  <mc:AlternateContent xmlns:mc="http://schemas.openxmlformats.org/markup-compatibility/2006">
    <mc:Choice xmlns:p14="http://schemas.microsoft.com/office/powerpoint/2010/main" Requires="p14">
      <p:transition spd="slow" p14:dur="2000" advClick="0" advTm="48602">
        <p:fade/>
      </p:transition>
    </mc:Choice>
    <mc:Fallback>
      <p:transition spd="slow" advClick="0" advTm="4860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40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22277FA-4E5A-434E-9395-417B33689738}"/>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Sponsor value</a:t>
            </a:r>
          </a:p>
        </p:txBody>
      </p:sp>
      <p:sp>
        <p:nvSpPr>
          <p:cNvPr id="2" name="Rectangle 1">
            <a:extLst>
              <a:ext uri="{FF2B5EF4-FFF2-40B4-BE49-F238E27FC236}">
                <a16:creationId xmlns:a16="http://schemas.microsoft.com/office/drawing/2014/main" id="{0F8A1CC5-698B-42B5-AB12-BEF62A0B447A}"/>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Funding supports a visible public experience with measurable participation</a:t>
            </a:r>
          </a:p>
        </p:txBody>
      </p:sp>
      <p:sp>
        <p:nvSpPr>
          <p:cNvPr id="3" name="Rectangle 2">
            <a:extLst>
              <a:ext uri="{FF2B5EF4-FFF2-40B4-BE49-F238E27FC236}">
                <a16:creationId xmlns:a16="http://schemas.microsoft.com/office/drawing/2014/main" id="{26652975-F896-4CAB-9942-A3C0633B9E7E}"/>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9C0C3A20-C647-4680-B89A-FE2C1D36953F}"/>
              </a:ext>
            </a:extLst>
          </p:cNvPr>
          <p:cNvSpPr>
            <a:spLocks noGrp="1"/>
          </p:cNvSpPr>
          <p:nvPr/>
        </p:nvSpPr>
        <p:spPr>
          <a:xfrm>
            <a:off x="742950" y="1762125"/>
            <a:ext cx="590550" cy="476250"/>
          </a:xfrm>
          <a:prstGeom prst="rect">
            <a:avLst/>
          </a:prstGeom>
          <a:noFill/>
          <a:ln w="0">
            <a:noFill/>
          </a:ln>
        </p:spPr>
        <p:txBody>
          <a:bodyPr lIns="38100" tIns="19050" rIns="38100" bIns="19050" anchor="ctr">
            <a:normAutofit/>
          </a:bodyPr>
          <a:lstStyle/>
          <a:p>
            <a:pPr algn="l">
              <a:defRPr sz="2025" b="1">
                <a:solidFill>
                  <a:srgbClr val="6C4BF4"/>
                </a:solidFill>
                <a:latin typeface="Arial"/>
                <a:ea typeface="Arial"/>
                <a:cs typeface="Arial"/>
              </a:defRPr>
            </a:pPr>
            <a:r>
              <a:rPr sz="2025" b="1">
                <a:solidFill>
                  <a:srgbClr val="6C4BF4"/>
                </a:solidFill>
                <a:latin typeface="Arial"/>
                <a:ea typeface="Arial"/>
                <a:cs typeface="Arial"/>
              </a:rPr>
              <a:t>01</a:t>
            </a:r>
          </a:p>
        </p:txBody>
      </p:sp>
      <p:sp>
        <p:nvSpPr>
          <p:cNvPr id="5" name="Rectangle 4">
            <a:extLst>
              <a:ext uri="{FF2B5EF4-FFF2-40B4-BE49-F238E27FC236}">
                <a16:creationId xmlns:a16="http://schemas.microsoft.com/office/drawing/2014/main" id="{4EAEA148-D83A-4EC3-A2E8-69C40DC17723}"/>
              </a:ext>
            </a:extLst>
          </p:cNvPr>
          <p:cNvSpPr>
            <a:spLocks noGrp="1"/>
          </p:cNvSpPr>
          <p:nvPr/>
        </p:nvSpPr>
        <p:spPr>
          <a:xfrm>
            <a:off x="1571625" y="176212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CULTURAL PRESERVATION</a:t>
            </a:r>
          </a:p>
        </p:txBody>
      </p:sp>
      <p:sp>
        <p:nvSpPr>
          <p:cNvPr id="6" name="Rectangle 5">
            <a:extLst>
              <a:ext uri="{FF2B5EF4-FFF2-40B4-BE49-F238E27FC236}">
                <a16:creationId xmlns:a16="http://schemas.microsoft.com/office/drawing/2014/main" id="{3CA79D1D-D826-4098-B382-BEF345A06BC1}"/>
              </a:ext>
            </a:extLst>
          </p:cNvPr>
          <p:cNvSpPr>
            <a:spLocks noGrp="1"/>
          </p:cNvSpPr>
          <p:nvPr/>
        </p:nvSpPr>
        <p:spPr>
          <a:xfrm>
            <a:off x="4857750" y="174307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Help document ordinary memories before they disappear.</a:t>
            </a:r>
          </a:p>
        </p:txBody>
      </p:sp>
      <p:sp>
        <p:nvSpPr>
          <p:cNvPr id="7" name="Rectangle 6">
            <a:extLst>
              <a:ext uri="{FF2B5EF4-FFF2-40B4-BE49-F238E27FC236}">
                <a16:creationId xmlns:a16="http://schemas.microsoft.com/office/drawing/2014/main" id="{F5E8BC0D-95F1-4B50-BF38-147636D704D6}"/>
              </a:ext>
            </a:extLst>
          </p:cNvPr>
          <p:cNvSpPr>
            <a:spLocks noGrp="1"/>
          </p:cNvSpPr>
          <p:nvPr/>
        </p:nvSpPr>
        <p:spPr>
          <a:xfrm>
            <a:off x="1571625" y="2409825"/>
            <a:ext cx="9477375" cy="19050"/>
          </a:xfrm>
          <a:prstGeom prst="rect">
            <a:avLst/>
          </a:prstGeom>
          <a:solidFill>
            <a:srgbClr val="DAD6EA"/>
          </a:solidFill>
          <a:ln w="0">
            <a:noFill/>
          </a:ln>
        </p:spPr>
      </p:sp>
      <p:sp>
        <p:nvSpPr>
          <p:cNvPr id="8" name="Rectangle 7">
            <a:extLst>
              <a:ext uri="{FF2B5EF4-FFF2-40B4-BE49-F238E27FC236}">
                <a16:creationId xmlns:a16="http://schemas.microsoft.com/office/drawing/2014/main" id="{7952DBEE-7D78-40BE-8D35-76342C806F0B}"/>
              </a:ext>
            </a:extLst>
          </p:cNvPr>
          <p:cNvSpPr>
            <a:spLocks noGrp="1"/>
          </p:cNvSpPr>
          <p:nvPr/>
        </p:nvSpPr>
        <p:spPr>
          <a:xfrm>
            <a:off x="742950" y="2733675"/>
            <a:ext cx="590550" cy="476250"/>
          </a:xfrm>
          <a:prstGeom prst="rect">
            <a:avLst/>
          </a:prstGeom>
          <a:noFill/>
          <a:ln w="0">
            <a:noFill/>
          </a:ln>
        </p:spPr>
        <p:txBody>
          <a:bodyPr lIns="38100" tIns="19050" rIns="38100" bIns="19050" anchor="ctr">
            <a:normAutofit/>
          </a:bodyPr>
          <a:lstStyle/>
          <a:p>
            <a:pPr algn="l">
              <a:defRPr sz="2025" b="1">
                <a:solidFill>
                  <a:srgbClr val="FF4F9A"/>
                </a:solidFill>
                <a:latin typeface="Arial"/>
                <a:ea typeface="Arial"/>
                <a:cs typeface="Arial"/>
              </a:defRPr>
            </a:pPr>
            <a:r>
              <a:rPr sz="2025" b="1">
                <a:solidFill>
                  <a:srgbClr val="FF4F9A"/>
                </a:solidFill>
                <a:latin typeface="Arial"/>
                <a:ea typeface="Arial"/>
                <a:cs typeface="Arial"/>
              </a:rPr>
              <a:t>02</a:t>
            </a:r>
          </a:p>
        </p:txBody>
      </p:sp>
      <p:sp>
        <p:nvSpPr>
          <p:cNvPr id="9" name="Rectangle 8">
            <a:extLst>
              <a:ext uri="{FF2B5EF4-FFF2-40B4-BE49-F238E27FC236}">
                <a16:creationId xmlns:a16="http://schemas.microsoft.com/office/drawing/2014/main" id="{E87AB6D6-AC8E-45BC-90B5-3E81442DDA16}"/>
              </a:ext>
            </a:extLst>
          </p:cNvPr>
          <p:cNvSpPr>
            <a:spLocks noGrp="1"/>
          </p:cNvSpPr>
          <p:nvPr/>
        </p:nvSpPr>
        <p:spPr>
          <a:xfrm>
            <a:off x="1571625" y="273367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YOUTH ENGAGEMENT</a:t>
            </a:r>
          </a:p>
        </p:txBody>
      </p:sp>
      <p:sp>
        <p:nvSpPr>
          <p:cNvPr id="10" name="Rectangle 9">
            <a:extLst>
              <a:ext uri="{FF2B5EF4-FFF2-40B4-BE49-F238E27FC236}">
                <a16:creationId xmlns:a16="http://schemas.microsoft.com/office/drawing/2014/main" id="{B170CFE8-F956-4714-A102-681D216EFA68}"/>
              </a:ext>
            </a:extLst>
          </p:cNvPr>
          <p:cNvSpPr>
            <a:spLocks noGrp="1"/>
          </p:cNvSpPr>
          <p:nvPr/>
        </p:nvSpPr>
        <p:spPr>
          <a:xfrm>
            <a:off x="4857750" y="271462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Connect research with interaction, humor, and contribution.</a:t>
            </a:r>
          </a:p>
        </p:txBody>
      </p:sp>
      <p:sp>
        <p:nvSpPr>
          <p:cNvPr id="11" name="Rectangle 10">
            <a:extLst>
              <a:ext uri="{FF2B5EF4-FFF2-40B4-BE49-F238E27FC236}">
                <a16:creationId xmlns:a16="http://schemas.microsoft.com/office/drawing/2014/main" id="{53FD9289-064E-4208-B7AE-A89C8F044ECE}"/>
              </a:ext>
            </a:extLst>
          </p:cNvPr>
          <p:cNvSpPr>
            <a:spLocks noGrp="1"/>
          </p:cNvSpPr>
          <p:nvPr/>
        </p:nvSpPr>
        <p:spPr>
          <a:xfrm>
            <a:off x="1571625" y="3381375"/>
            <a:ext cx="9477375" cy="19050"/>
          </a:xfrm>
          <a:prstGeom prst="rect">
            <a:avLst/>
          </a:prstGeom>
          <a:solidFill>
            <a:srgbClr val="DAD6EA"/>
          </a:solidFill>
          <a:ln w="0">
            <a:noFill/>
          </a:ln>
        </p:spPr>
      </p:sp>
      <p:sp>
        <p:nvSpPr>
          <p:cNvPr id="12" name="Rectangle 11">
            <a:extLst>
              <a:ext uri="{FF2B5EF4-FFF2-40B4-BE49-F238E27FC236}">
                <a16:creationId xmlns:a16="http://schemas.microsoft.com/office/drawing/2014/main" id="{1436AC49-76C5-485A-B28C-DF237A402909}"/>
              </a:ext>
            </a:extLst>
          </p:cNvPr>
          <p:cNvSpPr>
            <a:spLocks noGrp="1"/>
          </p:cNvSpPr>
          <p:nvPr/>
        </p:nvSpPr>
        <p:spPr>
          <a:xfrm>
            <a:off x="742950" y="3705225"/>
            <a:ext cx="590550" cy="476250"/>
          </a:xfrm>
          <a:prstGeom prst="rect">
            <a:avLst/>
          </a:prstGeom>
          <a:noFill/>
          <a:ln w="0">
            <a:noFill/>
          </a:ln>
        </p:spPr>
        <p:txBody>
          <a:bodyPr lIns="38100" tIns="19050" rIns="38100" bIns="19050" anchor="ctr">
            <a:normAutofit/>
          </a:bodyPr>
          <a:lstStyle/>
          <a:p>
            <a:pPr algn="l">
              <a:defRPr sz="2025" b="1">
                <a:solidFill>
                  <a:srgbClr val="FFC857"/>
                </a:solidFill>
                <a:latin typeface="Arial"/>
                <a:ea typeface="Arial"/>
                <a:cs typeface="Arial"/>
              </a:defRPr>
            </a:pPr>
            <a:r>
              <a:rPr sz="2025" b="1">
                <a:solidFill>
                  <a:srgbClr val="FFC857"/>
                </a:solidFill>
                <a:latin typeface="Arial"/>
                <a:ea typeface="Arial"/>
                <a:cs typeface="Arial"/>
              </a:rPr>
              <a:t>03</a:t>
            </a:r>
          </a:p>
        </p:txBody>
      </p:sp>
      <p:sp>
        <p:nvSpPr>
          <p:cNvPr id="13" name="Rectangle 12">
            <a:extLst>
              <a:ext uri="{FF2B5EF4-FFF2-40B4-BE49-F238E27FC236}">
                <a16:creationId xmlns:a16="http://schemas.microsoft.com/office/drawing/2014/main" id="{A3C2A26E-D5AD-4B19-B676-C19E046352CB}"/>
              </a:ext>
            </a:extLst>
          </p:cNvPr>
          <p:cNvSpPr>
            <a:spLocks noGrp="1"/>
          </p:cNvSpPr>
          <p:nvPr/>
        </p:nvSpPr>
        <p:spPr>
          <a:xfrm>
            <a:off x="1571625" y="370522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BRAND PRESENCE</a:t>
            </a:r>
          </a:p>
        </p:txBody>
      </p:sp>
      <p:sp>
        <p:nvSpPr>
          <p:cNvPr id="14" name="Rectangle 13">
            <a:extLst>
              <a:ext uri="{FF2B5EF4-FFF2-40B4-BE49-F238E27FC236}">
                <a16:creationId xmlns:a16="http://schemas.microsoft.com/office/drawing/2014/main" id="{1BFFD9D2-8298-4D42-929C-95698E08B259}"/>
              </a:ext>
            </a:extLst>
          </p:cNvPr>
          <p:cNvSpPr>
            <a:spLocks noGrp="1"/>
          </p:cNvSpPr>
          <p:nvPr/>
        </p:nvSpPr>
        <p:spPr>
          <a:xfrm>
            <a:off x="4857750" y="368617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Receive credit at entry, selected galleries, launch materials, and the project report.</a:t>
            </a:r>
          </a:p>
        </p:txBody>
      </p:sp>
      <p:sp>
        <p:nvSpPr>
          <p:cNvPr id="15" name="Rectangle 14">
            <a:extLst>
              <a:ext uri="{FF2B5EF4-FFF2-40B4-BE49-F238E27FC236}">
                <a16:creationId xmlns:a16="http://schemas.microsoft.com/office/drawing/2014/main" id="{B111A2B0-A88D-40A4-9815-09238C6F6FC8}"/>
              </a:ext>
            </a:extLst>
          </p:cNvPr>
          <p:cNvSpPr>
            <a:spLocks noGrp="1"/>
          </p:cNvSpPr>
          <p:nvPr/>
        </p:nvSpPr>
        <p:spPr>
          <a:xfrm>
            <a:off x="1571625" y="4352925"/>
            <a:ext cx="9477375" cy="19050"/>
          </a:xfrm>
          <a:prstGeom prst="rect">
            <a:avLst/>
          </a:prstGeom>
          <a:solidFill>
            <a:srgbClr val="DAD6EA"/>
          </a:solidFill>
          <a:ln w="0">
            <a:noFill/>
          </a:ln>
        </p:spPr>
      </p:sp>
      <p:sp>
        <p:nvSpPr>
          <p:cNvPr id="16" name="Rectangle 15">
            <a:extLst>
              <a:ext uri="{FF2B5EF4-FFF2-40B4-BE49-F238E27FC236}">
                <a16:creationId xmlns:a16="http://schemas.microsoft.com/office/drawing/2014/main" id="{E2384754-E852-40D4-80AE-D5ED63A7455D}"/>
              </a:ext>
            </a:extLst>
          </p:cNvPr>
          <p:cNvSpPr>
            <a:spLocks noGrp="1"/>
          </p:cNvSpPr>
          <p:nvPr/>
        </p:nvSpPr>
        <p:spPr>
          <a:xfrm>
            <a:off x="742950" y="4676775"/>
            <a:ext cx="590550" cy="476250"/>
          </a:xfrm>
          <a:prstGeom prst="rect">
            <a:avLst/>
          </a:prstGeom>
          <a:noFill/>
          <a:ln w="0">
            <a:noFill/>
          </a:ln>
        </p:spPr>
        <p:txBody>
          <a:bodyPr lIns="38100" tIns="19050" rIns="38100" bIns="19050" anchor="ctr">
            <a:normAutofit/>
          </a:bodyPr>
          <a:lstStyle/>
          <a:p>
            <a:pPr algn="l">
              <a:defRPr sz="2025" b="1">
                <a:solidFill>
                  <a:srgbClr val="45E0E8"/>
                </a:solidFill>
                <a:latin typeface="Arial"/>
                <a:ea typeface="Arial"/>
                <a:cs typeface="Arial"/>
              </a:defRPr>
            </a:pPr>
            <a:r>
              <a:rPr sz="2025" b="1">
                <a:solidFill>
                  <a:srgbClr val="45E0E8"/>
                </a:solidFill>
                <a:latin typeface="Arial"/>
                <a:ea typeface="Arial"/>
                <a:cs typeface="Arial"/>
              </a:rPr>
              <a:t>04</a:t>
            </a:r>
          </a:p>
        </p:txBody>
      </p:sp>
      <p:sp>
        <p:nvSpPr>
          <p:cNvPr id="17" name="Rectangle 16">
            <a:extLst>
              <a:ext uri="{FF2B5EF4-FFF2-40B4-BE49-F238E27FC236}">
                <a16:creationId xmlns:a16="http://schemas.microsoft.com/office/drawing/2014/main" id="{085B924C-32DB-4BE8-8F57-626BF3706C4D}"/>
              </a:ext>
            </a:extLst>
          </p:cNvPr>
          <p:cNvSpPr>
            <a:spLocks noGrp="1"/>
          </p:cNvSpPr>
          <p:nvPr/>
        </p:nvSpPr>
        <p:spPr>
          <a:xfrm>
            <a:off x="1571625" y="467677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MEASUREMENT</a:t>
            </a:r>
          </a:p>
        </p:txBody>
      </p:sp>
      <p:sp>
        <p:nvSpPr>
          <p:cNvPr id="18" name="Rectangle 17">
            <a:extLst>
              <a:ext uri="{FF2B5EF4-FFF2-40B4-BE49-F238E27FC236}">
                <a16:creationId xmlns:a16="http://schemas.microsoft.com/office/drawing/2014/main" id="{1CB44186-4C78-4CDC-8E4F-F6453B3F93EE}"/>
              </a:ext>
            </a:extLst>
          </p:cNvPr>
          <p:cNvSpPr>
            <a:spLocks noGrp="1"/>
          </p:cNvSpPr>
          <p:nvPr/>
        </p:nvSpPr>
        <p:spPr>
          <a:xfrm>
            <a:off x="4857750" y="465772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Track visits, exhibit completion, submitted stories, and audience feedback.</a:t>
            </a:r>
          </a:p>
        </p:txBody>
      </p:sp>
      <p:sp>
        <p:nvSpPr>
          <p:cNvPr id="19" name="Rectangle 18">
            <a:extLst>
              <a:ext uri="{FF2B5EF4-FFF2-40B4-BE49-F238E27FC236}">
                <a16:creationId xmlns:a16="http://schemas.microsoft.com/office/drawing/2014/main" id="{27550A62-C7D0-4CBC-908C-0D90FCDEFACC}"/>
              </a:ext>
            </a:extLst>
          </p:cNvPr>
          <p:cNvSpPr>
            <a:spLocks noGrp="1"/>
          </p:cNvSpPr>
          <p:nvPr/>
        </p:nvSpPr>
        <p:spPr>
          <a:xfrm>
            <a:off x="1571625" y="5324475"/>
            <a:ext cx="9477375" cy="19050"/>
          </a:xfrm>
          <a:prstGeom prst="rect">
            <a:avLst/>
          </a:prstGeom>
          <a:solidFill>
            <a:srgbClr val="DAD6EA"/>
          </a:solidFill>
          <a:ln w="0">
            <a:noFill/>
          </a:ln>
        </p:spPr>
      </p:sp>
      <p:sp>
        <p:nvSpPr>
          <p:cNvPr id="20" name="Rectangle: Rounded Corners 19">
            <a:extLst>
              <a:ext uri="{FF2B5EF4-FFF2-40B4-BE49-F238E27FC236}">
                <a16:creationId xmlns:a16="http://schemas.microsoft.com/office/drawing/2014/main" id="{1FA907B8-C477-4AA3-B891-4FDBBC97BD25}"/>
              </a:ext>
            </a:extLst>
          </p:cNvPr>
          <p:cNvSpPr>
            <a:spLocks noGrp="1"/>
          </p:cNvSpPr>
          <p:nvPr/>
        </p:nvSpPr>
        <p:spPr>
          <a:xfrm>
            <a:off x="742950" y="5810250"/>
            <a:ext cx="10306050" cy="400050"/>
          </a:xfrm>
          <a:prstGeom prst="roundRect">
            <a:avLst>
              <a:gd name="adj" fmla="val 23810"/>
            </a:avLst>
          </a:prstGeom>
          <a:solidFill>
            <a:srgbClr val="11142A"/>
          </a:solidFill>
          <a:ln w="0">
            <a:noFill/>
          </a:ln>
        </p:spPr>
      </p:sp>
      <p:sp>
        <p:nvSpPr>
          <p:cNvPr id="21" name="Rectangle 20">
            <a:extLst>
              <a:ext uri="{FF2B5EF4-FFF2-40B4-BE49-F238E27FC236}">
                <a16:creationId xmlns:a16="http://schemas.microsoft.com/office/drawing/2014/main" id="{DDED3FA1-C237-4761-8EE9-03523EC22D20}"/>
              </a:ext>
            </a:extLst>
          </p:cNvPr>
          <p:cNvSpPr>
            <a:spLocks noGrp="1"/>
          </p:cNvSpPr>
          <p:nvPr/>
        </p:nvSpPr>
        <p:spPr>
          <a:xfrm>
            <a:off x="904875" y="5810250"/>
            <a:ext cx="9982200" cy="400050"/>
          </a:xfrm>
          <a:prstGeom prst="rect">
            <a:avLst/>
          </a:prstGeom>
          <a:noFill/>
          <a:ln w="0">
            <a:noFill/>
          </a:ln>
        </p:spPr>
        <p:txBody>
          <a:bodyPr lIns="38100" tIns="19050" rIns="38100" bIns="1905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Sponsor recognition remains visible; visitor trust remains protected.</a:t>
            </a:r>
          </a:p>
        </p:txBody>
      </p:sp>
      <p:sp>
        <p:nvSpPr>
          <p:cNvPr id="22" name="Rectangle 21">
            <a:extLst>
              <a:ext uri="{FF2B5EF4-FFF2-40B4-BE49-F238E27FC236}">
                <a16:creationId xmlns:a16="http://schemas.microsoft.com/office/drawing/2014/main" id="{140A802C-00CB-4FB0-BCB6-EF2C522260FE}"/>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3" name="Rectangle 22">
            <a:extLst>
              <a:ext uri="{FF2B5EF4-FFF2-40B4-BE49-F238E27FC236}">
                <a16:creationId xmlns:a16="http://schemas.microsoft.com/office/drawing/2014/main" id="{F0D7E608-65BF-4790-8930-15A6C3932C20}"/>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08</a:t>
            </a:r>
          </a:p>
        </p:txBody>
      </p:sp>
      <p:pic>
        <p:nvPicPr>
          <p:cNvPr id="25" name="slide-08">
            <a:hlinkClick r:id="" action="ppaction://media"/>
            <a:extLst>
              <a:ext uri="{FF2B5EF4-FFF2-40B4-BE49-F238E27FC236}">
                <a16:creationId xmlns:a16="http://schemas.microsoft.com/office/drawing/2014/main" id="{452513FB-0E8C-5890-41A6-C472571AA76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786337812"/>
      </p:ext>
    </p:extLst>
  </p:cSld>
  <p:clrMapOvr>
    <a:masterClrMapping/>
  </p:clrMapOvr>
  <mc:AlternateContent xmlns:mc="http://schemas.openxmlformats.org/markup-compatibility/2006">
    <mc:Choice xmlns:p14="http://schemas.microsoft.com/office/powerpoint/2010/main" Requires="p14">
      <p:transition spd="slow" p14:dur="2000" advClick="0" advTm="45026">
        <p:fade/>
      </p:transition>
    </mc:Choice>
    <mc:Fallback>
      <p:transition spd="slow" advClick="0" advTm="4502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826"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10BDDE3B-C074-434D-9D5B-09B09A60CB4C}"/>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Pilot plan and funding use</a:t>
            </a:r>
          </a:p>
        </p:txBody>
      </p:sp>
      <p:sp>
        <p:nvSpPr>
          <p:cNvPr id="2" name="Rectangle 1">
            <a:extLst>
              <a:ext uri="{FF2B5EF4-FFF2-40B4-BE49-F238E27FC236}">
                <a16:creationId xmlns:a16="http://schemas.microsoft.com/office/drawing/2014/main" id="{CE903C90-1267-4690-8358-DB18890D5948}"/>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A focused first release proves the experience before expansion</a:t>
            </a:r>
          </a:p>
        </p:txBody>
      </p:sp>
      <p:sp>
        <p:nvSpPr>
          <p:cNvPr id="3" name="Rectangle 2">
            <a:extLst>
              <a:ext uri="{FF2B5EF4-FFF2-40B4-BE49-F238E27FC236}">
                <a16:creationId xmlns:a16="http://schemas.microsoft.com/office/drawing/2014/main" id="{D2C8BB08-36AC-4BD9-A5CD-1754C5F53ECF}"/>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B68CC35E-0402-4897-9BA5-01AD59E8536E}"/>
              </a:ext>
            </a:extLst>
          </p:cNvPr>
          <p:cNvSpPr>
            <a:spLocks noGrp="1"/>
          </p:cNvSpPr>
          <p:nvPr/>
        </p:nvSpPr>
        <p:spPr>
          <a:xfrm>
            <a:off x="742950" y="1695450"/>
            <a:ext cx="3810000" cy="323850"/>
          </a:xfrm>
          <a:prstGeom prst="rect">
            <a:avLst/>
          </a:prstGeom>
          <a:noFill/>
          <a:ln w="0">
            <a:noFill/>
          </a:ln>
        </p:spPr>
        <p:txBody>
          <a:bodyPr lIns="38100" tIns="19050" rIns="38100" bIns="19050" anchor="ctr">
            <a:normAutofit/>
          </a:bodyPr>
          <a:lstStyle/>
          <a:p>
            <a:pPr algn="l">
              <a:defRPr sz="1350" b="1">
                <a:solidFill>
                  <a:srgbClr val="45E0E8"/>
                </a:solidFill>
                <a:latin typeface="Arial"/>
                <a:ea typeface="Arial"/>
                <a:cs typeface="Arial"/>
              </a:defRPr>
            </a:pPr>
            <a:r>
              <a:rPr sz="1350" b="1">
                <a:solidFill>
                  <a:srgbClr val="45E0E8"/>
                </a:solidFill>
                <a:latin typeface="Arial"/>
                <a:ea typeface="Arial"/>
                <a:cs typeface="Arial"/>
              </a:rPr>
              <a:t>PILOT DELIVERABLES</a:t>
            </a:r>
          </a:p>
        </p:txBody>
      </p:sp>
      <p:sp>
        <p:nvSpPr>
          <p:cNvPr id="5" name="Rectangle 4">
            <a:extLst>
              <a:ext uri="{FF2B5EF4-FFF2-40B4-BE49-F238E27FC236}">
                <a16:creationId xmlns:a16="http://schemas.microsoft.com/office/drawing/2014/main" id="{EA3AFDA5-CAD5-49AB-AE66-29860A164EEE}"/>
              </a:ext>
            </a:extLst>
          </p:cNvPr>
          <p:cNvSpPr>
            <a:spLocks noGrp="1"/>
          </p:cNvSpPr>
          <p:nvPr/>
        </p:nvSpPr>
        <p:spPr>
          <a:xfrm>
            <a:off x="781050" y="217170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01</a:t>
            </a:r>
          </a:p>
        </p:txBody>
      </p:sp>
      <p:sp>
        <p:nvSpPr>
          <p:cNvPr id="6" name="Rectangle 5">
            <a:extLst>
              <a:ext uri="{FF2B5EF4-FFF2-40B4-BE49-F238E27FC236}">
                <a16:creationId xmlns:a16="http://schemas.microsoft.com/office/drawing/2014/main" id="{5089F7FF-A802-4497-8060-9E453D46BF91}"/>
              </a:ext>
            </a:extLst>
          </p:cNvPr>
          <p:cNvSpPr>
            <a:spLocks noGrp="1"/>
          </p:cNvSpPr>
          <p:nvPr/>
        </p:nvSpPr>
        <p:spPr>
          <a:xfrm>
            <a:off x="1314450" y="214312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Responsive web museum</a:t>
            </a:r>
          </a:p>
        </p:txBody>
      </p:sp>
      <p:sp>
        <p:nvSpPr>
          <p:cNvPr id="7" name="Rectangle 6">
            <a:extLst>
              <a:ext uri="{FF2B5EF4-FFF2-40B4-BE49-F238E27FC236}">
                <a16:creationId xmlns:a16="http://schemas.microsoft.com/office/drawing/2014/main" id="{68410498-7CC4-4EE4-A958-1DF1CF205547}"/>
              </a:ext>
            </a:extLst>
          </p:cNvPr>
          <p:cNvSpPr>
            <a:spLocks noGrp="1"/>
          </p:cNvSpPr>
          <p:nvPr/>
        </p:nvSpPr>
        <p:spPr>
          <a:xfrm>
            <a:off x="781050" y="2695575"/>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02</a:t>
            </a:r>
          </a:p>
        </p:txBody>
      </p:sp>
      <p:sp>
        <p:nvSpPr>
          <p:cNvPr id="8" name="Rectangle 7">
            <a:extLst>
              <a:ext uri="{FF2B5EF4-FFF2-40B4-BE49-F238E27FC236}">
                <a16:creationId xmlns:a16="http://schemas.microsoft.com/office/drawing/2014/main" id="{7A6E89FD-03D8-4501-87FF-AB98047C8A7A}"/>
              </a:ext>
            </a:extLst>
          </p:cNvPr>
          <p:cNvSpPr>
            <a:spLocks noGrp="1"/>
          </p:cNvSpPr>
          <p:nvPr/>
        </p:nvSpPr>
        <p:spPr>
          <a:xfrm>
            <a:off x="1314450" y="2667000"/>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Seven themed galleries</a:t>
            </a:r>
          </a:p>
        </p:txBody>
      </p:sp>
      <p:sp>
        <p:nvSpPr>
          <p:cNvPr id="9" name="Rectangle 8">
            <a:extLst>
              <a:ext uri="{FF2B5EF4-FFF2-40B4-BE49-F238E27FC236}">
                <a16:creationId xmlns:a16="http://schemas.microsoft.com/office/drawing/2014/main" id="{77E3302B-D5D6-4F6D-8518-4924D919DB89}"/>
              </a:ext>
            </a:extLst>
          </p:cNvPr>
          <p:cNvSpPr>
            <a:spLocks noGrp="1"/>
          </p:cNvSpPr>
          <p:nvPr/>
        </p:nvSpPr>
        <p:spPr>
          <a:xfrm>
            <a:off x="781050" y="321945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03</a:t>
            </a:r>
          </a:p>
        </p:txBody>
      </p:sp>
      <p:sp>
        <p:nvSpPr>
          <p:cNvPr id="10" name="Rectangle 9">
            <a:extLst>
              <a:ext uri="{FF2B5EF4-FFF2-40B4-BE49-F238E27FC236}">
                <a16:creationId xmlns:a16="http://schemas.microsoft.com/office/drawing/2014/main" id="{04522405-6F9A-488A-8900-562FFCB6FAAA}"/>
              </a:ext>
            </a:extLst>
          </p:cNvPr>
          <p:cNvSpPr>
            <a:spLocks noGrp="1"/>
          </p:cNvSpPr>
          <p:nvPr/>
        </p:nvSpPr>
        <p:spPr>
          <a:xfrm>
            <a:off x="1314450" y="319087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Three interactive experiences</a:t>
            </a:r>
          </a:p>
        </p:txBody>
      </p:sp>
      <p:sp>
        <p:nvSpPr>
          <p:cNvPr id="11" name="Rectangle 10">
            <a:extLst>
              <a:ext uri="{FF2B5EF4-FFF2-40B4-BE49-F238E27FC236}">
                <a16:creationId xmlns:a16="http://schemas.microsoft.com/office/drawing/2014/main" id="{96317C3D-FA5F-484A-9B5B-7C908C6C2C55}"/>
              </a:ext>
            </a:extLst>
          </p:cNvPr>
          <p:cNvSpPr>
            <a:spLocks noGrp="1"/>
          </p:cNvSpPr>
          <p:nvPr/>
        </p:nvSpPr>
        <p:spPr>
          <a:xfrm>
            <a:off x="781050" y="3743325"/>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04</a:t>
            </a:r>
          </a:p>
        </p:txBody>
      </p:sp>
      <p:sp>
        <p:nvSpPr>
          <p:cNvPr id="12" name="Rectangle 11">
            <a:extLst>
              <a:ext uri="{FF2B5EF4-FFF2-40B4-BE49-F238E27FC236}">
                <a16:creationId xmlns:a16="http://schemas.microsoft.com/office/drawing/2014/main" id="{A58C0C0A-03C0-4F5B-8908-D867B19FE0F6}"/>
              </a:ext>
            </a:extLst>
          </p:cNvPr>
          <p:cNvSpPr>
            <a:spLocks noGrp="1"/>
          </p:cNvSpPr>
          <p:nvPr/>
        </p:nvSpPr>
        <p:spPr>
          <a:xfrm>
            <a:off x="1314450" y="3714750"/>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Twenty curated memory stories</a:t>
            </a:r>
          </a:p>
        </p:txBody>
      </p:sp>
      <p:sp>
        <p:nvSpPr>
          <p:cNvPr id="13" name="Rectangle 12">
            <a:extLst>
              <a:ext uri="{FF2B5EF4-FFF2-40B4-BE49-F238E27FC236}">
                <a16:creationId xmlns:a16="http://schemas.microsoft.com/office/drawing/2014/main" id="{8BF44945-E8DA-466D-9371-B0781EA3630D}"/>
              </a:ext>
            </a:extLst>
          </p:cNvPr>
          <p:cNvSpPr>
            <a:spLocks noGrp="1"/>
          </p:cNvSpPr>
          <p:nvPr/>
        </p:nvSpPr>
        <p:spPr>
          <a:xfrm>
            <a:off x="781050" y="426720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05</a:t>
            </a:r>
          </a:p>
        </p:txBody>
      </p:sp>
      <p:sp>
        <p:nvSpPr>
          <p:cNvPr id="14" name="Rectangle 13">
            <a:extLst>
              <a:ext uri="{FF2B5EF4-FFF2-40B4-BE49-F238E27FC236}">
                <a16:creationId xmlns:a16="http://schemas.microsoft.com/office/drawing/2014/main" id="{65264BBC-7BD5-4781-B3B6-6FB179C2DE54}"/>
              </a:ext>
            </a:extLst>
          </p:cNvPr>
          <p:cNvSpPr>
            <a:spLocks noGrp="1"/>
          </p:cNvSpPr>
          <p:nvPr/>
        </p:nvSpPr>
        <p:spPr>
          <a:xfrm>
            <a:off x="1314450" y="423862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One public launch and sponsor report</a:t>
            </a:r>
          </a:p>
        </p:txBody>
      </p:sp>
      <p:sp>
        <p:nvSpPr>
          <p:cNvPr id="15" name="Rectangle 14">
            <a:extLst>
              <a:ext uri="{FF2B5EF4-FFF2-40B4-BE49-F238E27FC236}">
                <a16:creationId xmlns:a16="http://schemas.microsoft.com/office/drawing/2014/main" id="{2DFB7731-6FC1-4FC6-8C44-B79AAC856E9A}"/>
              </a:ext>
            </a:extLst>
          </p:cNvPr>
          <p:cNvSpPr>
            <a:spLocks noGrp="1"/>
          </p:cNvSpPr>
          <p:nvPr/>
        </p:nvSpPr>
        <p:spPr>
          <a:xfrm>
            <a:off x="6362700" y="1695450"/>
            <a:ext cx="4762500" cy="323850"/>
          </a:xfrm>
          <a:prstGeom prst="rect">
            <a:avLst/>
          </a:prstGeom>
          <a:noFill/>
          <a:ln w="0">
            <a:noFill/>
          </a:ln>
        </p:spPr>
        <p:txBody>
          <a:bodyPr lIns="38100" tIns="19050" rIns="38100" bIns="19050" anchor="ctr">
            <a:normAutofit/>
          </a:bodyPr>
          <a:lstStyle/>
          <a:p>
            <a:pPr algn="l">
              <a:defRPr sz="1350" b="1">
                <a:solidFill>
                  <a:srgbClr val="45E0E8"/>
                </a:solidFill>
                <a:latin typeface="Arial"/>
                <a:ea typeface="Arial"/>
                <a:cs typeface="Arial"/>
              </a:defRPr>
            </a:pPr>
            <a:r>
              <a:rPr sz="1350" b="1">
                <a:solidFill>
                  <a:srgbClr val="45E0E8"/>
                </a:solidFill>
                <a:latin typeface="Arial"/>
                <a:ea typeface="Arial"/>
                <a:cs typeface="Arial"/>
              </a:rPr>
              <a:t>PROPOSED FUNDING ALLOCATION</a:t>
            </a:r>
          </a:p>
        </p:txBody>
      </p:sp>
      <p:sp>
        <p:nvSpPr>
          <p:cNvPr id="16" name="Rectangle 15">
            <a:extLst>
              <a:ext uri="{FF2B5EF4-FFF2-40B4-BE49-F238E27FC236}">
                <a16:creationId xmlns:a16="http://schemas.microsoft.com/office/drawing/2014/main" id="{59FC9FF3-3802-4379-B1E8-AA246D6D5647}"/>
              </a:ext>
            </a:extLst>
          </p:cNvPr>
          <p:cNvSpPr>
            <a:spLocks noGrp="1"/>
          </p:cNvSpPr>
          <p:nvPr/>
        </p:nvSpPr>
        <p:spPr>
          <a:xfrm>
            <a:off x="6381750" y="21907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Experience &amp; development</a:t>
            </a:r>
          </a:p>
        </p:txBody>
      </p:sp>
      <p:sp>
        <p:nvSpPr>
          <p:cNvPr id="17" name="Rectangle: Rounded Corners 16">
            <a:extLst>
              <a:ext uri="{FF2B5EF4-FFF2-40B4-BE49-F238E27FC236}">
                <a16:creationId xmlns:a16="http://schemas.microsoft.com/office/drawing/2014/main" id="{32D975EB-30DA-433B-B296-4E4D0D701BA4}"/>
              </a:ext>
            </a:extLst>
          </p:cNvPr>
          <p:cNvSpPr>
            <a:spLocks noGrp="1"/>
          </p:cNvSpPr>
          <p:nvPr/>
        </p:nvSpPr>
        <p:spPr>
          <a:xfrm>
            <a:off x="6381750" y="2495550"/>
            <a:ext cx="4000500" cy="114300"/>
          </a:xfrm>
          <a:prstGeom prst="roundRect">
            <a:avLst>
              <a:gd name="adj" fmla="val 50000"/>
            </a:avLst>
          </a:prstGeom>
          <a:solidFill>
            <a:srgbClr val="24283F"/>
          </a:solidFill>
          <a:ln w="0">
            <a:noFill/>
          </a:ln>
        </p:spPr>
      </p:sp>
      <p:sp>
        <p:nvSpPr>
          <p:cNvPr id="18" name="Rectangle: Rounded Corners 17">
            <a:extLst>
              <a:ext uri="{FF2B5EF4-FFF2-40B4-BE49-F238E27FC236}">
                <a16:creationId xmlns:a16="http://schemas.microsoft.com/office/drawing/2014/main" id="{C5F88610-94F5-4E1A-BAC9-65148C3A8D1C}"/>
              </a:ext>
            </a:extLst>
          </p:cNvPr>
          <p:cNvSpPr>
            <a:spLocks noGrp="1"/>
          </p:cNvSpPr>
          <p:nvPr/>
        </p:nvSpPr>
        <p:spPr>
          <a:xfrm>
            <a:off x="6381750" y="2495550"/>
            <a:ext cx="4000500" cy="114300"/>
          </a:xfrm>
          <a:prstGeom prst="roundRect">
            <a:avLst>
              <a:gd name="adj" fmla="val 50000"/>
            </a:avLst>
          </a:prstGeom>
          <a:solidFill>
            <a:srgbClr val="6C4BF4"/>
          </a:solidFill>
          <a:ln w="0">
            <a:noFill/>
          </a:ln>
        </p:spPr>
      </p:sp>
      <p:sp>
        <p:nvSpPr>
          <p:cNvPr id="19" name="Rectangle 18">
            <a:extLst>
              <a:ext uri="{FF2B5EF4-FFF2-40B4-BE49-F238E27FC236}">
                <a16:creationId xmlns:a16="http://schemas.microsoft.com/office/drawing/2014/main" id="{8320E0B6-40D8-43F7-A7B3-DB63D0710DCC}"/>
              </a:ext>
            </a:extLst>
          </p:cNvPr>
          <p:cNvSpPr>
            <a:spLocks noGrp="1"/>
          </p:cNvSpPr>
          <p:nvPr/>
        </p:nvSpPr>
        <p:spPr>
          <a:xfrm>
            <a:off x="10477500" y="2381250"/>
            <a:ext cx="571500" cy="266700"/>
          </a:xfrm>
          <a:prstGeom prst="rect">
            <a:avLst/>
          </a:prstGeom>
          <a:noFill/>
          <a:ln w="0">
            <a:noFill/>
          </a:ln>
        </p:spPr>
        <p:txBody>
          <a:bodyPr lIns="38100" tIns="19050" rIns="38100" bIns="19050" anchor="ctr">
            <a:normAutofit/>
          </a:bodyPr>
          <a:lstStyle/>
          <a:p>
            <a:pPr algn="r">
              <a:defRPr sz="1275" b="1">
                <a:solidFill>
                  <a:srgbClr val="6C4BF4"/>
                </a:solidFill>
                <a:latin typeface="Arial"/>
                <a:ea typeface="Arial"/>
                <a:cs typeface="Arial"/>
              </a:defRPr>
            </a:pPr>
            <a:r>
              <a:rPr sz="1275" b="1">
                <a:solidFill>
                  <a:srgbClr val="6C4BF4"/>
                </a:solidFill>
                <a:latin typeface="Arial"/>
                <a:ea typeface="Arial"/>
                <a:cs typeface="Arial"/>
              </a:rPr>
              <a:t>35%</a:t>
            </a:r>
          </a:p>
        </p:txBody>
      </p:sp>
      <p:sp>
        <p:nvSpPr>
          <p:cNvPr id="20" name="Rectangle 19">
            <a:extLst>
              <a:ext uri="{FF2B5EF4-FFF2-40B4-BE49-F238E27FC236}">
                <a16:creationId xmlns:a16="http://schemas.microsoft.com/office/drawing/2014/main" id="{5CAC43B5-C843-4E73-BA9D-71646602CB21}"/>
              </a:ext>
            </a:extLst>
          </p:cNvPr>
          <p:cNvSpPr>
            <a:spLocks noGrp="1"/>
          </p:cNvSpPr>
          <p:nvPr/>
        </p:nvSpPr>
        <p:spPr>
          <a:xfrm>
            <a:off x="6381750" y="28384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Content &amp; research</a:t>
            </a:r>
          </a:p>
        </p:txBody>
      </p:sp>
      <p:sp>
        <p:nvSpPr>
          <p:cNvPr id="21" name="Rectangle: Rounded Corners 20">
            <a:extLst>
              <a:ext uri="{FF2B5EF4-FFF2-40B4-BE49-F238E27FC236}">
                <a16:creationId xmlns:a16="http://schemas.microsoft.com/office/drawing/2014/main" id="{C636A4CD-F428-415C-817F-105ABC129DFF}"/>
              </a:ext>
            </a:extLst>
          </p:cNvPr>
          <p:cNvSpPr>
            <a:spLocks noGrp="1"/>
          </p:cNvSpPr>
          <p:nvPr/>
        </p:nvSpPr>
        <p:spPr>
          <a:xfrm>
            <a:off x="6381750" y="3143250"/>
            <a:ext cx="4000500" cy="114300"/>
          </a:xfrm>
          <a:prstGeom prst="roundRect">
            <a:avLst>
              <a:gd name="adj" fmla="val 50000"/>
            </a:avLst>
          </a:prstGeom>
          <a:solidFill>
            <a:srgbClr val="24283F"/>
          </a:solidFill>
          <a:ln w="0">
            <a:noFill/>
          </a:ln>
        </p:spPr>
      </p:sp>
      <p:sp>
        <p:nvSpPr>
          <p:cNvPr id="22" name="Rectangle: Rounded Corners 21">
            <a:extLst>
              <a:ext uri="{FF2B5EF4-FFF2-40B4-BE49-F238E27FC236}">
                <a16:creationId xmlns:a16="http://schemas.microsoft.com/office/drawing/2014/main" id="{B71BD04F-C672-4F9C-9275-F640F7B45776}"/>
              </a:ext>
            </a:extLst>
          </p:cNvPr>
          <p:cNvSpPr>
            <a:spLocks noGrp="1"/>
          </p:cNvSpPr>
          <p:nvPr/>
        </p:nvSpPr>
        <p:spPr>
          <a:xfrm>
            <a:off x="6381750" y="3143250"/>
            <a:ext cx="2857500" cy="114300"/>
          </a:xfrm>
          <a:prstGeom prst="roundRect">
            <a:avLst>
              <a:gd name="adj" fmla="val 50000"/>
            </a:avLst>
          </a:prstGeom>
          <a:solidFill>
            <a:srgbClr val="FF4F9A"/>
          </a:solidFill>
          <a:ln w="0">
            <a:noFill/>
          </a:ln>
        </p:spPr>
      </p:sp>
      <p:sp>
        <p:nvSpPr>
          <p:cNvPr id="23" name="Rectangle 22">
            <a:extLst>
              <a:ext uri="{FF2B5EF4-FFF2-40B4-BE49-F238E27FC236}">
                <a16:creationId xmlns:a16="http://schemas.microsoft.com/office/drawing/2014/main" id="{1FE69E13-DF98-4D2A-9457-15390C91EEF4}"/>
              </a:ext>
            </a:extLst>
          </p:cNvPr>
          <p:cNvSpPr>
            <a:spLocks noGrp="1"/>
          </p:cNvSpPr>
          <p:nvPr/>
        </p:nvSpPr>
        <p:spPr>
          <a:xfrm>
            <a:off x="10477500" y="3028950"/>
            <a:ext cx="571500" cy="266700"/>
          </a:xfrm>
          <a:prstGeom prst="rect">
            <a:avLst/>
          </a:prstGeom>
          <a:noFill/>
          <a:ln w="0">
            <a:noFill/>
          </a:ln>
        </p:spPr>
        <p:txBody>
          <a:bodyPr lIns="38100" tIns="19050" rIns="38100" bIns="19050" anchor="ctr">
            <a:normAutofit/>
          </a:bodyPr>
          <a:lstStyle/>
          <a:p>
            <a:pPr algn="r">
              <a:defRPr sz="1275" b="1">
                <a:solidFill>
                  <a:srgbClr val="FF4F9A"/>
                </a:solidFill>
                <a:latin typeface="Arial"/>
                <a:ea typeface="Arial"/>
                <a:cs typeface="Arial"/>
              </a:defRPr>
            </a:pPr>
            <a:r>
              <a:rPr sz="1275" b="1">
                <a:solidFill>
                  <a:srgbClr val="FF4F9A"/>
                </a:solidFill>
                <a:latin typeface="Arial"/>
                <a:ea typeface="Arial"/>
                <a:cs typeface="Arial"/>
              </a:rPr>
              <a:t>25%</a:t>
            </a:r>
          </a:p>
        </p:txBody>
      </p:sp>
      <p:sp>
        <p:nvSpPr>
          <p:cNvPr id="24" name="Rectangle 23">
            <a:extLst>
              <a:ext uri="{FF2B5EF4-FFF2-40B4-BE49-F238E27FC236}">
                <a16:creationId xmlns:a16="http://schemas.microsoft.com/office/drawing/2014/main" id="{0CBD51F1-3BED-4978-9161-5EC36DAD30B8}"/>
              </a:ext>
            </a:extLst>
          </p:cNvPr>
          <p:cNvSpPr>
            <a:spLocks noGrp="1"/>
          </p:cNvSpPr>
          <p:nvPr/>
        </p:nvSpPr>
        <p:spPr>
          <a:xfrm>
            <a:off x="6381750" y="34861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Visual and audio production</a:t>
            </a:r>
          </a:p>
        </p:txBody>
      </p:sp>
      <p:sp>
        <p:nvSpPr>
          <p:cNvPr id="25" name="Rectangle: Rounded Corners 24">
            <a:extLst>
              <a:ext uri="{FF2B5EF4-FFF2-40B4-BE49-F238E27FC236}">
                <a16:creationId xmlns:a16="http://schemas.microsoft.com/office/drawing/2014/main" id="{883CAC63-94C6-49B8-A062-B7928E3BC025}"/>
              </a:ext>
            </a:extLst>
          </p:cNvPr>
          <p:cNvSpPr>
            <a:spLocks noGrp="1"/>
          </p:cNvSpPr>
          <p:nvPr/>
        </p:nvSpPr>
        <p:spPr>
          <a:xfrm>
            <a:off x="6381750" y="3790950"/>
            <a:ext cx="4000500" cy="114300"/>
          </a:xfrm>
          <a:prstGeom prst="roundRect">
            <a:avLst>
              <a:gd name="adj" fmla="val 50000"/>
            </a:avLst>
          </a:prstGeom>
          <a:solidFill>
            <a:srgbClr val="24283F"/>
          </a:solidFill>
          <a:ln w="0">
            <a:noFill/>
          </a:ln>
        </p:spPr>
      </p:sp>
      <p:sp>
        <p:nvSpPr>
          <p:cNvPr id="26" name="Rectangle: Rounded Corners 25">
            <a:extLst>
              <a:ext uri="{FF2B5EF4-FFF2-40B4-BE49-F238E27FC236}">
                <a16:creationId xmlns:a16="http://schemas.microsoft.com/office/drawing/2014/main" id="{7DE29044-D049-421B-8591-F8DD526CAF55}"/>
              </a:ext>
            </a:extLst>
          </p:cNvPr>
          <p:cNvSpPr>
            <a:spLocks noGrp="1"/>
          </p:cNvSpPr>
          <p:nvPr/>
        </p:nvSpPr>
        <p:spPr>
          <a:xfrm>
            <a:off x="6381750" y="3790950"/>
            <a:ext cx="2286000" cy="114300"/>
          </a:xfrm>
          <a:prstGeom prst="roundRect">
            <a:avLst>
              <a:gd name="adj" fmla="val 50000"/>
            </a:avLst>
          </a:prstGeom>
          <a:solidFill>
            <a:srgbClr val="FFC857"/>
          </a:solidFill>
          <a:ln w="0">
            <a:noFill/>
          </a:ln>
        </p:spPr>
      </p:sp>
      <p:sp>
        <p:nvSpPr>
          <p:cNvPr id="27" name="Rectangle 26">
            <a:extLst>
              <a:ext uri="{FF2B5EF4-FFF2-40B4-BE49-F238E27FC236}">
                <a16:creationId xmlns:a16="http://schemas.microsoft.com/office/drawing/2014/main" id="{C24884C5-CBB5-4531-9C13-B72C772543B5}"/>
              </a:ext>
            </a:extLst>
          </p:cNvPr>
          <p:cNvSpPr>
            <a:spLocks noGrp="1"/>
          </p:cNvSpPr>
          <p:nvPr/>
        </p:nvSpPr>
        <p:spPr>
          <a:xfrm>
            <a:off x="10477500" y="3676650"/>
            <a:ext cx="571500" cy="266700"/>
          </a:xfrm>
          <a:prstGeom prst="rect">
            <a:avLst/>
          </a:prstGeom>
          <a:noFill/>
          <a:ln w="0">
            <a:noFill/>
          </a:ln>
        </p:spPr>
        <p:txBody>
          <a:bodyPr lIns="38100" tIns="19050" rIns="38100" bIns="19050" anchor="ctr">
            <a:normAutofit/>
          </a:bodyPr>
          <a:lstStyle/>
          <a:p>
            <a:pPr algn="r">
              <a:defRPr sz="1275" b="1">
                <a:solidFill>
                  <a:srgbClr val="FFC857"/>
                </a:solidFill>
                <a:latin typeface="Arial"/>
                <a:ea typeface="Arial"/>
                <a:cs typeface="Arial"/>
              </a:defRPr>
            </a:pPr>
            <a:r>
              <a:rPr sz="1275" b="1">
                <a:solidFill>
                  <a:srgbClr val="FFC857"/>
                </a:solidFill>
                <a:latin typeface="Arial"/>
                <a:ea typeface="Arial"/>
                <a:cs typeface="Arial"/>
              </a:rPr>
              <a:t>20%</a:t>
            </a:r>
          </a:p>
        </p:txBody>
      </p:sp>
      <p:sp>
        <p:nvSpPr>
          <p:cNvPr id="28" name="Rectangle 27">
            <a:extLst>
              <a:ext uri="{FF2B5EF4-FFF2-40B4-BE49-F238E27FC236}">
                <a16:creationId xmlns:a16="http://schemas.microsoft.com/office/drawing/2014/main" id="{EA3E8680-1AE0-4FA1-9CE8-709BA441FF35}"/>
              </a:ext>
            </a:extLst>
          </p:cNvPr>
          <p:cNvSpPr>
            <a:spLocks noGrp="1"/>
          </p:cNvSpPr>
          <p:nvPr/>
        </p:nvSpPr>
        <p:spPr>
          <a:xfrm>
            <a:off x="6381750" y="41338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Launch &amp; community outreach</a:t>
            </a:r>
          </a:p>
        </p:txBody>
      </p:sp>
      <p:sp>
        <p:nvSpPr>
          <p:cNvPr id="29" name="Rectangle: Rounded Corners 28">
            <a:extLst>
              <a:ext uri="{FF2B5EF4-FFF2-40B4-BE49-F238E27FC236}">
                <a16:creationId xmlns:a16="http://schemas.microsoft.com/office/drawing/2014/main" id="{87BB7867-A807-4988-8DC2-F587743298D0}"/>
              </a:ext>
            </a:extLst>
          </p:cNvPr>
          <p:cNvSpPr>
            <a:spLocks noGrp="1"/>
          </p:cNvSpPr>
          <p:nvPr/>
        </p:nvSpPr>
        <p:spPr>
          <a:xfrm>
            <a:off x="6381750" y="4438650"/>
            <a:ext cx="4000500" cy="114300"/>
          </a:xfrm>
          <a:prstGeom prst="roundRect">
            <a:avLst>
              <a:gd name="adj" fmla="val 50000"/>
            </a:avLst>
          </a:prstGeom>
          <a:solidFill>
            <a:srgbClr val="24283F"/>
          </a:solidFill>
          <a:ln w="0">
            <a:noFill/>
          </a:ln>
        </p:spPr>
      </p:sp>
      <p:sp>
        <p:nvSpPr>
          <p:cNvPr id="30" name="Rectangle: Rounded Corners 29">
            <a:extLst>
              <a:ext uri="{FF2B5EF4-FFF2-40B4-BE49-F238E27FC236}">
                <a16:creationId xmlns:a16="http://schemas.microsoft.com/office/drawing/2014/main" id="{E7C5C43C-9892-4979-AD27-6E8158947F36}"/>
              </a:ext>
            </a:extLst>
          </p:cNvPr>
          <p:cNvSpPr>
            <a:spLocks noGrp="1"/>
          </p:cNvSpPr>
          <p:nvPr/>
        </p:nvSpPr>
        <p:spPr>
          <a:xfrm>
            <a:off x="6381750" y="4438650"/>
            <a:ext cx="1371600" cy="114300"/>
          </a:xfrm>
          <a:prstGeom prst="roundRect">
            <a:avLst>
              <a:gd name="adj" fmla="val 50000"/>
            </a:avLst>
          </a:prstGeom>
          <a:solidFill>
            <a:srgbClr val="45E0E8"/>
          </a:solidFill>
          <a:ln w="0">
            <a:noFill/>
          </a:ln>
        </p:spPr>
      </p:sp>
      <p:sp>
        <p:nvSpPr>
          <p:cNvPr id="31" name="Rectangle 30">
            <a:extLst>
              <a:ext uri="{FF2B5EF4-FFF2-40B4-BE49-F238E27FC236}">
                <a16:creationId xmlns:a16="http://schemas.microsoft.com/office/drawing/2014/main" id="{391E704C-9458-4647-A5DD-CE2CA384B04E}"/>
              </a:ext>
            </a:extLst>
          </p:cNvPr>
          <p:cNvSpPr>
            <a:spLocks noGrp="1"/>
          </p:cNvSpPr>
          <p:nvPr/>
        </p:nvSpPr>
        <p:spPr>
          <a:xfrm>
            <a:off x="10477500" y="4324350"/>
            <a:ext cx="571500" cy="266700"/>
          </a:xfrm>
          <a:prstGeom prst="rect">
            <a:avLst/>
          </a:prstGeom>
          <a:noFill/>
          <a:ln w="0">
            <a:noFill/>
          </a:ln>
        </p:spPr>
        <p:txBody>
          <a:bodyPr lIns="38100" tIns="19050" rIns="38100" bIns="19050" anchor="ctr">
            <a:normAutofit/>
          </a:bodyPr>
          <a:lstStyle/>
          <a:p>
            <a:pPr algn="r">
              <a:defRPr sz="1275" b="1">
                <a:solidFill>
                  <a:srgbClr val="45E0E8"/>
                </a:solidFill>
                <a:latin typeface="Arial"/>
                <a:ea typeface="Arial"/>
                <a:cs typeface="Arial"/>
              </a:defRPr>
            </a:pPr>
            <a:r>
              <a:rPr sz="1275" b="1">
                <a:solidFill>
                  <a:srgbClr val="45E0E8"/>
                </a:solidFill>
                <a:latin typeface="Arial"/>
                <a:ea typeface="Arial"/>
                <a:cs typeface="Arial"/>
              </a:rPr>
              <a:t>12%</a:t>
            </a:r>
          </a:p>
        </p:txBody>
      </p:sp>
      <p:sp>
        <p:nvSpPr>
          <p:cNvPr id="32" name="Rectangle 31">
            <a:extLst>
              <a:ext uri="{FF2B5EF4-FFF2-40B4-BE49-F238E27FC236}">
                <a16:creationId xmlns:a16="http://schemas.microsoft.com/office/drawing/2014/main" id="{A2EB1A56-712C-4E82-A453-90248514A20F}"/>
              </a:ext>
            </a:extLst>
          </p:cNvPr>
          <p:cNvSpPr>
            <a:spLocks noGrp="1"/>
          </p:cNvSpPr>
          <p:nvPr/>
        </p:nvSpPr>
        <p:spPr>
          <a:xfrm>
            <a:off x="6381750" y="47815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Accessibility &amp; contingency</a:t>
            </a:r>
          </a:p>
        </p:txBody>
      </p:sp>
      <p:sp>
        <p:nvSpPr>
          <p:cNvPr id="33" name="Rectangle: Rounded Corners 32">
            <a:extLst>
              <a:ext uri="{FF2B5EF4-FFF2-40B4-BE49-F238E27FC236}">
                <a16:creationId xmlns:a16="http://schemas.microsoft.com/office/drawing/2014/main" id="{77C81A73-EBB7-45B3-B77E-9062E7BBD157}"/>
              </a:ext>
            </a:extLst>
          </p:cNvPr>
          <p:cNvSpPr>
            <a:spLocks noGrp="1"/>
          </p:cNvSpPr>
          <p:nvPr/>
        </p:nvSpPr>
        <p:spPr>
          <a:xfrm>
            <a:off x="6381750" y="5086350"/>
            <a:ext cx="4000500" cy="114300"/>
          </a:xfrm>
          <a:prstGeom prst="roundRect">
            <a:avLst>
              <a:gd name="adj" fmla="val 50000"/>
            </a:avLst>
          </a:prstGeom>
          <a:solidFill>
            <a:srgbClr val="24283F"/>
          </a:solidFill>
          <a:ln w="0">
            <a:noFill/>
          </a:ln>
        </p:spPr>
      </p:sp>
      <p:sp>
        <p:nvSpPr>
          <p:cNvPr id="34" name="Rectangle: Rounded Corners 33">
            <a:extLst>
              <a:ext uri="{FF2B5EF4-FFF2-40B4-BE49-F238E27FC236}">
                <a16:creationId xmlns:a16="http://schemas.microsoft.com/office/drawing/2014/main" id="{BFF34270-FB5E-432D-95EB-B38AC66D8309}"/>
              </a:ext>
            </a:extLst>
          </p:cNvPr>
          <p:cNvSpPr>
            <a:spLocks noGrp="1"/>
          </p:cNvSpPr>
          <p:nvPr/>
        </p:nvSpPr>
        <p:spPr>
          <a:xfrm>
            <a:off x="6381750" y="5086350"/>
            <a:ext cx="914400" cy="114300"/>
          </a:xfrm>
          <a:prstGeom prst="roundRect">
            <a:avLst>
              <a:gd name="adj" fmla="val 50000"/>
            </a:avLst>
          </a:prstGeom>
          <a:solidFill>
            <a:srgbClr val="74F0C4"/>
          </a:solidFill>
          <a:ln w="0">
            <a:noFill/>
          </a:ln>
        </p:spPr>
      </p:sp>
      <p:sp>
        <p:nvSpPr>
          <p:cNvPr id="35" name="Rectangle 34">
            <a:extLst>
              <a:ext uri="{FF2B5EF4-FFF2-40B4-BE49-F238E27FC236}">
                <a16:creationId xmlns:a16="http://schemas.microsoft.com/office/drawing/2014/main" id="{DC546452-45F9-4977-A3CF-608CFFA51272}"/>
              </a:ext>
            </a:extLst>
          </p:cNvPr>
          <p:cNvSpPr>
            <a:spLocks noGrp="1"/>
          </p:cNvSpPr>
          <p:nvPr/>
        </p:nvSpPr>
        <p:spPr>
          <a:xfrm>
            <a:off x="10477500" y="4972050"/>
            <a:ext cx="571500" cy="266700"/>
          </a:xfrm>
          <a:prstGeom prst="rect">
            <a:avLst/>
          </a:prstGeom>
          <a:noFill/>
          <a:ln w="0">
            <a:noFill/>
          </a:ln>
        </p:spPr>
        <p:txBody>
          <a:bodyPr lIns="38100" tIns="19050" rIns="38100" bIns="19050" anchor="ctr">
            <a:normAutofit/>
          </a:bodyPr>
          <a:lstStyle/>
          <a:p>
            <a:pPr algn="r">
              <a:defRPr sz="1275" b="1">
                <a:solidFill>
                  <a:srgbClr val="74F0C4"/>
                </a:solidFill>
                <a:latin typeface="Arial"/>
                <a:ea typeface="Arial"/>
                <a:cs typeface="Arial"/>
              </a:defRPr>
            </a:pPr>
            <a:r>
              <a:rPr sz="1275" b="1">
                <a:solidFill>
                  <a:srgbClr val="74F0C4"/>
                </a:solidFill>
                <a:latin typeface="Arial"/>
                <a:ea typeface="Arial"/>
                <a:cs typeface="Arial"/>
              </a:rPr>
              <a:t>8%</a:t>
            </a:r>
          </a:p>
        </p:txBody>
      </p:sp>
      <p:sp>
        <p:nvSpPr>
          <p:cNvPr id="36" name="Rectangle 35">
            <a:extLst>
              <a:ext uri="{FF2B5EF4-FFF2-40B4-BE49-F238E27FC236}">
                <a16:creationId xmlns:a16="http://schemas.microsoft.com/office/drawing/2014/main" id="{C9FEDAF6-5A50-43A6-A169-5C9475BABF7C}"/>
              </a:ext>
            </a:extLst>
          </p:cNvPr>
          <p:cNvSpPr>
            <a:spLocks noGrp="1"/>
          </p:cNvSpPr>
          <p:nvPr/>
        </p:nvSpPr>
        <p:spPr>
          <a:xfrm>
            <a:off x="6410325" y="5572125"/>
            <a:ext cx="4667250" cy="361950"/>
          </a:xfrm>
          <a:prstGeom prst="rect">
            <a:avLst/>
          </a:prstGeom>
          <a:noFill/>
          <a:ln w="0">
            <a:noFill/>
          </a:ln>
        </p:spPr>
        <p:txBody>
          <a:bodyPr lIns="38100" tIns="19050" rIns="38100" bIns="19050" anchor="ctr">
            <a:normAutofit/>
          </a:bodyPr>
          <a:lstStyle/>
          <a:p>
            <a:pPr algn="l">
              <a:defRPr sz="975" b="0">
                <a:solidFill>
                  <a:srgbClr val="DAD6EA"/>
                </a:solidFill>
                <a:latin typeface="Arial"/>
                <a:ea typeface="Arial"/>
                <a:cs typeface="Arial"/>
              </a:defRPr>
            </a:pPr>
            <a:r>
              <a:rPr sz="975" b="0">
                <a:solidFill>
                  <a:srgbClr val="DAD6EA"/>
                </a:solidFill>
                <a:latin typeface="Arial"/>
                <a:ea typeface="Arial"/>
                <a:cs typeface="Arial"/>
              </a:rPr>
              <a:t>Proposed allocation; final amounts follow sponsor scope and procurement.</a:t>
            </a:r>
          </a:p>
        </p:txBody>
      </p:sp>
      <p:sp>
        <p:nvSpPr>
          <p:cNvPr id="37" name="Rectangle 36">
            <a:extLst>
              <a:ext uri="{FF2B5EF4-FFF2-40B4-BE49-F238E27FC236}">
                <a16:creationId xmlns:a16="http://schemas.microsoft.com/office/drawing/2014/main" id="{A00BDACC-5C67-4582-BC17-D1EB6B6D6D1D}"/>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8" name="Rectangle 37">
            <a:extLst>
              <a:ext uri="{FF2B5EF4-FFF2-40B4-BE49-F238E27FC236}">
                <a16:creationId xmlns:a16="http://schemas.microsoft.com/office/drawing/2014/main" id="{D8DD5D0B-3346-40BA-A67B-93A6438F3D76}"/>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09</a:t>
            </a:r>
          </a:p>
        </p:txBody>
      </p:sp>
      <p:pic>
        <p:nvPicPr>
          <p:cNvPr id="40" name="slide-09">
            <a:hlinkClick r:id="" action="ppaction://media"/>
            <a:extLst>
              <a:ext uri="{FF2B5EF4-FFF2-40B4-BE49-F238E27FC236}">
                <a16:creationId xmlns:a16="http://schemas.microsoft.com/office/drawing/2014/main" id="{CD2F93DC-C318-C766-15CC-3AC8E39A37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2107940515"/>
      </p:ext>
    </p:extLst>
  </p:cSld>
  <p:clrMapOvr>
    <a:masterClrMapping/>
  </p:clrMapOvr>
  <mc:AlternateContent xmlns:mc="http://schemas.openxmlformats.org/markup-compatibility/2006">
    <mc:Choice xmlns:p14="http://schemas.microsoft.com/office/powerpoint/2010/main" Requires="p14">
      <p:transition spd="slow" p14:dur="2000" advClick="0" advTm="50886">
        <p:fade/>
      </p:transition>
    </mc:Choice>
    <mc:Fallback>
      <p:transition spd="slow" advClick="0" advTm="5088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685"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5"/>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7264020-B94E-4159-A692-570C80CF438E}"/>
              </a:ext>
            </a:extLst>
          </p:cNvPr>
          <p:cNvSpPr>
            <a:spLocks noGrp="1"/>
          </p:cNvSpPr>
          <p:nvPr/>
        </p:nvSpPr>
        <p:spPr>
          <a:xfrm>
            <a:off x="0" y="0"/>
            <a:ext cx="12192000" cy="6858000"/>
          </a:xfrm>
          <a:prstGeom prst="rect">
            <a:avLst/>
          </a:prstGeom>
          <a:solidFill>
            <a:srgbClr val="080B1B">
              <a:alpha val="85098"/>
            </a:srgbClr>
          </a:solidFill>
          <a:ln w="0">
            <a:noFill/>
          </a:ln>
        </p:spPr>
      </p:sp>
      <p:sp>
        <p:nvSpPr>
          <p:cNvPr id="3" name="Rectangle 2">
            <a:extLst>
              <a:ext uri="{FF2B5EF4-FFF2-40B4-BE49-F238E27FC236}">
                <a16:creationId xmlns:a16="http://schemas.microsoft.com/office/drawing/2014/main" id="{483E58DE-2D5A-475E-827A-219CBEF8DFBF}"/>
              </a:ext>
            </a:extLst>
          </p:cNvPr>
          <p:cNvSpPr>
            <a:spLocks noGrp="1"/>
          </p:cNvSpPr>
          <p:nvPr/>
        </p:nvSpPr>
        <p:spPr>
          <a:xfrm>
            <a:off x="1238250" y="1123950"/>
            <a:ext cx="9715500" cy="857250"/>
          </a:xfrm>
          <a:prstGeom prst="rect">
            <a:avLst/>
          </a:prstGeom>
          <a:noFill/>
          <a:ln w="0">
            <a:noFill/>
          </a:ln>
        </p:spPr>
        <p:txBody>
          <a:bodyPr lIns="38100" tIns="19050" rIns="38100" bIns="19050" anchor="ctr">
            <a:normAutofit/>
          </a:bodyPr>
          <a:lstStyle/>
          <a:p>
            <a:pPr algn="ctr">
              <a:defRPr sz="4350" b="1">
                <a:solidFill>
                  <a:srgbClr val="FFFFFF"/>
                </a:solidFill>
                <a:latin typeface="Arial"/>
                <a:ea typeface="Arial"/>
                <a:cs typeface="Arial"/>
              </a:defRPr>
            </a:pPr>
            <a:r>
              <a:rPr sz="4350" b="1">
                <a:solidFill>
                  <a:srgbClr val="FFFFFF"/>
                </a:solidFill>
                <a:latin typeface="Arial"/>
                <a:ea typeface="Arial"/>
                <a:cs typeface="Arial"/>
              </a:rPr>
              <a:t>FUND THE MIRROR</a:t>
            </a:r>
          </a:p>
        </p:txBody>
      </p:sp>
      <p:sp>
        <p:nvSpPr>
          <p:cNvPr id="4" name="Rectangle 3">
            <a:extLst>
              <a:ext uri="{FF2B5EF4-FFF2-40B4-BE49-F238E27FC236}">
                <a16:creationId xmlns:a16="http://schemas.microsoft.com/office/drawing/2014/main" id="{457A88FE-92E8-4E74-8641-279FF7B1857E}"/>
              </a:ext>
            </a:extLst>
          </p:cNvPr>
          <p:cNvSpPr>
            <a:spLocks noGrp="1"/>
          </p:cNvSpPr>
          <p:nvPr/>
        </p:nvSpPr>
        <p:spPr>
          <a:xfrm>
            <a:off x="2095500" y="2266950"/>
            <a:ext cx="8001000" cy="933450"/>
          </a:xfrm>
          <a:prstGeom prst="rect">
            <a:avLst/>
          </a:prstGeom>
          <a:noFill/>
          <a:ln w="0">
            <a:noFill/>
          </a:ln>
        </p:spPr>
        <p:txBody>
          <a:bodyPr lIns="38100" tIns="19050" rIns="38100" bIns="19050" anchor="ctr">
            <a:normAutofit/>
          </a:bodyPr>
          <a:lstStyle/>
          <a:p>
            <a:pPr algn="ctr">
              <a:defRPr sz="2025" b="1">
                <a:solidFill>
                  <a:srgbClr val="45E0E8"/>
                </a:solidFill>
                <a:latin typeface="Arial"/>
                <a:ea typeface="Arial"/>
                <a:cs typeface="Arial"/>
              </a:defRPr>
            </a:pPr>
            <a:r>
              <a:rPr sz="2025" b="1">
                <a:solidFill>
                  <a:srgbClr val="45E0E8"/>
                </a:solidFill>
                <a:latin typeface="Arial"/>
                <a:ea typeface="Arial"/>
                <a:cs typeface="Arial"/>
              </a:rPr>
              <a:t>Help turn a decade of Filipino memories into a museum people can enter, question, and continue.</a:t>
            </a:r>
          </a:p>
        </p:txBody>
      </p:sp>
      <p:sp>
        <p:nvSpPr>
          <p:cNvPr id="5" name="Rectangle: Rounded Corners 4">
            <a:extLst>
              <a:ext uri="{FF2B5EF4-FFF2-40B4-BE49-F238E27FC236}">
                <a16:creationId xmlns:a16="http://schemas.microsoft.com/office/drawing/2014/main" id="{120AADD4-0B56-4168-B900-781AC99786F0}"/>
              </a:ext>
            </a:extLst>
          </p:cNvPr>
          <p:cNvSpPr>
            <a:spLocks noGrp="1"/>
          </p:cNvSpPr>
          <p:nvPr/>
        </p:nvSpPr>
        <p:spPr>
          <a:xfrm>
            <a:off x="3276600" y="3695700"/>
            <a:ext cx="5638800" cy="685800"/>
          </a:xfrm>
          <a:prstGeom prst="roundRect">
            <a:avLst>
              <a:gd name="adj" fmla="val 16667"/>
            </a:avLst>
          </a:prstGeom>
          <a:solidFill>
            <a:srgbClr val="FF4F9A"/>
          </a:solidFill>
          <a:ln w="0">
            <a:noFill/>
          </a:ln>
        </p:spPr>
      </p:sp>
      <p:sp>
        <p:nvSpPr>
          <p:cNvPr id="6" name="Rectangle 5">
            <a:extLst>
              <a:ext uri="{FF2B5EF4-FFF2-40B4-BE49-F238E27FC236}">
                <a16:creationId xmlns:a16="http://schemas.microsoft.com/office/drawing/2014/main" id="{256E2482-61B4-41B3-87EB-296DE6922454}"/>
              </a:ext>
            </a:extLst>
          </p:cNvPr>
          <p:cNvSpPr>
            <a:spLocks noGrp="1"/>
          </p:cNvSpPr>
          <p:nvPr/>
        </p:nvSpPr>
        <p:spPr>
          <a:xfrm>
            <a:off x="3276600" y="3695700"/>
            <a:ext cx="5638800" cy="685800"/>
          </a:xfrm>
          <a:prstGeom prst="rect">
            <a:avLst/>
          </a:prstGeom>
          <a:noFill/>
          <a:ln w="0">
            <a:noFill/>
          </a:ln>
        </p:spPr>
        <p:txBody>
          <a:bodyPr lIns="38100" tIns="19050" rIns="38100" bIns="19050" anchor="ctr">
            <a:normAutofit/>
          </a:bodyPr>
          <a:lstStyle/>
          <a:p>
            <a:pPr algn="ctr">
              <a:defRPr sz="2025" b="1">
                <a:solidFill>
                  <a:srgbClr val="080B1B"/>
                </a:solidFill>
                <a:latin typeface="Arial"/>
                <a:ea typeface="Arial"/>
                <a:cs typeface="Arial"/>
              </a:defRPr>
            </a:pPr>
            <a:r>
              <a:rPr sz="2025" b="1">
                <a:solidFill>
                  <a:srgbClr val="080B1B"/>
                </a:solidFill>
                <a:latin typeface="Arial"/>
                <a:ea typeface="Arial"/>
                <a:cs typeface="Arial"/>
              </a:rPr>
              <a:t>SPONSOR THE PILOT</a:t>
            </a:r>
          </a:p>
        </p:txBody>
      </p:sp>
      <p:sp>
        <p:nvSpPr>
          <p:cNvPr id="7" name="Rectangle 6">
            <a:extLst>
              <a:ext uri="{FF2B5EF4-FFF2-40B4-BE49-F238E27FC236}">
                <a16:creationId xmlns:a16="http://schemas.microsoft.com/office/drawing/2014/main" id="{56120B0D-8BF8-4090-9EE2-D8B0F9C74DF6}"/>
              </a:ext>
            </a:extLst>
          </p:cNvPr>
          <p:cNvSpPr>
            <a:spLocks noGrp="1"/>
          </p:cNvSpPr>
          <p:nvPr/>
        </p:nvSpPr>
        <p:spPr>
          <a:xfrm>
            <a:off x="2476500" y="4762500"/>
            <a:ext cx="7239000" cy="457200"/>
          </a:xfrm>
          <a:prstGeom prst="rect">
            <a:avLst/>
          </a:prstGeom>
          <a:noFill/>
          <a:ln w="0">
            <a:noFill/>
          </a:ln>
        </p:spPr>
        <p:txBody>
          <a:bodyPr lIns="38100" tIns="19050" rIns="38100" bIns="19050" anchor="ctr">
            <a:normAutofit/>
          </a:bodyPr>
          <a:lstStyle/>
          <a:p>
            <a:pPr algn="ctr">
              <a:defRPr sz="1575" b="0">
                <a:solidFill>
                  <a:srgbClr val="FFFFFF"/>
                </a:solidFill>
                <a:latin typeface="Arial"/>
                <a:ea typeface="Arial"/>
                <a:cs typeface="Arial"/>
              </a:defRPr>
            </a:pPr>
            <a:r>
              <a:rPr sz="1575" b="0">
                <a:solidFill>
                  <a:srgbClr val="FFFFFF"/>
                </a:solidFill>
                <a:latin typeface="Arial"/>
                <a:ea typeface="Arial"/>
                <a:cs typeface="Arial"/>
              </a:rPr>
              <a:t>Because “nice, funny, approachable” deserves a proper archive.</a:t>
            </a:r>
          </a:p>
        </p:txBody>
      </p:sp>
      <p:sp>
        <p:nvSpPr>
          <p:cNvPr id="8" name="Rectangle 7">
            <a:extLst>
              <a:ext uri="{FF2B5EF4-FFF2-40B4-BE49-F238E27FC236}">
                <a16:creationId xmlns:a16="http://schemas.microsoft.com/office/drawing/2014/main" id="{1AE30C06-C27D-4521-BDFB-D953AFFE78C4}"/>
              </a:ext>
            </a:extLst>
          </p:cNvPr>
          <p:cNvSpPr>
            <a:spLocks noGrp="1"/>
          </p:cNvSpPr>
          <p:nvPr/>
        </p:nvSpPr>
        <p:spPr>
          <a:xfrm>
            <a:off x="3810000" y="6096000"/>
            <a:ext cx="4572000" cy="228600"/>
          </a:xfrm>
          <a:prstGeom prst="rect">
            <a:avLst/>
          </a:prstGeom>
          <a:noFill/>
          <a:ln w="0">
            <a:noFill/>
          </a:ln>
        </p:spPr>
        <p:txBody>
          <a:bodyPr lIns="38100" tIns="19050" rIns="38100" bIns="19050" anchor="ctr">
            <a:normAutofit/>
          </a:bodyPr>
          <a:lstStyle/>
          <a:p>
            <a:pPr algn="ctr">
              <a:defRPr sz="900" b="1">
                <a:solidFill>
                  <a:srgbClr val="DAD6EA"/>
                </a:solidFill>
                <a:latin typeface="Arial"/>
                <a:ea typeface="Arial"/>
                <a:cs typeface="Arial"/>
              </a:defRPr>
            </a:pPr>
            <a:r>
              <a:rPr sz="900" b="1">
                <a:solidFill>
                  <a:srgbClr val="DAD6EA"/>
                </a:solidFill>
                <a:latin typeface="Arial"/>
                <a:ea typeface="Arial"/>
                <a:cs typeface="Arial"/>
              </a:rPr>
              <a:t>DIGITAL MIRROR  •  VISUAL MUSEUM PITCH</a:t>
            </a:r>
          </a:p>
        </p:txBody>
      </p:sp>
      <p:pic>
        <p:nvPicPr>
          <p:cNvPr id="10" name="slide-10">
            <a:hlinkClick r:id="" action="ppaction://media"/>
            <a:extLst>
              <a:ext uri="{FF2B5EF4-FFF2-40B4-BE49-F238E27FC236}">
                <a16:creationId xmlns:a16="http://schemas.microsoft.com/office/drawing/2014/main" id="{91E33D22-7C18-E0CC-9554-1FDDB646FD9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991159233"/>
      </p:ext>
    </p:extLst>
  </p:cSld>
  <p:clrMapOvr>
    <a:masterClrMapping/>
  </p:clrMapOvr>
  <mc:AlternateContent xmlns:mc="http://schemas.openxmlformats.org/markup-compatibility/2006">
    <mc:Choice xmlns:p14="http://schemas.microsoft.com/office/powerpoint/2010/main" Requires="p14">
      <p:transition spd="slow" p14:dur="2000" advClick="0" advTm="48582">
        <p:fade/>
      </p:transition>
    </mc:Choice>
    <mc:Fallback>
      <p:transition spd="slow" advClick="0" advTm="4858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38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1825</Words>
  <Application>Microsoft Office PowerPoint</Application>
  <DocSecurity>0</DocSecurity>
  <PresentationFormat>Widescreen</PresentationFormat>
  <Paragraphs>175</Paragraphs>
  <Slides>10</Slides>
  <Notes>10</Notes>
  <HiddenSlides>0</HiddenSlides>
  <MMClips>10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Reynan Delizo</cp:lastModifiedBy>
  <cp:revision>1</cp:revision>
  <dcterms:created xsi:type="dcterms:W3CDTF">2026-09-21T11:58:33Z</dcterms:created>
  <dcterms:modified xsi:type="dcterms:W3CDTF">2026-09-21T12:02:12Z</dcterms:modified>
</cp:coreProperties>
</file>